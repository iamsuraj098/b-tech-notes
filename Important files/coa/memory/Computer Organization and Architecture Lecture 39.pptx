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23" r:id="rId3"/>
    <p:sldId id="259" r:id="rId4"/>
    <p:sldId id="260" r:id="rId5"/>
    <p:sldId id="331" r:id="rId6"/>
    <p:sldId id="324" r:id="rId7"/>
    <p:sldId id="325" r:id="rId8"/>
    <p:sldId id="326" r:id="rId9"/>
    <p:sldId id="327" r:id="rId10"/>
    <p:sldId id="328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50" d="100"/>
          <a:sy n="150" d="100"/>
        </p:scale>
        <p:origin x="-1906" y="-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22.82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400 87,'0'2,"0"4,0 2,0 3,0 5,0 1,0 0,0 0,0 0,0-1,0-1,0 2,0 0,0 0,3 0,0-2,3 1,0-2,-2 3,0 0,1 0,-1-1,0 0,1-1,-1 0,3-1,-1 3,-2 0,0 0,0-3,0-2,0 0,1 1,0-1,-1 4,3-2,1-1,-1 1,-1-1,-3 1,-1 0,2-3,-1 0,2 2,0 2,2-2,0-1,-2 1,-2-1,-1-4,0-5,-4-7,-1-7,-3-4,0-1,-4-2,-2 4,0 1,3 0,0 1,1-4,3 0,2-1,-1 1,0 1,-2-1,1 2,1-3,1-1,1 1,1 1,-2 2,-1 2,2 1,-3-1,0 0,1-3,2-2,0 0,1 1,0 0,1 1,-5 2,-1 2,0-3,1-1,2 0,1 0,1 0,0 0,-1 2,-1 2,-2-2,-1-2,2-1,-2 1,1 0,1 0,1 0,1-2,1 0,-2 0,0 0,-2 4,-3 3,-5 4,-2 3,-1 4,-1 2,3 3,2 1,2 3,1 0,2 2,-1-3,2 1,-3-2,-1 0,0-1,-1 1,1 1,0-1,2 0,-1 0,2 2,0 3,-2-2,-2-2,-3-2,-2-4,-1-1,3 1,1 0,3 2,3 3,0-1,5-1,3-1,6-2,5-2,3 0,2-1,0 0,0 0,-1-1,0 1,-1 0,1 0,2 0,-1-1,-1 1,0 1,-1-1,0 0,1 0,2 0,-1 0,-1 0,0 0,-1 0,0 0,1 0,2 0,-1 0,-1 0,0 0,-1 0,0 0,1 0,2 0,-1 0,-3 2,-2 1,0 1,-2 0,-1 1,1 0,-1 2,0 2,3-2,2-2,1-1,1-2,-5-4,-7-3,-4-1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8:50.34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324 28,'0'2,"0"8,3 10,0 6,2 1,1 3,-1-1,1-3,-1-4,4-5,1-3,-3-2,-1 2,-2 1,-2 0,-1 0,-1 1,0-2,0 1,-1 2,1 0,-3-7,0-8,0-6,0-6,2-3,0-1,0-2,1-2,0 0,0-1,0 2,0 1,-2 0,-1 2,0-3,-2 0,0 0,1 0,1 2,1 0,1 0,1 1,-1-3,2 0,-4 2,0 2,1 1,-1-1,-1 2,-2 4,-4 2,1 5,-3 2,-2 3,-1 1,0-1,0-1,0 1,0 0,3 4,1 0,-3-2,-1 2,0-2,-1 0,1 0,3 1,0-2,1 2,-3-2,-2-1,0-2,3 2,3 1,3 3,6 0,7-2,6-2,2-2,0 4,-1 0,0-1,0-2,1-1,2 2,1-1,-2 1,-2 1,0 1,0-1,0-1,0-1,0-2,4-1,0-1,0 0,-1 0,0 0,0-1,-2-1,3-2,1 1,-1 1,-1 0,0 1,-1 0,-1 1,3 0,0 0,0 1,-3-4,-1 0,-1 0,0 1,1 0,2 1,2 1,0-1,-6 1,-4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8:52.73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 16,'2'0,"4"-3,2 0,3 0,4 1,3 0,-1 1,0 0,0 1,-2 0,1 0,-4 3,-3 5,-4 3,-2 4,-2 0,-3 1,-4-1,-1 0,0 3,0 0,1-1,-2-3,2-1,-2-1,2 0,-4 1,0 2,0-1,0 0,1-3,1-1,0 1,-1-3,1 1,2-4,1-5,3-5,3-2,2-4,0-3,2 1,2 1,6-1,0 0,0 2,0 3,1 3,0 2,0 2,0 0,3 2,0-1,0 1,0-1,-3 3,-2 0,-3 3,-3 2,0 5,-1 2,-1 2,-2-1,-1 0,0 0,-1-1,0 0,0 2,-1 0,1 0,0 0,0-2,0 1,0-2,0 3,0 0,-3-2,0-2,-2-3,-3 0,-3 0,1 0,-2 0,-2-3,-1-3,-1-1,1-2,0 0,0-2,-2 1,0 0,0-1,0 1,1 0,1-3,3-2,3-4,4-2,2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8:54.90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1 200,'0'-3,"0"-2,0-4,0-2,0-2,0-3,0-2,0 0,0 1,5 1,3 2,4 3,1 2,2 0,0 0,0 1,2 2,1 2,0 2,-1 1,-1 0,-1 2,-1-1,-2 3,-3 3,-4 2,-2 4,-2 0,-1 2,0 3,-3 1,-1 0,-2-1,0-1,-2 0,2-1,-2 1,-1 2,-5-1,-1-1,-1 0,2-1,1-1,0-2,1 2,1 0,1-2,-3 0,1-1,0-1,2-1,8-1,6-2,5-3,3-1,3-1,0-1,1 0,1-1,2 1,-1-1,-1 1,-1 0,-1 0,0 0,1 0,2 0,-1 0,-1 0,0 0,-1 0,-1 0,3 0,0 0,0 0,0 2,-1 1,-1 3,-1 0,-2 3,-1 1,2-1,2-1,0 2,1-2,-3-3,-4-4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8:56.45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1,'0'2,"0"4,0 5,0 3,0 2,0 0,0 1,0-2,0 1,0-1,0 1,0 2,0-1,0 0,0-2,0 0,3 0,0 2,0 0,-1 0,0-1,2-2,0-2,-1-1,0 1,-2 3,0 1,0 0,-1 1,0-2,0-4,-1-7,1-7,-2-10,-2-3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8:57.98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1,'0'2,"0"6,0 6,0 4,0 0,0 0,0 2,0-1,0 0,0-2,0-1,0-1,0 0,0 2,0 0,0 0,0-1,0 0,0-1,2-1,6 1,2 1,-2 1,-1 0,-3 0,-1-1,-2-1,2-1,0 3,2 0,1 0,1 0,-1-2,-1 1,-1-2,-2 3,0 0,-2 0,0-5,0-10,0-10,-3-10,-1-3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8:59.56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1,'0'5,"0"6,3 8,2 9,4 4,4 4,3 2,-1 1,-4 5,0-3,-3-3,2-1,-1-4,1-1,-1-1,-3-3,1 0,-1-1,-2-1,-1-1,-2-1,0-2,-1-4,0-1,0-2,-1-1,1 3,0-1,0 1,0-1,0 0,0-1,0-6,-3-6,0-6,-3-5,-2-8,-4-9,-1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01.11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1,'0'2,"0"4,0 5,0 3,0 2,0 0,0 1,0-2,0 1,0-1,0 2,0 0,0 3,3-1,0 5,0 0,2-2,0 1,1 1,0-2,2-1,-2 0,0-1,0 1,-1-1,4-1,0-2,-1-1,-2-1,-2-1,-2 0,-4-2,-3-4,-4-5,0-8,1-4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02.76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1,'0'7,"0"7,0 4,0 6,0 4,0-1,0 0,0 0,0-2,0-3,0-2,0 2,0-1,0 0,0-3,0 4,0 0,0-1,0-2,0-1,0-2,0-2,0 3,0 0,3 0,0-1,0 0,2-1,0-1,-1 3,-1 0,-1 0,2 0,2-4,0-3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05.82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1,'0'4,"0"12,0 13,5 8,1 0,0 2,1-2,0-4,-2-1,-1-4,-2-1,-1-3,-1-1,0-2,0 1,0-2,-1-1,1 0,0 0,0-1,0-1,0-2,0 0,0 0,0 1,0 1,0-7,0-6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08.14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93 171,'0'-2,"0"-4,0-3,0-2,0-2,2 2,6 0,4-3,2-2,2 3,-1 0,1 3,-1 0,0 3,2-1,1 2,-1 1,-1 2,0 1,-1 2,0-1,2 2,0-1,0 0,-3 3,-4 3,-4 2,-2 6,-3 2,0 3,-2 1,0 0,1 0,-1 1,0-3,1 0,-5 0,-1 3,-3 2,-1 0,-2 3,-1-1,-1-1,-5-4,-2 3,0 0,-1-2,1-2,2-4,1 0,4 0,2-3,1 0,-1-3,-2-3,-2 0,-1-1,1-1,1-2,-1 0,2-2,-3 0,4 0,7 0,7-1,6 1,3 0,3 0,2 0,3 0,3 0,0 0,0 0,2 0,1 0,-2 0,-2 0,-2 0,-2 0,1 0,1 0,-1 0,-1 0,-1 0,-2 2,-2 1,0 0,1 0,-3 1,3 3,2 5,0 0,1-2,-2-5,-4-5,-3-6,-3-4,-2-3,-3 2,-1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11.0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299 228,'-3'0,"-5"3,-6 2,-3 4,-2-1,1 2,-4 3,0 2,0 1,2 1,0-2,0 1,2-4,4 2,1 0,2 1,1 0,1 0,2-1,1 1,3-1,1 2,1 2,4-1,3-1,0 0,0-1,1 0,2-3,4 1,2-1,1-3,0 0,5 0,1-1,-1 0,-1-1,0-1,-1-1,2 1,-1-2,-1-2,-2 0,-1-1,0-1,-2 0,3-1,0 1,0-2,-4-4,0 0,-3-2,-1 0,-2 0,0 1,-1-4,1 1,0-1,2 2,3 2,-1 0,-2-1,-3-1,-2-3,-2 0,-1-4,-1-2,0 1,-6 3,-3 1,-3 3,0 0,1 3,-1 2,-1 2,0 1,-3 2,-1 0,-3 0,0 0,1 1,-1-3,0-1,4-2,2-1,1-3,1-1,-1 1,0 3,0 2,-3 2,-1 1,0-2,0 0,1 0,3-1,2-1,2-1,0 0,-3-1,1-2,0 0,-1 0,1-1,1-4,2-2,2 0,2 0,2 0,1 0,1 1,0-2,3 0,1 0,2 0,0 1,-1 1,3 1,3 2,2-2,1 0,1 2,0 1,0 1,2 4,-2-1,-1 2,0 1,0 2,-1 1,1 0,-1 1,1 0,3 0,0 1,0 1,-1 2,-2 1,-2 1,-3 3,0 1,-2 1,0-1,4-1,0 2,-2 0,-2 1,-3 1,-1 4,-3 0,1 0,-2 0,-2-1,0-1,-3 0,0 2,1 0,2 0,0 0,2-2,0 1,1-2,0 0,1 3,-3-2,-1-1,0-1,0 0,2 1,-3-3,-2-3,0-5,0-4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27.31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1 372,'0'2,"0"4,2 3,6 2,1 2,2 1,-1 0,0 1,1-3,-2 2,1 1,-2-1,0 1,1 0,4 0,2-1,2 3,-1-2,-1-1,1-1,-1 1,2-3,0-1,0 1,0-2,-1 0,-1 3,0 0,1 0,1-2,0-2,-2-1,-3-1,0 0,0 0,1 1,0-1,3-1,3 1,1-1,0 1,0 0,3-1,-1-1,-1-2,-3-1,4-1,0 0,-1 0,0 0,2-1,-1 1,-2 0,-1 0,-2 0,-2-3,0 0,1 0,-1-2,-2 0,1-2,-1 1,0 1,0 2,-1-2,-2 1,4 0,1 2,0-2,1 0,-4-2,0 1,0-5,0 1,-2-2,2 2,2-1,0 2,1 3,0 1,0 2,-1 1,1 1,1-2,2-1,-1-2,0 0,-2-2,0 0,0-1,2 1,0-3,0 0,0 2,-4-1,-1 2,-1 0,1 0,3 0,1 1,1 1,1-1,1 1,2-2,-1-4,0-2,0 1,-1-1,2 3,-3 0,-2 0,-2 1,-3 0,0 2,-4-1,1 1,-1 0,-3-4,-1-3,-1-1,-1-1,-1 1,-1 0,1-1,0-1,-1 0,1 0,-2 0,-1 1,-1 1,2 0,-2 3,0 6,0 7,-1 4,0 5,1 3,1 4,2 1,0 1,0-2,1 0,0-1,3-1,3 2,2 0,4 0,0 0,5 1,-2 2,0 1,-1-1,0 1,0-4,-1-1,6 0,1 1,0-1,4 0,0-3,-1-2,-3 3,3 1,-1 0,-1 1,-1-1,-1-3,3 0,-1-1,-1-1,0-3,0 2,1-1,-1 2,1-2,0 1,-2-2,3-2,1 1,1 0,3 0,0 0,2 3,2 1,6-2,3-2,1-2,-1-2,0-1,2-1,1 0,4-1,-2 1,3-1,-1 1,3 0,-3 0,-1 0,-4-3,3 0,-2 0,0 1,-3 0,3 1,0-2,-1 0,0-3,3 1,-5 0,-1 2,-3 1,-5 0,0-3,-1-2,-4 1,2 2,1 0,0 0,-1 0,4-2,-3 0,-1 2,3-4,-3 0,2-2,-2 1,-4 3,0-1,0 1,-2-1,-2 1,0-1,0 1,1 1,-2-3,3-3,-2-2,4-5,7-3,6-5,3-5,3 1,0-3,-1 3,-4-1,-3 2,-3 1,-4 4,-5 5,-4 4,-3 1,-1 2,-1 0,1-1,2 0,-3-3,-1 2,-3 0,-1 1,-2-1,1 3,-2 1,1-1,0-1,0-2,-1-2,2-1,-2 1,-1 0,-1 0,-2 2,-1-3,-1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29.11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15 1,'0'2,"0"4,0 2,0 4,0 3,-3 2,0 0,0 1,1-2,0 0,1-1,0 2,1 0,0 0,0 0,0-2,1 1,-1-2,0 3,0 0,0 0,0 0,0-2,0 0,0 0,0-1,0 3,0 0,0 0,0-1,2 0,1-1,0 0,0 2,-1 0,-1 0,-1-1,3-2,0-2,0-1,-1-4,0-6,-4-10,0-3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32.65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451 1,'-4'0,"-5"0,-5 0,-3 2,-5 1,-4 0,-1 2,-1 0,0-1,3-1,4-1,-3-1,1 0,2-1,2 5,2 1,2-1,-2 0,-1-2,2 0,-1-2,2-1,2 2,5 4,2 2,6 1,2 0,3 0,1-1,2 0,-1 0,4-1,2 0,-1 4,0 3,-3 1,1 1,0-3,-2-1,-1 0,-3 0,1-1,2-4,4-2,3-2,1-2,1-1,0 0,0 0,-1-3,2-1,1 1,-4-3,0 1,-1 1,-1 1,1 1,0 1,3 0,-1 4,-4 3,-3 5,-5 3,-7 2,-1 1,-3-3,0-1,1-1,0-2,-1-3,-3 0,2 3,-1 1,-3-3,1 1,-1-2,1-1,-2-1,1 3,-1 1,0 0,-2-2,-2-2,1-2,3-2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34.1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1,'3'0,"3"0,2 0,8 0,3 0,2 0,-2 0,-1 0,-1 0,1 0,0 0,0 0,-2 0,0 0,-1 0,-1 0,0 0,3 0,0 0,0 0,-1 0,0 0,-1 0,0 0,2 0,-3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35.52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1,'5'0,"4"0,7 0,7 0,1 5,1 1,-1 0,0 2,-1-2,0 0,-2-3,-2 0,-1-2,-2-1,-1 0,-1 0,0-1,-3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41.30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71 27,'0'5,"0"4,0 3,0 4,0 1,0 1,0 0,0-1,0-2,0 1,0 1,-2 0,-1 0,0-1,0 0,2-1,0 0,0 1,-2 2,0-1,0-1,1 0,0-1,2 0,-1 1,1 1,0 1,0-2,0 0,0-1,0-1,0 1,0 1,0 1,0 0,0 0,0-1,0-1,0-1,0 3,0-4,0-7,0-7,0-6,0-3,0-4,0-5,0-3,0 1,0 0,0 1,-2-3,-1 1,0 2,0 2,2 1,0 2,0 0,1-2,2 3,1 0,1 1,-2 0,2 0,1-1,-2 0,5-2,0-1,1 2,0 2,-2 0,-3 0,-1 0,-1 0,-2-3,-5 1,-2 2,1-1,-2 1,1-1,-1 3,1 0,-1 3,2 0,1-2,4 2,4 2,2-3,5 0,3 2,2 1,1 3,-1 4,-2 3,-1 3,0-2,3 0,0-2,1-1,0-1,0-1,-1 0,0 0,-1 0,3 0,0-1,-7 1,-8 0,-6 0,-6 0,-3 0,-1 0,-2 0,1 0,-3 0,-1 0,2 0,-1 0,2 0,1 0,1 0,-3 0,0 0,0 0,0 0,2 0,2 3,4 2,3 4,4 2,0 2,2 1,1 3,0 1,-3 0,-1-1,0-1,1-1,0 0,1 2,1 0,-1 0,1-1,0 0,0-1,1 0,-1-6,0-6,0-6,0-5,2-1,4 0,3 3,-1-1,2 1,-1-3,2 0,-1-1,1 2,1 1,1 2,0 3,0-2,1 0,3 1,0 1,1 1,-4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44.16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14 0,'3'0,"2"0,6 0,3 0,2 0,1 0,-1 0,0 0,-1 0,2 0,1 0,-8 0,-8 0,-6 0,-6 0,-3 0,-1 0,-2 0,-2 0,-1 0,1 0,1 0,1 0,0 0,4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04T06:39:46.07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68 1,'2'0,"4"0,3 0,2 0,4 0,2 0,0 0,1 0,-2 0,0 0,-1 0,0 0,1 0,-3 0,-8 0,-5 0,-7 2,-3 1,-4 0,0 0,-2-2,-1 0,-2 2,1 1,1-1,1 0,0 3,4 4,1-1,-2-1,-2-2,0-2,-1-2,4-1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1863" y="274639"/>
            <a:ext cx="7747000" cy="458787"/>
          </a:xfrm>
          <a:noFill/>
          <a:ln/>
        </p:spPr>
        <p:txBody>
          <a:bodyPr anchor="ctr"/>
          <a:lstStyle/>
          <a:p>
            <a:pPr algn="ctr"/>
            <a:r>
              <a:rPr lang="en-US" altLang="ko-KR" sz="2400" dirty="0">
                <a:solidFill>
                  <a:srgbClr val="C00000"/>
                </a:solidFill>
              </a:rPr>
              <a:t>MAIN  MEMORY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865313" y="942975"/>
            <a:ext cx="2077300" cy="3241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/>
              <a:t>RAM and ROM Chips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157414" y="1274763"/>
            <a:ext cx="1723677" cy="322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/>
              <a:t>Typical RAM chip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2157414" y="4738688"/>
            <a:ext cx="1740669" cy="322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/>
              <a:t>Typical ROM chip</a:t>
            </a: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913314" y="1912938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3752850" y="1790700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1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913314" y="2111375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3752850" y="1985963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2</a:t>
            </a:r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4913314" y="2306638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4913314" y="2503488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4913314" y="2698750"/>
            <a:ext cx="365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4291014" y="2182813"/>
            <a:ext cx="49423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Read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4291013" y="2378075"/>
            <a:ext cx="529248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Write</a:t>
            </a: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3752850" y="2573338"/>
            <a:ext cx="99341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7-bit address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5273675" y="1790700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5273675" y="1985963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5273676" y="2182813"/>
            <a:ext cx="360677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5273676" y="2378075"/>
            <a:ext cx="40235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5289550" y="2573338"/>
            <a:ext cx="48090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AD 7</a:t>
            </a:r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5910263" y="2112964"/>
            <a:ext cx="63479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128 x 8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6002338" y="2273300"/>
            <a:ext cx="48731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RAM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5264150" y="1724026"/>
            <a:ext cx="1536700" cy="11461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Arc 24"/>
          <p:cNvSpPr>
            <a:spLocks/>
          </p:cNvSpPr>
          <p:nvPr/>
        </p:nvSpPr>
        <p:spPr bwMode="auto">
          <a:xfrm>
            <a:off x="7381875" y="2251075"/>
            <a:ext cx="128588" cy="88900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69" name="Arc 25"/>
          <p:cNvSpPr>
            <a:spLocks/>
          </p:cNvSpPr>
          <p:nvPr/>
        </p:nvSpPr>
        <p:spPr bwMode="auto">
          <a:xfrm>
            <a:off x="6821488" y="2251075"/>
            <a:ext cx="127000" cy="88900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70" name="Line 26"/>
          <p:cNvSpPr>
            <a:spLocks noChangeShapeType="1"/>
          </p:cNvSpPr>
          <p:nvPr/>
        </p:nvSpPr>
        <p:spPr bwMode="auto">
          <a:xfrm>
            <a:off x="6935789" y="2298700"/>
            <a:ext cx="4460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71" name="Rectangle 27"/>
          <p:cNvSpPr>
            <a:spLocks noChangeArrowheads="1"/>
          </p:cNvSpPr>
          <p:nvPr/>
        </p:nvSpPr>
        <p:spPr bwMode="auto">
          <a:xfrm>
            <a:off x="7499351" y="2182813"/>
            <a:ext cx="104188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8-bit data bus</a:t>
            </a:r>
          </a:p>
        </p:txBody>
      </p:sp>
      <p:sp>
        <p:nvSpPr>
          <p:cNvPr id="6172" name="Line 28"/>
          <p:cNvSpPr>
            <a:spLocks noChangeShapeType="1"/>
          </p:cNvSpPr>
          <p:nvPr/>
        </p:nvSpPr>
        <p:spPr bwMode="auto">
          <a:xfrm>
            <a:off x="5372101" y="2006600"/>
            <a:ext cx="2825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Rectangle 29"/>
          <p:cNvSpPr>
            <a:spLocks noChangeArrowheads="1"/>
          </p:cNvSpPr>
          <p:nvPr/>
        </p:nvSpPr>
        <p:spPr bwMode="auto">
          <a:xfrm>
            <a:off x="3862388" y="3302001"/>
            <a:ext cx="142988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CS1  CS2     RD    WR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4" name="Rectangle 30"/>
          <p:cNvSpPr>
            <a:spLocks noChangeArrowheads="1"/>
          </p:cNvSpPr>
          <p:nvPr/>
        </p:nvSpPr>
        <p:spPr bwMode="auto">
          <a:xfrm>
            <a:off x="3833813" y="3521076"/>
            <a:ext cx="142667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0        0        x        x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5" name="Rectangle 31"/>
          <p:cNvSpPr>
            <a:spLocks noChangeArrowheads="1"/>
          </p:cNvSpPr>
          <p:nvPr/>
        </p:nvSpPr>
        <p:spPr bwMode="auto">
          <a:xfrm>
            <a:off x="3833813" y="3681414"/>
            <a:ext cx="142667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0        1        x        x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6" name="Rectangle 32"/>
          <p:cNvSpPr>
            <a:spLocks noChangeArrowheads="1"/>
          </p:cNvSpPr>
          <p:nvPr/>
        </p:nvSpPr>
        <p:spPr bwMode="auto">
          <a:xfrm>
            <a:off x="3833813" y="3844926"/>
            <a:ext cx="144911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1        0        0        0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7" name="Rectangle 33"/>
          <p:cNvSpPr>
            <a:spLocks noChangeArrowheads="1"/>
          </p:cNvSpPr>
          <p:nvPr/>
        </p:nvSpPr>
        <p:spPr bwMode="auto">
          <a:xfrm>
            <a:off x="3833813" y="4005264"/>
            <a:ext cx="144911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1        0        0        1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8" name="Rectangle 34"/>
          <p:cNvSpPr>
            <a:spLocks noChangeArrowheads="1"/>
          </p:cNvSpPr>
          <p:nvPr/>
        </p:nvSpPr>
        <p:spPr bwMode="auto">
          <a:xfrm>
            <a:off x="3833814" y="4167189"/>
            <a:ext cx="143789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0        1        x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79" name="Rectangle 35"/>
          <p:cNvSpPr>
            <a:spLocks noChangeArrowheads="1"/>
          </p:cNvSpPr>
          <p:nvPr/>
        </p:nvSpPr>
        <p:spPr bwMode="auto">
          <a:xfrm>
            <a:off x="3833813" y="4327525"/>
            <a:ext cx="142667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1        1        x        x</a:t>
            </a:r>
          </a:p>
        </p:txBody>
      </p:sp>
      <p:sp>
        <p:nvSpPr>
          <p:cNvPr id="6180" name="Rectangle 36"/>
          <p:cNvSpPr>
            <a:spLocks noChangeArrowheads="1"/>
          </p:cNvSpPr>
          <p:nvPr/>
        </p:nvSpPr>
        <p:spPr bwMode="auto">
          <a:xfrm>
            <a:off x="5614988" y="3290889"/>
            <a:ext cx="127515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Memory function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1" name="Rectangle 37"/>
          <p:cNvSpPr>
            <a:spLocks noChangeArrowheads="1"/>
          </p:cNvSpPr>
          <p:nvPr/>
        </p:nvSpPr>
        <p:spPr bwMode="auto">
          <a:xfrm>
            <a:off x="5586413" y="3508376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2" name="Rectangle 38"/>
          <p:cNvSpPr>
            <a:spLocks noChangeArrowheads="1"/>
          </p:cNvSpPr>
          <p:nvPr/>
        </p:nvSpPr>
        <p:spPr bwMode="auto">
          <a:xfrm>
            <a:off x="5586413" y="3671889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3" name="Rectangle 39"/>
          <p:cNvSpPr>
            <a:spLocks noChangeArrowheads="1"/>
          </p:cNvSpPr>
          <p:nvPr/>
        </p:nvSpPr>
        <p:spPr bwMode="auto">
          <a:xfrm>
            <a:off x="5586413" y="3832226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4" name="Rectangle 40"/>
          <p:cNvSpPr>
            <a:spLocks noChangeArrowheads="1"/>
          </p:cNvSpPr>
          <p:nvPr/>
        </p:nvSpPr>
        <p:spPr bwMode="auto">
          <a:xfrm>
            <a:off x="5586414" y="3994151"/>
            <a:ext cx="70557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Write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5" name="Rectangle 41"/>
          <p:cNvSpPr>
            <a:spLocks noChangeArrowheads="1"/>
          </p:cNvSpPr>
          <p:nvPr/>
        </p:nvSpPr>
        <p:spPr bwMode="auto">
          <a:xfrm>
            <a:off x="5586414" y="4156076"/>
            <a:ext cx="67056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Read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6" name="Rectangle 42"/>
          <p:cNvSpPr>
            <a:spLocks noChangeArrowheads="1"/>
          </p:cNvSpPr>
          <p:nvPr/>
        </p:nvSpPr>
        <p:spPr bwMode="auto">
          <a:xfrm>
            <a:off x="5586413" y="4314826"/>
            <a:ext cx="75982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   Inhibit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7" name="Rectangle 43"/>
          <p:cNvSpPr>
            <a:spLocks noChangeArrowheads="1"/>
          </p:cNvSpPr>
          <p:nvPr/>
        </p:nvSpPr>
        <p:spPr bwMode="auto">
          <a:xfrm>
            <a:off x="5586414" y="4476750"/>
            <a:ext cx="25327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  </a:t>
            </a:r>
          </a:p>
        </p:txBody>
      </p:sp>
      <p:sp>
        <p:nvSpPr>
          <p:cNvPr id="6188" name="Rectangle 44"/>
          <p:cNvSpPr>
            <a:spLocks noChangeArrowheads="1"/>
          </p:cNvSpPr>
          <p:nvPr/>
        </p:nvSpPr>
        <p:spPr bwMode="auto">
          <a:xfrm>
            <a:off x="7070725" y="3290889"/>
            <a:ext cx="123251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State of data bus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89" name="Rectangle 45"/>
          <p:cNvSpPr>
            <a:spLocks noChangeArrowheads="1"/>
          </p:cNvSpPr>
          <p:nvPr/>
        </p:nvSpPr>
        <p:spPr bwMode="auto">
          <a:xfrm>
            <a:off x="7042151" y="3508376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7042151" y="3673476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1" name="Rectangle 47"/>
          <p:cNvSpPr>
            <a:spLocks noChangeArrowheads="1"/>
          </p:cNvSpPr>
          <p:nvPr/>
        </p:nvSpPr>
        <p:spPr bwMode="auto">
          <a:xfrm>
            <a:off x="7042151" y="3833814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2" name="Rectangle 48"/>
          <p:cNvSpPr>
            <a:spLocks noChangeArrowheads="1"/>
          </p:cNvSpPr>
          <p:nvPr/>
        </p:nvSpPr>
        <p:spPr bwMode="auto">
          <a:xfrm>
            <a:off x="7042150" y="3994151"/>
            <a:ext cx="133055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Input data to RAM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3" name="Rectangle 49"/>
          <p:cNvSpPr>
            <a:spLocks noChangeArrowheads="1"/>
          </p:cNvSpPr>
          <p:nvPr/>
        </p:nvSpPr>
        <p:spPr bwMode="auto">
          <a:xfrm>
            <a:off x="7042151" y="4154489"/>
            <a:ext cx="161646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Output data from RAM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4" name="Rectangle 50"/>
          <p:cNvSpPr>
            <a:spLocks noChangeArrowheads="1"/>
          </p:cNvSpPr>
          <p:nvPr/>
        </p:nvSpPr>
        <p:spPr bwMode="auto">
          <a:xfrm>
            <a:off x="7042151" y="4316414"/>
            <a:ext cx="120866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High-impedence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195" name="Line 51"/>
          <p:cNvSpPr>
            <a:spLocks noChangeShapeType="1"/>
          </p:cNvSpPr>
          <p:nvPr/>
        </p:nvSpPr>
        <p:spPr bwMode="auto">
          <a:xfrm>
            <a:off x="3848100" y="3524250"/>
            <a:ext cx="49482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6" name="Line 52"/>
          <p:cNvSpPr>
            <a:spLocks noChangeShapeType="1"/>
          </p:cNvSpPr>
          <p:nvPr/>
        </p:nvSpPr>
        <p:spPr bwMode="auto">
          <a:xfrm>
            <a:off x="3848100" y="4533900"/>
            <a:ext cx="49482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7" name="Line 53"/>
          <p:cNvSpPr>
            <a:spLocks noChangeShapeType="1"/>
          </p:cNvSpPr>
          <p:nvPr/>
        </p:nvSpPr>
        <p:spPr bwMode="auto">
          <a:xfrm>
            <a:off x="5594350" y="3360738"/>
            <a:ext cx="0" cy="11731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8" name="Line 54"/>
          <p:cNvSpPr>
            <a:spLocks noChangeShapeType="1"/>
          </p:cNvSpPr>
          <p:nvPr/>
        </p:nvSpPr>
        <p:spPr bwMode="auto">
          <a:xfrm>
            <a:off x="6969125" y="3360738"/>
            <a:ext cx="0" cy="11731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99" name="Line 55"/>
          <p:cNvSpPr>
            <a:spLocks noChangeShapeType="1"/>
          </p:cNvSpPr>
          <p:nvPr/>
        </p:nvSpPr>
        <p:spPr bwMode="auto">
          <a:xfrm>
            <a:off x="4360864" y="3343275"/>
            <a:ext cx="2825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1" name="Line 57"/>
          <p:cNvSpPr>
            <a:spLocks noChangeShapeType="1"/>
          </p:cNvSpPr>
          <p:nvPr/>
        </p:nvSpPr>
        <p:spPr bwMode="auto">
          <a:xfrm>
            <a:off x="4129089" y="5395913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2" name="Rectangle 58"/>
          <p:cNvSpPr>
            <a:spLocks noChangeArrowheads="1"/>
          </p:cNvSpPr>
          <p:nvPr/>
        </p:nvSpPr>
        <p:spPr bwMode="auto">
          <a:xfrm>
            <a:off x="3068638" y="5267325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1</a:t>
            </a:r>
          </a:p>
        </p:txBody>
      </p:sp>
      <p:sp>
        <p:nvSpPr>
          <p:cNvPr id="6203" name="Line 59"/>
          <p:cNvSpPr>
            <a:spLocks noChangeShapeType="1"/>
          </p:cNvSpPr>
          <p:nvPr/>
        </p:nvSpPr>
        <p:spPr bwMode="auto">
          <a:xfrm>
            <a:off x="4129089" y="5599113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4" name="Rectangle 60"/>
          <p:cNvSpPr>
            <a:spLocks noChangeArrowheads="1"/>
          </p:cNvSpPr>
          <p:nvPr/>
        </p:nvSpPr>
        <p:spPr bwMode="auto">
          <a:xfrm>
            <a:off x="3068638" y="5472113"/>
            <a:ext cx="97623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Chip select 2</a:t>
            </a:r>
          </a:p>
        </p:txBody>
      </p:sp>
      <p:sp>
        <p:nvSpPr>
          <p:cNvPr id="6205" name="Line 61"/>
          <p:cNvSpPr>
            <a:spLocks noChangeShapeType="1"/>
          </p:cNvSpPr>
          <p:nvPr/>
        </p:nvSpPr>
        <p:spPr bwMode="auto">
          <a:xfrm>
            <a:off x="4129089" y="6207125"/>
            <a:ext cx="331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06" name="Rectangle 62"/>
          <p:cNvSpPr>
            <a:spLocks noChangeArrowheads="1"/>
          </p:cNvSpPr>
          <p:nvPr/>
        </p:nvSpPr>
        <p:spPr bwMode="auto">
          <a:xfrm>
            <a:off x="3068638" y="6078538"/>
            <a:ext cx="99341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9-bit address</a:t>
            </a:r>
          </a:p>
        </p:txBody>
      </p:sp>
      <p:sp>
        <p:nvSpPr>
          <p:cNvPr id="6207" name="Rectangle 63"/>
          <p:cNvSpPr>
            <a:spLocks noChangeArrowheads="1"/>
          </p:cNvSpPr>
          <p:nvPr/>
        </p:nvSpPr>
        <p:spPr bwMode="auto">
          <a:xfrm>
            <a:off x="4459288" y="5256213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6208" name="Rectangle 64"/>
          <p:cNvSpPr>
            <a:spLocks noChangeArrowheads="1"/>
          </p:cNvSpPr>
          <p:nvPr/>
        </p:nvSpPr>
        <p:spPr bwMode="auto">
          <a:xfrm>
            <a:off x="4459288" y="5459413"/>
            <a:ext cx="41357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6209" name="Rectangle 65"/>
          <p:cNvSpPr>
            <a:spLocks noChangeArrowheads="1"/>
          </p:cNvSpPr>
          <p:nvPr/>
        </p:nvSpPr>
        <p:spPr bwMode="auto">
          <a:xfrm>
            <a:off x="4471988" y="6091238"/>
            <a:ext cx="48090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AD 9</a:t>
            </a:r>
          </a:p>
        </p:txBody>
      </p:sp>
      <p:sp>
        <p:nvSpPr>
          <p:cNvPr id="6210" name="Rectangle 66"/>
          <p:cNvSpPr>
            <a:spLocks noChangeArrowheads="1"/>
          </p:cNvSpPr>
          <p:nvPr/>
        </p:nvSpPr>
        <p:spPr bwMode="auto">
          <a:xfrm>
            <a:off x="5049838" y="5613401"/>
            <a:ext cx="63479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512 x 8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6211" name="Rectangle 67"/>
          <p:cNvSpPr>
            <a:spLocks noChangeArrowheads="1"/>
          </p:cNvSpPr>
          <p:nvPr/>
        </p:nvSpPr>
        <p:spPr bwMode="auto">
          <a:xfrm>
            <a:off x="5137150" y="5781675"/>
            <a:ext cx="498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ROM</a:t>
            </a:r>
          </a:p>
        </p:txBody>
      </p:sp>
      <p:sp>
        <p:nvSpPr>
          <p:cNvPr id="6212" name="Rectangle 68"/>
          <p:cNvSpPr>
            <a:spLocks noChangeArrowheads="1"/>
          </p:cNvSpPr>
          <p:nvPr/>
        </p:nvSpPr>
        <p:spPr bwMode="auto">
          <a:xfrm>
            <a:off x="4440239" y="5200650"/>
            <a:ext cx="1412875" cy="12001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3" name="Arc 69"/>
          <p:cNvSpPr>
            <a:spLocks/>
          </p:cNvSpPr>
          <p:nvPr/>
        </p:nvSpPr>
        <p:spPr bwMode="auto">
          <a:xfrm>
            <a:off x="6383339" y="5745164"/>
            <a:ext cx="117475" cy="90487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4" name="Line 70"/>
          <p:cNvSpPr>
            <a:spLocks noChangeShapeType="1"/>
          </p:cNvSpPr>
          <p:nvPr/>
        </p:nvSpPr>
        <p:spPr bwMode="auto">
          <a:xfrm>
            <a:off x="5868989" y="5792788"/>
            <a:ext cx="5222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5" name="Rectangle 71"/>
          <p:cNvSpPr>
            <a:spLocks noChangeArrowheads="1"/>
          </p:cNvSpPr>
          <p:nvPr/>
        </p:nvSpPr>
        <p:spPr bwMode="auto">
          <a:xfrm>
            <a:off x="6491289" y="5661025"/>
            <a:ext cx="104188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8-bit data bus</a:t>
            </a:r>
          </a:p>
        </p:txBody>
      </p:sp>
      <p:sp>
        <p:nvSpPr>
          <p:cNvPr id="6216" name="Line 72"/>
          <p:cNvSpPr>
            <a:spLocks noChangeShapeType="1"/>
          </p:cNvSpPr>
          <p:nvPr/>
        </p:nvSpPr>
        <p:spPr bwMode="auto">
          <a:xfrm>
            <a:off x="4548189" y="5491163"/>
            <a:ext cx="2952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18" name="Rectangle 74"/>
          <p:cNvSpPr>
            <a:spLocks noChangeArrowheads="1"/>
          </p:cNvSpPr>
          <p:nvPr/>
        </p:nvSpPr>
        <p:spPr bwMode="auto">
          <a:xfrm>
            <a:off x="9448754" y="1"/>
            <a:ext cx="121924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Main Memory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14575" y="273050"/>
            <a:ext cx="7589838" cy="471488"/>
          </a:xfrm>
          <a:noFill/>
          <a:ln/>
        </p:spPr>
        <p:txBody>
          <a:bodyPr anchor="ctr"/>
          <a:lstStyle/>
          <a:p>
            <a:pPr algn="ctr"/>
            <a:r>
              <a:rPr lang="en-US" altLang="ko-KR" sz="2400" dirty="0">
                <a:solidFill>
                  <a:srgbClr val="C00000"/>
                </a:solidFill>
              </a:rPr>
              <a:t>MEMORY  ADDRESS  MAP</a:t>
            </a:r>
          </a:p>
        </p:txBody>
      </p:sp>
      <p:grpSp>
        <p:nvGrpSpPr>
          <p:cNvPr id="7188" name="Group 20"/>
          <p:cNvGrpSpPr>
            <a:grpSpLocks/>
          </p:cNvGrpSpPr>
          <p:nvPr/>
        </p:nvGrpSpPr>
        <p:grpSpPr bwMode="auto">
          <a:xfrm>
            <a:off x="3159126" y="2147887"/>
            <a:ext cx="4837113" cy="1584324"/>
            <a:chOff x="1030" y="1353"/>
            <a:chExt cx="3047" cy="998"/>
          </a:xfrm>
        </p:grpSpPr>
        <p:sp>
          <p:nvSpPr>
            <p:cNvPr id="7171" name="Rectangle 3"/>
            <p:cNvSpPr>
              <a:spLocks noChangeArrowheads="1"/>
            </p:cNvSpPr>
            <p:nvPr/>
          </p:nvSpPr>
          <p:spPr bwMode="auto">
            <a:xfrm>
              <a:off x="1095" y="1684"/>
              <a:ext cx="367" cy="6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/>
                <a:t>RAM  1</a:t>
              </a:r>
            </a:p>
            <a:p>
              <a:pPr defTabSz="762000"/>
              <a:r>
                <a:rPr lang="en-US" altLang="ko-KR" sz="1200"/>
                <a:t>RAM  2</a:t>
              </a:r>
            </a:p>
            <a:p>
              <a:pPr defTabSz="762000"/>
              <a:r>
                <a:rPr lang="en-US" altLang="ko-KR" sz="1200"/>
                <a:t>RAM  3</a:t>
              </a:r>
            </a:p>
            <a:p>
              <a:pPr defTabSz="762000"/>
              <a:r>
                <a:rPr lang="en-US" altLang="ko-KR" sz="1200"/>
                <a:t>RAM  4</a:t>
              </a:r>
            </a:p>
            <a:p>
              <a:pPr defTabSz="762000"/>
              <a:r>
                <a:rPr lang="en-US" altLang="ko-KR" sz="1200"/>
                <a:t>ROM</a:t>
              </a:r>
            </a:p>
          </p:txBody>
        </p:sp>
        <p:sp>
          <p:nvSpPr>
            <p:cNvPr id="7172" name="Rectangle 4"/>
            <p:cNvSpPr>
              <a:spLocks noChangeArrowheads="1"/>
            </p:cNvSpPr>
            <p:nvPr/>
          </p:nvSpPr>
          <p:spPr bwMode="auto">
            <a:xfrm>
              <a:off x="1794" y="1684"/>
              <a:ext cx="545" cy="6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/>
                <a:t>0000 - 007F</a:t>
              </a:r>
            </a:p>
            <a:p>
              <a:pPr defTabSz="762000"/>
              <a:r>
                <a:rPr lang="en-US" altLang="ko-KR" sz="1200"/>
                <a:t>0080 - 00FF</a:t>
              </a:r>
            </a:p>
            <a:p>
              <a:pPr defTabSz="762000"/>
              <a:r>
                <a:rPr lang="en-US" altLang="ko-KR" sz="1200"/>
                <a:t>0100 - 017F</a:t>
              </a:r>
            </a:p>
            <a:p>
              <a:pPr defTabSz="762000"/>
              <a:r>
                <a:rPr lang="en-US" altLang="ko-KR" sz="1200"/>
                <a:t>0180 - 01FF</a:t>
              </a:r>
            </a:p>
            <a:p>
              <a:pPr defTabSz="762000"/>
              <a:r>
                <a:rPr lang="en-US" altLang="ko-KR" sz="1200"/>
                <a:t>0200 - 03FF</a:t>
              </a:r>
            </a:p>
          </p:txBody>
        </p:sp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1030" y="1470"/>
              <a:ext cx="544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/>
                <a:t>Component</a:t>
              </a:r>
            </a:p>
          </p:txBody>
        </p:sp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1900" y="1400"/>
              <a:ext cx="385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 defTabSz="762000"/>
              <a:r>
                <a:rPr lang="en-US" altLang="ko-KR" sz="1200"/>
                <a:t>Hexa</a:t>
              </a:r>
            </a:p>
            <a:p>
              <a:pPr algn="ctr" defTabSz="762000"/>
              <a:r>
                <a:rPr lang="en-US" altLang="ko-KR" sz="1200"/>
                <a:t>address</a:t>
              </a:r>
            </a:p>
          </p:txBody>
        </p:sp>
        <p:sp>
          <p:nvSpPr>
            <p:cNvPr id="7175" name="Rectangle 7"/>
            <p:cNvSpPr>
              <a:spLocks noChangeArrowheads="1"/>
            </p:cNvSpPr>
            <p:nvPr/>
          </p:nvSpPr>
          <p:spPr bwMode="auto">
            <a:xfrm>
              <a:off x="2552" y="1684"/>
              <a:ext cx="1215" cy="6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2000"/>
                </a:lnSpc>
              </a:pPr>
              <a:r>
                <a:rPr lang="en-US" altLang="ko-KR" sz="1200"/>
                <a:t>0   0     0   x   x   x     x   x   x   x</a:t>
              </a:r>
            </a:p>
            <a:p>
              <a:pPr defTabSz="762000">
                <a:lnSpc>
                  <a:spcPct val="92000"/>
                </a:lnSpc>
              </a:pPr>
              <a:r>
                <a:rPr lang="en-US" altLang="ko-KR" sz="1200"/>
                <a:t>0   0     1   x   x   x     x   x   x   x</a:t>
              </a:r>
            </a:p>
            <a:p>
              <a:pPr defTabSz="762000">
                <a:lnSpc>
                  <a:spcPct val="92000"/>
                </a:lnSpc>
              </a:pPr>
              <a:r>
                <a:rPr lang="en-US" altLang="ko-KR" sz="1200"/>
                <a:t>0   1     0   x   x   x     x   x   x   x</a:t>
              </a:r>
            </a:p>
            <a:p>
              <a:pPr defTabSz="762000">
                <a:lnSpc>
                  <a:spcPct val="92000"/>
                </a:lnSpc>
              </a:pPr>
              <a:r>
                <a:rPr lang="en-US" altLang="ko-KR" sz="1200"/>
                <a:t>0   1     1   x   x   x     x   x   x   x</a:t>
              </a:r>
            </a:p>
            <a:p>
              <a:pPr defTabSz="762000">
                <a:lnSpc>
                  <a:spcPct val="92000"/>
                </a:lnSpc>
              </a:pPr>
              <a:r>
                <a:rPr lang="en-US" altLang="ko-KR" sz="1200"/>
                <a:t>1   x     x   x   x   x     x   x   x   x</a:t>
              </a:r>
            </a:p>
            <a:p>
              <a:pPr defTabSz="762000">
                <a:lnSpc>
                  <a:spcPct val="85000"/>
                </a:lnSpc>
              </a:pPr>
              <a:endParaRPr lang="en-US" altLang="ko-KR" sz="1200"/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2494" y="1521"/>
              <a:ext cx="1314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/>
                <a:t>10   9     8   7   6   5     4   3   2   1</a:t>
              </a:r>
            </a:p>
          </p:txBody>
        </p:sp>
        <p:sp>
          <p:nvSpPr>
            <p:cNvPr id="7177" name="Rectangle 9"/>
            <p:cNvSpPr>
              <a:spLocks noChangeArrowheads="1"/>
            </p:cNvSpPr>
            <p:nvPr/>
          </p:nvSpPr>
          <p:spPr bwMode="auto">
            <a:xfrm>
              <a:off x="2865" y="1358"/>
              <a:ext cx="557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/>
                <a:t>Address bus</a:t>
              </a:r>
            </a:p>
          </p:txBody>
        </p:sp>
        <p:sp>
          <p:nvSpPr>
            <p:cNvPr id="7178" name="Rectangle 10"/>
            <p:cNvSpPr>
              <a:spLocks noChangeArrowheads="1"/>
            </p:cNvSpPr>
            <p:nvPr/>
          </p:nvSpPr>
          <p:spPr bwMode="auto">
            <a:xfrm>
              <a:off x="1042" y="1353"/>
              <a:ext cx="3035" cy="9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" name="Line 11"/>
            <p:cNvSpPr>
              <a:spLocks noChangeShapeType="1"/>
            </p:cNvSpPr>
            <p:nvPr/>
          </p:nvSpPr>
          <p:spPr bwMode="auto">
            <a:xfrm>
              <a:off x="1042" y="1675"/>
              <a:ext cx="30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>
              <a:off x="2431" y="1353"/>
              <a:ext cx="0" cy="9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Line 13"/>
            <p:cNvSpPr>
              <a:spLocks noChangeShapeType="1"/>
            </p:cNvSpPr>
            <p:nvPr/>
          </p:nvSpPr>
          <p:spPr bwMode="auto">
            <a:xfrm>
              <a:off x="2443" y="1512"/>
              <a:ext cx="16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84" name="Group 16"/>
          <p:cNvGrpSpPr>
            <a:grpSpLocks/>
          </p:cNvGrpSpPr>
          <p:nvPr/>
        </p:nvGrpSpPr>
        <p:grpSpPr bwMode="auto">
          <a:xfrm>
            <a:off x="2414588" y="4249739"/>
            <a:ext cx="5149016" cy="2120291"/>
            <a:chOff x="392" y="3200"/>
            <a:chExt cx="2343" cy="1929"/>
          </a:xfrm>
        </p:grpSpPr>
        <p:sp>
          <p:nvSpPr>
            <p:cNvPr id="7182" name="Rectangle 14"/>
            <p:cNvSpPr>
              <a:spLocks noChangeArrowheads="1"/>
            </p:cNvSpPr>
            <p:nvPr/>
          </p:nvSpPr>
          <p:spPr bwMode="auto">
            <a:xfrm>
              <a:off x="392" y="3200"/>
              <a:ext cx="1253" cy="2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</a:pPr>
              <a:r>
                <a:rPr lang="en-US" altLang="ko-KR"/>
                <a:t>Memory Connection to CPU</a:t>
              </a:r>
            </a:p>
          </p:txBody>
        </p:sp>
        <p:sp>
          <p:nvSpPr>
            <p:cNvPr id="7183" name="Rectangle 15"/>
            <p:cNvSpPr>
              <a:spLocks noChangeArrowheads="1"/>
            </p:cNvSpPr>
            <p:nvPr/>
          </p:nvSpPr>
          <p:spPr bwMode="auto">
            <a:xfrm>
              <a:off x="584" y="3495"/>
              <a:ext cx="2151" cy="16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/>
                <a:t>- RAM and ROM chips are connected to a CPU 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/>
                <a:t>   through the data and address buses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/>
            </a:p>
            <a:p>
              <a:pPr defTabSz="762000">
                <a:lnSpc>
                  <a:spcPct val="90000"/>
                </a:lnSpc>
              </a:pPr>
              <a:r>
                <a:rPr lang="en-US" altLang="ko-KR"/>
                <a:t>- The low-order lines in the address bus select 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/>
                <a:t>   the byte within the chips and other lines in the 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/>
                <a:t>   address bus select a particular chip through 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/>
                <a:t>   its chip select inputs</a:t>
              </a:r>
            </a:p>
          </p:txBody>
        </p:sp>
      </p:grp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2251076" y="922338"/>
            <a:ext cx="4682565" cy="10869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/>
              <a:t>Address space assignment to each memory chip</a:t>
            </a:r>
          </a:p>
          <a:p>
            <a:pPr defTabSz="762000">
              <a:lnSpc>
                <a:spcPct val="90000"/>
              </a:lnSpc>
            </a:pPr>
            <a:endParaRPr lang="en-US" altLang="ko-KR"/>
          </a:p>
          <a:p>
            <a:pPr defTabSz="762000">
              <a:lnSpc>
                <a:spcPct val="90000"/>
              </a:lnSpc>
            </a:pPr>
            <a:endParaRPr lang="en-US" altLang="ko-KR"/>
          </a:p>
          <a:p>
            <a:pPr defTabSz="762000">
              <a:lnSpc>
                <a:spcPct val="90000"/>
              </a:lnSpc>
            </a:pPr>
            <a:r>
              <a:rPr lang="en-US" altLang="ko-KR"/>
              <a:t>Example:  512 bytes RAM and 512 bytes ROM</a:t>
            </a:r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9323342" y="1"/>
            <a:ext cx="121924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Main Memory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3EFE803-2908-892E-0052-6C4B5BB14722}"/>
                  </a:ext>
                </a:extLst>
              </p14:cNvPr>
              <p14:cNvContentPartPr/>
              <p14:nvPr/>
            </p14:nvContentPartPr>
            <p14:xfrm>
              <a:off x="8837200" y="3006640"/>
              <a:ext cx="245160" cy="285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3EFE803-2908-892E-0052-6C4B5BB147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19560" y="2898640"/>
                <a:ext cx="28080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1B6AF7-E8C3-A9D3-5331-6212F562A422}"/>
                  </a:ext>
                </a:extLst>
              </p14:cNvPr>
              <p14:cNvContentPartPr/>
              <p14:nvPr/>
            </p14:nvContentPartPr>
            <p14:xfrm>
              <a:off x="8839360" y="2149120"/>
              <a:ext cx="228240" cy="14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1B6AF7-E8C3-A9D3-5331-6212F562A4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1720" y="2041480"/>
                <a:ext cx="2638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E0F94F-C36D-F119-6E87-FA79D3EAA076}"/>
                  </a:ext>
                </a:extLst>
              </p14:cNvPr>
              <p14:cNvContentPartPr/>
              <p14:nvPr/>
            </p14:nvContentPartPr>
            <p14:xfrm>
              <a:off x="9295480" y="2148400"/>
              <a:ext cx="97920" cy="209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E0F94F-C36D-F119-6E87-FA79D3EAA0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77840" y="2040760"/>
                <a:ext cx="13356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6F1023-C8F9-45B8-5217-F43E72140476}"/>
                  </a:ext>
                </a:extLst>
              </p14:cNvPr>
              <p14:cNvContentPartPr/>
              <p14:nvPr/>
            </p14:nvContentPartPr>
            <p14:xfrm>
              <a:off x="9661960" y="2178640"/>
              <a:ext cx="190440" cy="17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6F1023-C8F9-45B8-5217-F43E721404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44320" y="2070640"/>
                <a:ext cx="2260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C38706-F314-B110-7C01-613FFA179080}"/>
                  </a:ext>
                </a:extLst>
              </p14:cNvPr>
              <p14:cNvContentPartPr/>
              <p14:nvPr/>
            </p14:nvContentPartPr>
            <p14:xfrm>
              <a:off x="10164880" y="2082520"/>
              <a:ext cx="10800" cy="162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C38706-F314-B110-7C01-613FFA1790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46880" y="1974880"/>
                <a:ext cx="464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28A79B0-03A6-C6A1-B940-CE28B76AFFE2}"/>
                  </a:ext>
                </a:extLst>
              </p14:cNvPr>
              <p14:cNvContentPartPr/>
              <p14:nvPr/>
            </p14:nvContentPartPr>
            <p14:xfrm>
              <a:off x="10175320" y="2438200"/>
              <a:ext cx="31320" cy="222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28A79B0-03A6-C6A1-B940-CE28B76AFF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57320" y="2330560"/>
                <a:ext cx="6696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2F728-068C-31B8-1EB8-3D0FE1A4C49E}"/>
                  </a:ext>
                </a:extLst>
              </p14:cNvPr>
              <p14:cNvContentPartPr/>
              <p14:nvPr/>
            </p14:nvContentPartPr>
            <p14:xfrm>
              <a:off x="9784000" y="2483920"/>
              <a:ext cx="56880" cy="294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2F728-068C-31B8-1EB8-3D0FE1A4C4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66000" y="2376280"/>
                <a:ext cx="9252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5D69AA1-51A8-B189-798E-9905EE206391}"/>
                  </a:ext>
                </a:extLst>
              </p14:cNvPr>
              <p14:cNvContentPartPr/>
              <p14:nvPr/>
            </p14:nvContentPartPr>
            <p14:xfrm>
              <a:off x="9321760" y="2499040"/>
              <a:ext cx="36000" cy="202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5D69AA1-51A8-B189-798E-9905EE2063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03760" y="2391400"/>
                <a:ext cx="7164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6FB2A2-469E-E0BB-1A16-28B0292CF61A}"/>
                  </a:ext>
                </a:extLst>
              </p14:cNvPr>
              <p14:cNvContentPartPr/>
              <p14:nvPr/>
            </p14:nvContentPartPr>
            <p14:xfrm>
              <a:off x="8976160" y="2488960"/>
              <a:ext cx="16200" cy="236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6FB2A2-469E-E0BB-1A16-28B0292CF6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58160" y="2381320"/>
                <a:ext cx="5184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94B8E8-B6F2-EA1A-0246-6963AD194CEF}"/>
                  </a:ext>
                </a:extLst>
              </p14:cNvPr>
              <p14:cNvContentPartPr/>
              <p14:nvPr/>
            </p14:nvContentPartPr>
            <p14:xfrm>
              <a:off x="10307080" y="2976760"/>
              <a:ext cx="15840" cy="221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94B8E8-B6F2-EA1A-0246-6963AD194C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89440" y="2869120"/>
                <a:ext cx="514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47E6CF6-4818-5FEC-1E5C-4FCBC9707108}"/>
                  </a:ext>
                </a:extLst>
              </p14:cNvPr>
              <p14:cNvContentPartPr/>
              <p14:nvPr/>
            </p14:nvContentPartPr>
            <p14:xfrm>
              <a:off x="9781120" y="2945800"/>
              <a:ext cx="171720" cy="221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7E6CF6-4818-5FEC-1E5C-4FCBC97071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63120" y="2837800"/>
                <a:ext cx="2073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8EABFD-3A53-8B13-7BC0-95242F304077}"/>
                  </a:ext>
                </a:extLst>
              </p14:cNvPr>
              <p14:cNvContentPartPr/>
              <p14:nvPr/>
            </p14:nvContentPartPr>
            <p14:xfrm>
              <a:off x="9285400" y="2920240"/>
              <a:ext cx="190080" cy="255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8EABFD-3A53-8B13-7BC0-95242F30407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67400" y="2812600"/>
                <a:ext cx="2257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70103CD-DC3B-220A-F601-9BCDA11EC007}"/>
                  </a:ext>
                </a:extLst>
              </p14:cNvPr>
              <p14:cNvContentPartPr/>
              <p14:nvPr/>
            </p14:nvContentPartPr>
            <p14:xfrm>
              <a:off x="8747560" y="3284920"/>
              <a:ext cx="1778760" cy="31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70103CD-DC3B-220A-F601-9BCDA11EC0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29920" y="3177280"/>
                <a:ext cx="181440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F8876D9-EFC2-CDC7-2431-6C25D54A3223}"/>
                  </a:ext>
                </a:extLst>
              </p14:cNvPr>
              <p14:cNvContentPartPr/>
              <p14:nvPr/>
            </p14:nvContentPartPr>
            <p14:xfrm>
              <a:off x="9489160" y="3728440"/>
              <a:ext cx="10440" cy="21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F8876D9-EFC2-CDC7-2431-6C25D54A32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71160" y="3620800"/>
                <a:ext cx="4608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DC4D22-33A2-0514-4DB9-7AD1A8141B22}"/>
                  </a:ext>
                </a:extLst>
              </p14:cNvPr>
              <p14:cNvContentPartPr/>
              <p14:nvPr/>
            </p14:nvContentPartPr>
            <p14:xfrm>
              <a:off x="9540280" y="3764080"/>
              <a:ext cx="162720" cy="168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DC4D22-33A2-0514-4DB9-7AD1A8141B2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522640" y="3656440"/>
                <a:ext cx="198360" cy="38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D75F5B7-50F2-21D1-3871-F312215C028A}"/>
              </a:ext>
            </a:extLst>
          </p:cNvPr>
          <p:cNvGrpSpPr/>
          <p:nvPr/>
        </p:nvGrpSpPr>
        <p:grpSpPr>
          <a:xfrm>
            <a:off x="9987040" y="3744280"/>
            <a:ext cx="489600" cy="241560"/>
            <a:chOff x="9987040" y="3744280"/>
            <a:chExt cx="489600" cy="241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76FE6E-9CE4-3B54-3B96-BC2AC099B666}"/>
                    </a:ext>
                  </a:extLst>
                </p14:cNvPr>
                <p14:cNvContentPartPr/>
                <p14:nvPr/>
              </p14:nvContentPartPr>
              <p14:xfrm>
                <a:off x="9987040" y="3814840"/>
                <a:ext cx="144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76FE6E-9CE4-3B54-3B96-BC2AC099B6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69040" y="3707200"/>
                  <a:ext cx="180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6CEAC7-C264-B9FF-BBEA-3131FD191ABC}"/>
                    </a:ext>
                  </a:extLst>
                </p14:cNvPr>
                <p14:cNvContentPartPr/>
                <p14:nvPr/>
              </p14:nvContentPartPr>
              <p14:xfrm>
                <a:off x="10017640" y="3875680"/>
                <a:ext cx="117000" cy="1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6CEAC7-C264-B9FF-BBEA-3131FD191A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9640" y="3768040"/>
                  <a:ext cx="152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5D6C5C-0DF2-77F6-B868-3430C8E0FB04}"/>
                    </a:ext>
                  </a:extLst>
                </p14:cNvPr>
                <p14:cNvContentPartPr/>
                <p14:nvPr/>
              </p14:nvContentPartPr>
              <p14:xfrm>
                <a:off x="10322200" y="3744280"/>
                <a:ext cx="114120" cy="241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5D6C5C-0DF2-77F6-B868-3430C8E0FB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04200" y="3636280"/>
                  <a:ext cx="1497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4BBFE2-652F-138B-1238-F2AA59162485}"/>
                    </a:ext>
                  </a:extLst>
                </p14:cNvPr>
                <p14:cNvContentPartPr/>
                <p14:nvPr/>
              </p14:nvContentPartPr>
              <p14:xfrm>
                <a:off x="10414000" y="3748960"/>
                <a:ext cx="6264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4BBFE2-652F-138B-1238-F2AA591624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96360" y="3640960"/>
                  <a:ext cx="98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22783C-F58A-8A39-F019-9B6DE7566324}"/>
                    </a:ext>
                  </a:extLst>
                </p14:cNvPr>
                <p14:cNvContentPartPr/>
                <p14:nvPr/>
              </p14:nvContentPartPr>
              <p14:xfrm>
                <a:off x="10338760" y="3814840"/>
                <a:ext cx="93600" cy="26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22783C-F58A-8A39-F019-9B6DE75663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21120" y="3707200"/>
                  <a:ext cx="129240" cy="241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78039" y="263525"/>
            <a:ext cx="8116887" cy="469900"/>
          </a:xfrm>
          <a:noFill/>
          <a:ln/>
        </p:spPr>
        <p:txBody>
          <a:bodyPr anchor="ctr">
            <a:normAutofit/>
          </a:bodyPr>
          <a:lstStyle/>
          <a:p>
            <a:r>
              <a:rPr lang="en-US" altLang="ko-KR" sz="1400"/>
              <a:t>CONNECTION  OF  MEMORY  TO  CPU</a:t>
            </a:r>
          </a:p>
        </p:txBody>
      </p:sp>
      <p:sp>
        <p:nvSpPr>
          <p:cNvPr id="8365" name="Rectangle 173"/>
          <p:cNvSpPr>
            <a:spLocks noChangeArrowheads="1"/>
          </p:cNvSpPr>
          <p:nvPr/>
        </p:nvSpPr>
        <p:spPr bwMode="auto">
          <a:xfrm>
            <a:off x="9448754" y="1"/>
            <a:ext cx="121924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Main Memory</a:t>
            </a:r>
          </a:p>
        </p:txBody>
      </p:sp>
      <p:pic>
        <p:nvPicPr>
          <p:cNvPr id="8195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4175" y="6008689"/>
            <a:ext cx="228600" cy="460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8196" name="Arc 4"/>
          <p:cNvSpPr>
            <a:spLocks/>
          </p:cNvSpPr>
          <p:nvPr/>
        </p:nvSpPr>
        <p:spPr bwMode="auto">
          <a:xfrm>
            <a:off x="5413375" y="2090739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4237039" y="2128838"/>
            <a:ext cx="11763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198" name="Arc 6"/>
          <p:cNvSpPr>
            <a:spLocks/>
          </p:cNvSpPr>
          <p:nvPr/>
        </p:nvSpPr>
        <p:spPr bwMode="auto">
          <a:xfrm>
            <a:off x="5418138" y="2401889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5016501" y="2433638"/>
            <a:ext cx="4159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00" name="Arc 8"/>
          <p:cNvSpPr>
            <a:spLocks/>
          </p:cNvSpPr>
          <p:nvPr/>
        </p:nvSpPr>
        <p:spPr bwMode="auto">
          <a:xfrm>
            <a:off x="5413375" y="2555875"/>
            <a:ext cx="107950" cy="69850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5213351" y="2587625"/>
            <a:ext cx="2000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02" name="Arc 10"/>
          <p:cNvSpPr>
            <a:spLocks/>
          </p:cNvSpPr>
          <p:nvPr/>
        </p:nvSpPr>
        <p:spPr bwMode="auto">
          <a:xfrm>
            <a:off x="5418138" y="2706688"/>
            <a:ext cx="107950" cy="68262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4627564" y="2740025"/>
            <a:ext cx="8096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5510213" y="2016126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5510213" y="2168526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5510214" y="2324101"/>
            <a:ext cx="391134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5510213" y="2484439"/>
            <a:ext cx="44082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5521325" y="2638426"/>
            <a:ext cx="48891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AD7</a:t>
            </a:r>
          </a:p>
        </p:txBody>
      </p:sp>
      <p:sp>
        <p:nvSpPr>
          <p:cNvPr id="8209" name="Rectangle 17"/>
          <p:cNvSpPr>
            <a:spLocks noChangeArrowheads="1"/>
          </p:cNvSpPr>
          <p:nvPr/>
        </p:nvSpPr>
        <p:spPr bwMode="auto">
          <a:xfrm>
            <a:off x="5922964" y="2278063"/>
            <a:ext cx="706926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dirty="0">
                <a:solidFill>
                  <a:srgbClr val="000000"/>
                </a:solidFill>
              </a:rPr>
              <a:t>128 x 8</a:t>
            </a:r>
          </a:p>
          <a:p>
            <a:pPr defTabSz="762000">
              <a:lnSpc>
                <a:spcPct val="90000"/>
              </a:lnSpc>
            </a:pPr>
            <a:endParaRPr lang="en-US" altLang="ko-KR" sz="1400" dirty="0">
              <a:solidFill>
                <a:srgbClr val="000000"/>
              </a:solidFill>
            </a:endParaRPr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5922963" y="2405064"/>
            <a:ext cx="71013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RAM  1</a:t>
            </a:r>
          </a:p>
        </p:txBody>
      </p:sp>
      <p:sp>
        <p:nvSpPr>
          <p:cNvPr id="8211" name="Rectangle 19"/>
          <p:cNvSpPr>
            <a:spLocks noChangeArrowheads="1"/>
          </p:cNvSpPr>
          <p:nvPr/>
        </p:nvSpPr>
        <p:spPr bwMode="auto">
          <a:xfrm>
            <a:off x="5532439" y="2025651"/>
            <a:ext cx="1279525" cy="798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2" name="Arc 20"/>
          <p:cNvSpPr>
            <a:spLocks/>
          </p:cNvSpPr>
          <p:nvPr/>
        </p:nvSpPr>
        <p:spPr bwMode="auto">
          <a:xfrm>
            <a:off x="7046913" y="2390776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3" name="Arc 21"/>
          <p:cNvSpPr>
            <a:spLocks/>
          </p:cNvSpPr>
          <p:nvPr/>
        </p:nvSpPr>
        <p:spPr bwMode="auto">
          <a:xfrm>
            <a:off x="6831013" y="2390776"/>
            <a:ext cx="107950" cy="68263"/>
          </a:xfrm>
          <a:custGeom>
            <a:avLst/>
            <a:gdLst>
              <a:gd name="G0" fmla="+- 0 0 0"/>
              <a:gd name="G1" fmla="+- 8890 0 0"/>
              <a:gd name="G2" fmla="+- 21600 0 0"/>
              <a:gd name="T0" fmla="*/ 19686 w 21600"/>
              <a:gd name="T1" fmla="*/ 0 h 17514"/>
              <a:gd name="T2" fmla="*/ 19804 w 21600"/>
              <a:gd name="T3" fmla="*/ 17514 h 17514"/>
              <a:gd name="T4" fmla="*/ 0 w 21600"/>
              <a:gd name="T5" fmla="*/ 8890 h 17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514" fill="none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</a:path>
              <a:path w="21600" h="17514" stroke="0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>
            <a:off x="6931026" y="2425700"/>
            <a:ext cx="1190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5" name="Line 23"/>
          <p:cNvSpPr>
            <a:spLocks noChangeShapeType="1"/>
          </p:cNvSpPr>
          <p:nvPr/>
        </p:nvSpPr>
        <p:spPr bwMode="auto">
          <a:xfrm>
            <a:off x="5610226" y="2203450"/>
            <a:ext cx="238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7" name="Arc 25"/>
          <p:cNvSpPr>
            <a:spLocks/>
          </p:cNvSpPr>
          <p:nvPr/>
        </p:nvSpPr>
        <p:spPr bwMode="auto">
          <a:xfrm>
            <a:off x="5413375" y="3008313"/>
            <a:ext cx="107950" cy="68262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8" name="Line 26"/>
          <p:cNvSpPr>
            <a:spLocks noChangeShapeType="1"/>
          </p:cNvSpPr>
          <p:nvPr/>
        </p:nvSpPr>
        <p:spPr bwMode="auto">
          <a:xfrm>
            <a:off x="4043363" y="3046413"/>
            <a:ext cx="13700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19" name="Arc 27"/>
          <p:cNvSpPr>
            <a:spLocks/>
          </p:cNvSpPr>
          <p:nvPr/>
        </p:nvSpPr>
        <p:spPr bwMode="auto">
          <a:xfrm>
            <a:off x="5413375" y="3160713"/>
            <a:ext cx="107950" cy="69850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0" name="Line 28"/>
          <p:cNvSpPr>
            <a:spLocks noChangeShapeType="1"/>
          </p:cNvSpPr>
          <p:nvPr/>
        </p:nvSpPr>
        <p:spPr bwMode="auto">
          <a:xfrm>
            <a:off x="4822825" y="3198813"/>
            <a:ext cx="5905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1" name="Arc 29"/>
          <p:cNvSpPr>
            <a:spLocks/>
          </p:cNvSpPr>
          <p:nvPr/>
        </p:nvSpPr>
        <p:spPr bwMode="auto">
          <a:xfrm>
            <a:off x="5418138" y="3317876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2" name="Line 30"/>
          <p:cNvSpPr>
            <a:spLocks noChangeShapeType="1"/>
          </p:cNvSpPr>
          <p:nvPr/>
        </p:nvSpPr>
        <p:spPr bwMode="auto">
          <a:xfrm>
            <a:off x="5016500" y="3352800"/>
            <a:ext cx="4206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3" name="Arc 31"/>
          <p:cNvSpPr>
            <a:spLocks/>
          </p:cNvSpPr>
          <p:nvPr/>
        </p:nvSpPr>
        <p:spPr bwMode="auto">
          <a:xfrm>
            <a:off x="5413375" y="3468689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4" name="Line 32"/>
          <p:cNvSpPr>
            <a:spLocks noChangeShapeType="1"/>
          </p:cNvSpPr>
          <p:nvPr/>
        </p:nvSpPr>
        <p:spPr bwMode="auto">
          <a:xfrm>
            <a:off x="5213351" y="3506788"/>
            <a:ext cx="2000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5" name="Arc 33"/>
          <p:cNvSpPr>
            <a:spLocks/>
          </p:cNvSpPr>
          <p:nvPr/>
        </p:nvSpPr>
        <p:spPr bwMode="auto">
          <a:xfrm>
            <a:off x="5413375" y="3625851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6" name="Line 34"/>
          <p:cNvSpPr>
            <a:spLocks noChangeShapeType="1"/>
          </p:cNvSpPr>
          <p:nvPr/>
        </p:nvSpPr>
        <p:spPr bwMode="auto">
          <a:xfrm>
            <a:off x="4627563" y="3657600"/>
            <a:ext cx="7858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27" name="Rectangle 35"/>
          <p:cNvSpPr>
            <a:spLocks noChangeArrowheads="1"/>
          </p:cNvSpPr>
          <p:nvPr/>
        </p:nvSpPr>
        <p:spPr bwMode="auto">
          <a:xfrm>
            <a:off x="5510213" y="2935289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8228" name="Rectangle 36"/>
          <p:cNvSpPr>
            <a:spLocks noChangeArrowheads="1"/>
          </p:cNvSpPr>
          <p:nvPr/>
        </p:nvSpPr>
        <p:spPr bwMode="auto">
          <a:xfrm>
            <a:off x="5510213" y="3087689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8229" name="Rectangle 37"/>
          <p:cNvSpPr>
            <a:spLocks noChangeArrowheads="1"/>
          </p:cNvSpPr>
          <p:nvPr/>
        </p:nvSpPr>
        <p:spPr bwMode="auto">
          <a:xfrm>
            <a:off x="5510214" y="3243264"/>
            <a:ext cx="391134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8230" name="Rectangle 38"/>
          <p:cNvSpPr>
            <a:spLocks noChangeArrowheads="1"/>
          </p:cNvSpPr>
          <p:nvPr/>
        </p:nvSpPr>
        <p:spPr bwMode="auto">
          <a:xfrm>
            <a:off x="5510213" y="3403601"/>
            <a:ext cx="44082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8231" name="Rectangle 39"/>
          <p:cNvSpPr>
            <a:spLocks noChangeArrowheads="1"/>
          </p:cNvSpPr>
          <p:nvPr/>
        </p:nvSpPr>
        <p:spPr bwMode="auto">
          <a:xfrm>
            <a:off x="5522913" y="3556001"/>
            <a:ext cx="48891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AD7</a:t>
            </a:r>
          </a:p>
        </p:txBody>
      </p:sp>
      <p:sp>
        <p:nvSpPr>
          <p:cNvPr id="8232" name="Rectangle 40"/>
          <p:cNvSpPr>
            <a:spLocks noChangeArrowheads="1"/>
          </p:cNvSpPr>
          <p:nvPr/>
        </p:nvSpPr>
        <p:spPr bwMode="auto">
          <a:xfrm>
            <a:off x="5922964" y="3206750"/>
            <a:ext cx="706926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128 x 8</a:t>
            </a:r>
          </a:p>
          <a:p>
            <a:pPr defTabSz="762000">
              <a:lnSpc>
                <a:spcPct val="90000"/>
              </a:lnSpc>
            </a:pPr>
            <a:endParaRPr lang="en-US" altLang="ko-KR" sz="1400">
              <a:solidFill>
                <a:srgbClr val="000000"/>
              </a:solidFill>
            </a:endParaRPr>
          </a:p>
        </p:txBody>
      </p:sp>
      <p:sp>
        <p:nvSpPr>
          <p:cNvPr id="8233" name="Rectangle 41"/>
          <p:cNvSpPr>
            <a:spLocks noChangeArrowheads="1"/>
          </p:cNvSpPr>
          <p:nvPr/>
        </p:nvSpPr>
        <p:spPr bwMode="auto">
          <a:xfrm>
            <a:off x="5922963" y="3330576"/>
            <a:ext cx="71013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RAM  2</a:t>
            </a:r>
          </a:p>
        </p:txBody>
      </p:sp>
      <p:sp>
        <p:nvSpPr>
          <p:cNvPr id="8234" name="Rectangle 42"/>
          <p:cNvSpPr>
            <a:spLocks noChangeArrowheads="1"/>
          </p:cNvSpPr>
          <p:nvPr/>
        </p:nvSpPr>
        <p:spPr bwMode="auto">
          <a:xfrm>
            <a:off x="5532439" y="2943226"/>
            <a:ext cx="1279525" cy="796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35" name="Arc 43"/>
          <p:cNvSpPr>
            <a:spLocks/>
          </p:cNvSpPr>
          <p:nvPr/>
        </p:nvSpPr>
        <p:spPr bwMode="auto">
          <a:xfrm>
            <a:off x="7046913" y="3306763"/>
            <a:ext cx="107950" cy="68262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36" name="Arc 44"/>
          <p:cNvSpPr>
            <a:spLocks/>
          </p:cNvSpPr>
          <p:nvPr/>
        </p:nvSpPr>
        <p:spPr bwMode="auto">
          <a:xfrm>
            <a:off x="6831013" y="3306763"/>
            <a:ext cx="107950" cy="69850"/>
          </a:xfrm>
          <a:custGeom>
            <a:avLst/>
            <a:gdLst>
              <a:gd name="G0" fmla="+- 0 0 0"/>
              <a:gd name="G1" fmla="+- 8890 0 0"/>
              <a:gd name="G2" fmla="+- 21600 0 0"/>
              <a:gd name="T0" fmla="*/ 19686 w 21600"/>
              <a:gd name="T1" fmla="*/ 0 h 17514"/>
              <a:gd name="T2" fmla="*/ 19804 w 21600"/>
              <a:gd name="T3" fmla="*/ 17514 h 17514"/>
              <a:gd name="T4" fmla="*/ 0 w 21600"/>
              <a:gd name="T5" fmla="*/ 8890 h 17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514" fill="none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</a:path>
              <a:path w="21600" h="17514" stroke="0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37" name="Line 45"/>
          <p:cNvSpPr>
            <a:spLocks noChangeShapeType="1"/>
          </p:cNvSpPr>
          <p:nvPr/>
        </p:nvSpPr>
        <p:spPr bwMode="auto">
          <a:xfrm>
            <a:off x="6921500" y="3336925"/>
            <a:ext cx="1285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38" name="Line 46"/>
          <p:cNvSpPr>
            <a:spLocks noChangeShapeType="1"/>
          </p:cNvSpPr>
          <p:nvPr/>
        </p:nvSpPr>
        <p:spPr bwMode="auto">
          <a:xfrm>
            <a:off x="5619751" y="3127375"/>
            <a:ext cx="238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0" name="Arc 48"/>
          <p:cNvSpPr>
            <a:spLocks/>
          </p:cNvSpPr>
          <p:nvPr/>
        </p:nvSpPr>
        <p:spPr bwMode="auto">
          <a:xfrm>
            <a:off x="5413375" y="3927476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1" name="Line 49"/>
          <p:cNvSpPr>
            <a:spLocks noChangeShapeType="1"/>
          </p:cNvSpPr>
          <p:nvPr/>
        </p:nvSpPr>
        <p:spPr bwMode="auto">
          <a:xfrm>
            <a:off x="3848101" y="3963988"/>
            <a:ext cx="15652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2" name="Arc 50"/>
          <p:cNvSpPr>
            <a:spLocks/>
          </p:cNvSpPr>
          <p:nvPr/>
        </p:nvSpPr>
        <p:spPr bwMode="auto">
          <a:xfrm>
            <a:off x="5413375" y="4084639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3" name="Line 51"/>
          <p:cNvSpPr>
            <a:spLocks noChangeShapeType="1"/>
          </p:cNvSpPr>
          <p:nvPr/>
        </p:nvSpPr>
        <p:spPr bwMode="auto">
          <a:xfrm>
            <a:off x="4822825" y="4116388"/>
            <a:ext cx="5905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4" name="Arc 52"/>
          <p:cNvSpPr>
            <a:spLocks/>
          </p:cNvSpPr>
          <p:nvPr/>
        </p:nvSpPr>
        <p:spPr bwMode="auto">
          <a:xfrm>
            <a:off x="5418138" y="4233864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5" name="Line 53"/>
          <p:cNvSpPr>
            <a:spLocks noChangeShapeType="1"/>
          </p:cNvSpPr>
          <p:nvPr/>
        </p:nvSpPr>
        <p:spPr bwMode="auto">
          <a:xfrm>
            <a:off x="5016501" y="4270375"/>
            <a:ext cx="4302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6" name="Arc 54"/>
          <p:cNvSpPr>
            <a:spLocks/>
          </p:cNvSpPr>
          <p:nvPr/>
        </p:nvSpPr>
        <p:spPr bwMode="auto">
          <a:xfrm>
            <a:off x="5408613" y="4389438"/>
            <a:ext cx="107950" cy="68262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7" name="Line 55"/>
          <p:cNvSpPr>
            <a:spLocks noChangeShapeType="1"/>
          </p:cNvSpPr>
          <p:nvPr/>
        </p:nvSpPr>
        <p:spPr bwMode="auto">
          <a:xfrm>
            <a:off x="5213351" y="4422775"/>
            <a:ext cx="2000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8" name="Arc 56"/>
          <p:cNvSpPr>
            <a:spLocks/>
          </p:cNvSpPr>
          <p:nvPr/>
        </p:nvSpPr>
        <p:spPr bwMode="auto">
          <a:xfrm>
            <a:off x="5418138" y="4541839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49" name="Line 57"/>
          <p:cNvSpPr>
            <a:spLocks noChangeShapeType="1"/>
          </p:cNvSpPr>
          <p:nvPr/>
        </p:nvSpPr>
        <p:spPr bwMode="auto">
          <a:xfrm>
            <a:off x="4627564" y="4575175"/>
            <a:ext cx="8096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50" name="Rectangle 58"/>
          <p:cNvSpPr>
            <a:spLocks noChangeArrowheads="1"/>
          </p:cNvSpPr>
          <p:nvPr/>
        </p:nvSpPr>
        <p:spPr bwMode="auto">
          <a:xfrm>
            <a:off x="5510213" y="3862389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8251" name="Rectangle 59"/>
          <p:cNvSpPr>
            <a:spLocks noChangeArrowheads="1"/>
          </p:cNvSpPr>
          <p:nvPr/>
        </p:nvSpPr>
        <p:spPr bwMode="auto">
          <a:xfrm>
            <a:off x="5510213" y="4014789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8252" name="Rectangle 60"/>
          <p:cNvSpPr>
            <a:spLocks noChangeArrowheads="1"/>
          </p:cNvSpPr>
          <p:nvPr/>
        </p:nvSpPr>
        <p:spPr bwMode="auto">
          <a:xfrm>
            <a:off x="5510214" y="4168776"/>
            <a:ext cx="391134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8253" name="Rectangle 61"/>
          <p:cNvSpPr>
            <a:spLocks noChangeArrowheads="1"/>
          </p:cNvSpPr>
          <p:nvPr/>
        </p:nvSpPr>
        <p:spPr bwMode="auto">
          <a:xfrm>
            <a:off x="5510213" y="4330701"/>
            <a:ext cx="44082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8254" name="Rectangle 62"/>
          <p:cNvSpPr>
            <a:spLocks noChangeArrowheads="1"/>
          </p:cNvSpPr>
          <p:nvPr/>
        </p:nvSpPr>
        <p:spPr bwMode="auto">
          <a:xfrm>
            <a:off x="5511800" y="4465639"/>
            <a:ext cx="48891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AD7</a:t>
            </a:r>
          </a:p>
        </p:txBody>
      </p:sp>
      <p:sp>
        <p:nvSpPr>
          <p:cNvPr id="8255" name="Rectangle 63"/>
          <p:cNvSpPr>
            <a:spLocks noChangeArrowheads="1"/>
          </p:cNvSpPr>
          <p:nvPr/>
        </p:nvSpPr>
        <p:spPr bwMode="auto">
          <a:xfrm>
            <a:off x="5922964" y="4114800"/>
            <a:ext cx="706926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128 x 8</a:t>
            </a:r>
          </a:p>
          <a:p>
            <a:pPr defTabSz="762000">
              <a:lnSpc>
                <a:spcPct val="90000"/>
              </a:lnSpc>
            </a:pPr>
            <a:endParaRPr lang="en-US" altLang="ko-KR" sz="1400">
              <a:solidFill>
                <a:srgbClr val="000000"/>
              </a:solidFill>
            </a:endParaRPr>
          </a:p>
        </p:txBody>
      </p:sp>
      <p:sp>
        <p:nvSpPr>
          <p:cNvPr id="8256" name="Rectangle 64"/>
          <p:cNvSpPr>
            <a:spLocks noChangeArrowheads="1"/>
          </p:cNvSpPr>
          <p:nvPr/>
        </p:nvSpPr>
        <p:spPr bwMode="auto">
          <a:xfrm>
            <a:off x="5922963" y="4240214"/>
            <a:ext cx="71013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RAM  3</a:t>
            </a:r>
          </a:p>
        </p:txBody>
      </p:sp>
      <p:sp>
        <p:nvSpPr>
          <p:cNvPr id="8257" name="Rectangle 65"/>
          <p:cNvSpPr>
            <a:spLocks noChangeArrowheads="1"/>
          </p:cNvSpPr>
          <p:nvPr/>
        </p:nvSpPr>
        <p:spPr bwMode="auto">
          <a:xfrm>
            <a:off x="5532439" y="3859213"/>
            <a:ext cx="1279525" cy="8001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58" name="Arc 66"/>
          <p:cNvSpPr>
            <a:spLocks/>
          </p:cNvSpPr>
          <p:nvPr/>
        </p:nvSpPr>
        <p:spPr bwMode="auto">
          <a:xfrm>
            <a:off x="7046913" y="4225926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59" name="Arc 67"/>
          <p:cNvSpPr>
            <a:spLocks/>
          </p:cNvSpPr>
          <p:nvPr/>
        </p:nvSpPr>
        <p:spPr bwMode="auto">
          <a:xfrm>
            <a:off x="6831013" y="4225925"/>
            <a:ext cx="107950" cy="69850"/>
          </a:xfrm>
          <a:custGeom>
            <a:avLst/>
            <a:gdLst>
              <a:gd name="G0" fmla="+- 0 0 0"/>
              <a:gd name="G1" fmla="+- 8890 0 0"/>
              <a:gd name="G2" fmla="+- 21600 0 0"/>
              <a:gd name="T0" fmla="*/ 19686 w 21600"/>
              <a:gd name="T1" fmla="*/ 0 h 17514"/>
              <a:gd name="T2" fmla="*/ 19804 w 21600"/>
              <a:gd name="T3" fmla="*/ 17514 h 17514"/>
              <a:gd name="T4" fmla="*/ 0 w 21600"/>
              <a:gd name="T5" fmla="*/ 8890 h 17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514" fill="none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</a:path>
              <a:path w="21600" h="17514" stroke="0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0" name="Line 68"/>
          <p:cNvSpPr>
            <a:spLocks noChangeShapeType="1"/>
          </p:cNvSpPr>
          <p:nvPr/>
        </p:nvSpPr>
        <p:spPr bwMode="auto">
          <a:xfrm>
            <a:off x="6926264" y="4259264"/>
            <a:ext cx="128587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1" name="Line 69"/>
          <p:cNvSpPr>
            <a:spLocks noChangeShapeType="1"/>
          </p:cNvSpPr>
          <p:nvPr/>
        </p:nvSpPr>
        <p:spPr bwMode="auto">
          <a:xfrm>
            <a:off x="5610226" y="4056063"/>
            <a:ext cx="238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3" name="Arc 71"/>
          <p:cNvSpPr>
            <a:spLocks/>
          </p:cNvSpPr>
          <p:nvPr/>
        </p:nvSpPr>
        <p:spPr bwMode="auto">
          <a:xfrm>
            <a:off x="5413375" y="4851401"/>
            <a:ext cx="107950" cy="68263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4" name="Line 72"/>
          <p:cNvSpPr>
            <a:spLocks noChangeShapeType="1"/>
          </p:cNvSpPr>
          <p:nvPr/>
        </p:nvSpPr>
        <p:spPr bwMode="auto">
          <a:xfrm>
            <a:off x="3584575" y="4881563"/>
            <a:ext cx="18288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5" name="Arc 73"/>
          <p:cNvSpPr>
            <a:spLocks/>
          </p:cNvSpPr>
          <p:nvPr/>
        </p:nvSpPr>
        <p:spPr bwMode="auto">
          <a:xfrm>
            <a:off x="5408613" y="5000626"/>
            <a:ext cx="107950" cy="68263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6" name="Line 74"/>
          <p:cNvSpPr>
            <a:spLocks noChangeShapeType="1"/>
          </p:cNvSpPr>
          <p:nvPr/>
        </p:nvSpPr>
        <p:spPr bwMode="auto">
          <a:xfrm>
            <a:off x="4822825" y="5035550"/>
            <a:ext cx="5905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7" name="Arc 75"/>
          <p:cNvSpPr>
            <a:spLocks/>
          </p:cNvSpPr>
          <p:nvPr/>
        </p:nvSpPr>
        <p:spPr bwMode="auto">
          <a:xfrm>
            <a:off x="5413375" y="5154614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8" name="Line 76"/>
          <p:cNvSpPr>
            <a:spLocks noChangeShapeType="1"/>
          </p:cNvSpPr>
          <p:nvPr/>
        </p:nvSpPr>
        <p:spPr bwMode="auto">
          <a:xfrm>
            <a:off x="5016501" y="5189538"/>
            <a:ext cx="3968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69" name="Arc 77"/>
          <p:cNvSpPr>
            <a:spLocks/>
          </p:cNvSpPr>
          <p:nvPr/>
        </p:nvSpPr>
        <p:spPr bwMode="auto">
          <a:xfrm>
            <a:off x="5413375" y="5305425"/>
            <a:ext cx="107950" cy="69850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70" name="Line 78"/>
          <p:cNvSpPr>
            <a:spLocks noChangeShapeType="1"/>
          </p:cNvSpPr>
          <p:nvPr/>
        </p:nvSpPr>
        <p:spPr bwMode="auto">
          <a:xfrm>
            <a:off x="5192713" y="5343525"/>
            <a:ext cx="2270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71" name="Arc 79"/>
          <p:cNvSpPr>
            <a:spLocks/>
          </p:cNvSpPr>
          <p:nvPr/>
        </p:nvSpPr>
        <p:spPr bwMode="auto">
          <a:xfrm>
            <a:off x="5418138" y="5461001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72" name="Line 80"/>
          <p:cNvSpPr>
            <a:spLocks noChangeShapeType="1"/>
          </p:cNvSpPr>
          <p:nvPr/>
        </p:nvSpPr>
        <p:spPr bwMode="auto">
          <a:xfrm>
            <a:off x="4627563" y="5494338"/>
            <a:ext cx="8239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73" name="Rectangle 81"/>
          <p:cNvSpPr>
            <a:spLocks noChangeArrowheads="1"/>
          </p:cNvSpPr>
          <p:nvPr/>
        </p:nvSpPr>
        <p:spPr bwMode="auto">
          <a:xfrm>
            <a:off x="5510213" y="4768851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8274" name="Rectangle 82"/>
          <p:cNvSpPr>
            <a:spLocks noChangeArrowheads="1"/>
          </p:cNvSpPr>
          <p:nvPr/>
        </p:nvSpPr>
        <p:spPr bwMode="auto">
          <a:xfrm>
            <a:off x="5510213" y="4924426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8275" name="Rectangle 83"/>
          <p:cNvSpPr>
            <a:spLocks noChangeArrowheads="1"/>
          </p:cNvSpPr>
          <p:nvPr/>
        </p:nvSpPr>
        <p:spPr bwMode="auto">
          <a:xfrm>
            <a:off x="5510214" y="5075239"/>
            <a:ext cx="391134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8276" name="Rectangle 84"/>
          <p:cNvSpPr>
            <a:spLocks noChangeArrowheads="1"/>
          </p:cNvSpPr>
          <p:nvPr/>
        </p:nvSpPr>
        <p:spPr bwMode="auto">
          <a:xfrm>
            <a:off x="5510213" y="5238751"/>
            <a:ext cx="44082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8277" name="Rectangle 85"/>
          <p:cNvSpPr>
            <a:spLocks noChangeArrowheads="1"/>
          </p:cNvSpPr>
          <p:nvPr/>
        </p:nvSpPr>
        <p:spPr bwMode="auto">
          <a:xfrm>
            <a:off x="5522913" y="5391151"/>
            <a:ext cx="48891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AD7</a:t>
            </a:r>
          </a:p>
        </p:txBody>
      </p:sp>
      <p:sp>
        <p:nvSpPr>
          <p:cNvPr id="8278" name="Rectangle 86"/>
          <p:cNvSpPr>
            <a:spLocks noChangeArrowheads="1"/>
          </p:cNvSpPr>
          <p:nvPr/>
        </p:nvSpPr>
        <p:spPr bwMode="auto">
          <a:xfrm>
            <a:off x="5922964" y="5040313"/>
            <a:ext cx="706926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128 x 8</a:t>
            </a:r>
          </a:p>
          <a:p>
            <a:pPr defTabSz="762000">
              <a:lnSpc>
                <a:spcPct val="90000"/>
              </a:lnSpc>
            </a:pPr>
            <a:endParaRPr lang="en-US" altLang="ko-KR" sz="1400">
              <a:solidFill>
                <a:srgbClr val="000000"/>
              </a:solidFill>
            </a:endParaRPr>
          </a:p>
        </p:txBody>
      </p:sp>
      <p:sp>
        <p:nvSpPr>
          <p:cNvPr id="8279" name="Rectangle 87"/>
          <p:cNvSpPr>
            <a:spLocks noChangeArrowheads="1"/>
          </p:cNvSpPr>
          <p:nvPr/>
        </p:nvSpPr>
        <p:spPr bwMode="auto">
          <a:xfrm>
            <a:off x="5922963" y="5167314"/>
            <a:ext cx="71013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RAM  4</a:t>
            </a:r>
          </a:p>
        </p:txBody>
      </p:sp>
      <p:sp>
        <p:nvSpPr>
          <p:cNvPr id="8280" name="Rectangle 88"/>
          <p:cNvSpPr>
            <a:spLocks noChangeArrowheads="1"/>
          </p:cNvSpPr>
          <p:nvPr/>
        </p:nvSpPr>
        <p:spPr bwMode="auto">
          <a:xfrm>
            <a:off x="5532439" y="4787900"/>
            <a:ext cx="1279525" cy="7889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81" name="Arc 89"/>
          <p:cNvSpPr>
            <a:spLocks/>
          </p:cNvSpPr>
          <p:nvPr/>
        </p:nvSpPr>
        <p:spPr bwMode="auto">
          <a:xfrm>
            <a:off x="7046913" y="5143501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82" name="Arc 90"/>
          <p:cNvSpPr>
            <a:spLocks/>
          </p:cNvSpPr>
          <p:nvPr/>
        </p:nvSpPr>
        <p:spPr bwMode="auto">
          <a:xfrm>
            <a:off x="6831013" y="5143501"/>
            <a:ext cx="107950" cy="68263"/>
          </a:xfrm>
          <a:custGeom>
            <a:avLst/>
            <a:gdLst>
              <a:gd name="G0" fmla="+- 0 0 0"/>
              <a:gd name="G1" fmla="+- 8890 0 0"/>
              <a:gd name="G2" fmla="+- 21600 0 0"/>
              <a:gd name="T0" fmla="*/ 19686 w 21600"/>
              <a:gd name="T1" fmla="*/ 0 h 17514"/>
              <a:gd name="T2" fmla="*/ 19804 w 21600"/>
              <a:gd name="T3" fmla="*/ 17514 h 17514"/>
              <a:gd name="T4" fmla="*/ 0 w 21600"/>
              <a:gd name="T5" fmla="*/ 8890 h 17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514" fill="none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</a:path>
              <a:path w="21600" h="17514" stroke="0" extrusionOk="0">
                <a:moveTo>
                  <a:pt x="19685" y="0"/>
                </a:moveTo>
                <a:cubicBezTo>
                  <a:pt x="20947" y="2793"/>
                  <a:pt x="21600" y="5824"/>
                  <a:pt x="21600" y="8890"/>
                </a:cubicBezTo>
                <a:cubicBezTo>
                  <a:pt x="21600" y="11857"/>
                  <a:pt x="20988" y="14793"/>
                  <a:pt x="19803" y="17513"/>
                </a:cubicBezTo>
                <a:lnTo>
                  <a:pt x="0" y="889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83" name="Line 91"/>
          <p:cNvSpPr>
            <a:spLocks noChangeShapeType="1"/>
          </p:cNvSpPr>
          <p:nvPr/>
        </p:nvSpPr>
        <p:spPr bwMode="auto">
          <a:xfrm>
            <a:off x="6940550" y="5176838"/>
            <a:ext cx="1095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84" name="Line 92"/>
          <p:cNvSpPr>
            <a:spLocks noChangeShapeType="1"/>
          </p:cNvSpPr>
          <p:nvPr/>
        </p:nvSpPr>
        <p:spPr bwMode="auto">
          <a:xfrm>
            <a:off x="5600701" y="4964113"/>
            <a:ext cx="238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88" name="Line 96"/>
          <p:cNvSpPr>
            <a:spLocks noChangeShapeType="1"/>
          </p:cNvSpPr>
          <p:nvPr/>
        </p:nvSpPr>
        <p:spPr bwMode="auto">
          <a:xfrm>
            <a:off x="4621213" y="1341438"/>
            <a:ext cx="0" cy="47625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89" name="Rectangle 97"/>
          <p:cNvSpPr>
            <a:spLocks noChangeArrowheads="1"/>
          </p:cNvSpPr>
          <p:nvPr/>
        </p:nvSpPr>
        <p:spPr bwMode="auto">
          <a:xfrm>
            <a:off x="3562351" y="1736726"/>
            <a:ext cx="79842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Decoder</a:t>
            </a:r>
          </a:p>
        </p:txBody>
      </p:sp>
      <p:sp>
        <p:nvSpPr>
          <p:cNvPr id="8290" name="Rectangle 98"/>
          <p:cNvSpPr>
            <a:spLocks noChangeArrowheads="1"/>
          </p:cNvSpPr>
          <p:nvPr/>
        </p:nvSpPr>
        <p:spPr bwMode="auto">
          <a:xfrm>
            <a:off x="3476626" y="1871664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291" name="Rectangle 99"/>
          <p:cNvSpPr>
            <a:spLocks noChangeArrowheads="1"/>
          </p:cNvSpPr>
          <p:nvPr/>
        </p:nvSpPr>
        <p:spPr bwMode="auto">
          <a:xfrm>
            <a:off x="3683001" y="1871664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292" name="Rectangle 100"/>
          <p:cNvSpPr>
            <a:spLocks noChangeArrowheads="1"/>
          </p:cNvSpPr>
          <p:nvPr/>
        </p:nvSpPr>
        <p:spPr bwMode="auto">
          <a:xfrm>
            <a:off x="3878264" y="1871664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293" name="Rectangle 101"/>
          <p:cNvSpPr>
            <a:spLocks noChangeArrowheads="1"/>
          </p:cNvSpPr>
          <p:nvPr/>
        </p:nvSpPr>
        <p:spPr bwMode="auto">
          <a:xfrm>
            <a:off x="4075114" y="1871664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294" name="Rectangle 102"/>
          <p:cNvSpPr>
            <a:spLocks noChangeArrowheads="1"/>
          </p:cNvSpPr>
          <p:nvPr/>
        </p:nvSpPr>
        <p:spPr bwMode="auto">
          <a:xfrm>
            <a:off x="3459164" y="1773238"/>
            <a:ext cx="877887" cy="28416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95" name="Line 103"/>
          <p:cNvSpPr>
            <a:spLocks noChangeShapeType="1"/>
          </p:cNvSpPr>
          <p:nvPr/>
        </p:nvSpPr>
        <p:spPr bwMode="auto">
          <a:xfrm>
            <a:off x="4230688" y="2055813"/>
            <a:ext cx="0" cy="873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97" name="Line 105"/>
          <p:cNvSpPr>
            <a:spLocks noChangeShapeType="1"/>
          </p:cNvSpPr>
          <p:nvPr/>
        </p:nvSpPr>
        <p:spPr bwMode="auto">
          <a:xfrm>
            <a:off x="3836988" y="2065338"/>
            <a:ext cx="4762" cy="1905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299" name="Line 107"/>
          <p:cNvSpPr>
            <a:spLocks noChangeShapeType="1"/>
          </p:cNvSpPr>
          <p:nvPr/>
        </p:nvSpPr>
        <p:spPr bwMode="auto">
          <a:xfrm flipV="1">
            <a:off x="3773488" y="1347788"/>
            <a:ext cx="0" cy="4254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01" name="Line 109"/>
          <p:cNvSpPr>
            <a:spLocks noChangeShapeType="1"/>
          </p:cNvSpPr>
          <p:nvPr/>
        </p:nvSpPr>
        <p:spPr bwMode="auto">
          <a:xfrm flipV="1">
            <a:off x="7154863" y="1357314"/>
            <a:ext cx="0" cy="47529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02" name="Rectangle 110"/>
          <p:cNvSpPr>
            <a:spLocks noChangeArrowheads="1"/>
          </p:cNvSpPr>
          <p:nvPr/>
        </p:nvSpPr>
        <p:spPr bwMode="auto">
          <a:xfrm>
            <a:off x="2869816" y="829471"/>
            <a:ext cx="4977780" cy="55086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03" name="Rectangle 111"/>
          <p:cNvSpPr>
            <a:spLocks noChangeArrowheads="1"/>
          </p:cNvSpPr>
          <p:nvPr/>
        </p:nvSpPr>
        <p:spPr bwMode="auto">
          <a:xfrm>
            <a:off x="5102225" y="1150939"/>
            <a:ext cx="44082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WR</a:t>
            </a:r>
          </a:p>
        </p:txBody>
      </p:sp>
      <p:sp>
        <p:nvSpPr>
          <p:cNvPr id="8304" name="Rectangle 112"/>
          <p:cNvSpPr>
            <a:spLocks noChangeArrowheads="1"/>
          </p:cNvSpPr>
          <p:nvPr/>
        </p:nvSpPr>
        <p:spPr bwMode="auto">
          <a:xfrm>
            <a:off x="4829176" y="1150939"/>
            <a:ext cx="391134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RD</a:t>
            </a:r>
          </a:p>
        </p:txBody>
      </p:sp>
      <p:sp>
        <p:nvSpPr>
          <p:cNvPr id="8305" name="Rectangle 113"/>
          <p:cNvSpPr>
            <a:spLocks noChangeArrowheads="1"/>
          </p:cNvSpPr>
          <p:nvPr/>
        </p:nvSpPr>
        <p:spPr bwMode="auto">
          <a:xfrm>
            <a:off x="3640139" y="1150939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8306" name="Rectangle 114"/>
          <p:cNvSpPr>
            <a:spLocks noChangeArrowheads="1"/>
          </p:cNvSpPr>
          <p:nvPr/>
        </p:nvSpPr>
        <p:spPr bwMode="auto">
          <a:xfrm>
            <a:off x="3902076" y="1150939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8307" name="Rectangle 115"/>
          <p:cNvSpPr>
            <a:spLocks noChangeArrowheads="1"/>
          </p:cNvSpPr>
          <p:nvPr/>
        </p:nvSpPr>
        <p:spPr bwMode="auto">
          <a:xfrm>
            <a:off x="4418013" y="1150939"/>
            <a:ext cx="41998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7-1</a:t>
            </a:r>
          </a:p>
        </p:txBody>
      </p:sp>
      <p:sp>
        <p:nvSpPr>
          <p:cNvPr id="8308" name="Freeform 116"/>
          <p:cNvSpPr>
            <a:spLocks/>
          </p:cNvSpPr>
          <p:nvPr/>
        </p:nvSpPr>
        <p:spPr bwMode="auto">
          <a:xfrm>
            <a:off x="3446463" y="1357313"/>
            <a:ext cx="1365250" cy="101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9"/>
              </a:cxn>
              <a:cxn ang="0">
                <a:pos x="857" y="79"/>
              </a:cxn>
            </a:cxnLst>
            <a:rect l="0" t="0" r="r" b="b"/>
            <a:pathLst>
              <a:path w="858" h="80">
                <a:moveTo>
                  <a:pt x="0" y="0"/>
                </a:moveTo>
                <a:lnTo>
                  <a:pt x="0" y="79"/>
                </a:lnTo>
                <a:lnTo>
                  <a:pt x="857" y="79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8309" name="Rectangle 117"/>
          <p:cNvSpPr>
            <a:spLocks noChangeArrowheads="1"/>
          </p:cNvSpPr>
          <p:nvPr/>
        </p:nvSpPr>
        <p:spPr bwMode="auto">
          <a:xfrm>
            <a:off x="3316288" y="1150939"/>
            <a:ext cx="365486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8310" name="Rectangle 118"/>
          <p:cNvSpPr>
            <a:spLocks noChangeArrowheads="1"/>
          </p:cNvSpPr>
          <p:nvPr/>
        </p:nvSpPr>
        <p:spPr bwMode="auto">
          <a:xfrm>
            <a:off x="2860675" y="1150939"/>
            <a:ext cx="602730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dirty="0">
                <a:solidFill>
                  <a:srgbClr val="000000"/>
                </a:solidFill>
              </a:rPr>
              <a:t>16-11</a:t>
            </a:r>
          </a:p>
        </p:txBody>
      </p:sp>
      <p:sp>
        <p:nvSpPr>
          <p:cNvPr id="8311" name="Rectangle 119"/>
          <p:cNvSpPr>
            <a:spLocks noChangeArrowheads="1"/>
          </p:cNvSpPr>
          <p:nvPr/>
        </p:nvSpPr>
        <p:spPr bwMode="auto">
          <a:xfrm>
            <a:off x="2973284" y="950914"/>
            <a:ext cx="106683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dirty="0">
                <a:solidFill>
                  <a:srgbClr val="000000"/>
                </a:solidFill>
              </a:rPr>
              <a:t>Address bus</a:t>
            </a:r>
          </a:p>
        </p:txBody>
      </p:sp>
      <p:sp>
        <p:nvSpPr>
          <p:cNvPr id="8312" name="Rectangle 120"/>
          <p:cNvSpPr>
            <a:spLocks noChangeArrowheads="1"/>
          </p:cNvSpPr>
          <p:nvPr/>
        </p:nvSpPr>
        <p:spPr bwMode="auto">
          <a:xfrm>
            <a:off x="6756400" y="1150939"/>
            <a:ext cx="823303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dirty="0">
                <a:solidFill>
                  <a:srgbClr val="000000"/>
                </a:solidFill>
              </a:rPr>
              <a:t>Data bus</a:t>
            </a:r>
          </a:p>
        </p:txBody>
      </p:sp>
      <p:sp>
        <p:nvSpPr>
          <p:cNvPr id="8313" name="Rectangle 121"/>
          <p:cNvSpPr>
            <a:spLocks noChangeArrowheads="1"/>
          </p:cNvSpPr>
          <p:nvPr/>
        </p:nvSpPr>
        <p:spPr bwMode="auto">
          <a:xfrm>
            <a:off x="4865688" y="885826"/>
            <a:ext cx="487314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CPU</a:t>
            </a:r>
          </a:p>
        </p:txBody>
      </p:sp>
      <p:sp>
        <p:nvSpPr>
          <p:cNvPr id="8314" name="Line 122"/>
          <p:cNvSpPr>
            <a:spLocks noChangeShapeType="1"/>
          </p:cNvSpPr>
          <p:nvPr/>
        </p:nvSpPr>
        <p:spPr bwMode="auto">
          <a:xfrm flipH="1">
            <a:off x="3052764" y="1562100"/>
            <a:ext cx="7254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15" name="Freeform 123"/>
          <p:cNvSpPr>
            <a:spLocks/>
          </p:cNvSpPr>
          <p:nvPr/>
        </p:nvSpPr>
        <p:spPr bwMode="auto">
          <a:xfrm>
            <a:off x="3319464" y="1665288"/>
            <a:ext cx="712787" cy="4591050"/>
          </a:xfrm>
          <a:custGeom>
            <a:avLst/>
            <a:gdLst/>
            <a:ahLst/>
            <a:cxnLst>
              <a:cxn ang="0">
                <a:pos x="446" y="0"/>
              </a:cxn>
              <a:cxn ang="0">
                <a:pos x="0" y="0"/>
              </a:cxn>
              <a:cxn ang="0">
                <a:pos x="0" y="3672"/>
              </a:cxn>
            </a:cxnLst>
            <a:rect l="0" t="0" r="r" b="b"/>
            <a:pathLst>
              <a:path w="447" h="3673">
                <a:moveTo>
                  <a:pt x="446" y="0"/>
                </a:moveTo>
                <a:lnTo>
                  <a:pt x="0" y="0"/>
                </a:lnTo>
                <a:lnTo>
                  <a:pt x="0" y="3672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8317" name="Arc 125"/>
          <p:cNvSpPr>
            <a:spLocks/>
          </p:cNvSpPr>
          <p:nvPr/>
        </p:nvSpPr>
        <p:spPr bwMode="auto">
          <a:xfrm>
            <a:off x="5413375" y="2247901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18" name="Line 126"/>
          <p:cNvSpPr>
            <a:spLocks noChangeShapeType="1"/>
          </p:cNvSpPr>
          <p:nvPr/>
        </p:nvSpPr>
        <p:spPr bwMode="auto">
          <a:xfrm flipH="1">
            <a:off x="4797425" y="2279650"/>
            <a:ext cx="6429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19" name="Arc 127"/>
          <p:cNvSpPr>
            <a:spLocks/>
          </p:cNvSpPr>
          <p:nvPr/>
        </p:nvSpPr>
        <p:spPr bwMode="auto">
          <a:xfrm>
            <a:off x="5422900" y="5922964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0" name="Line 128"/>
          <p:cNvSpPr>
            <a:spLocks noChangeShapeType="1"/>
          </p:cNvSpPr>
          <p:nvPr/>
        </p:nvSpPr>
        <p:spPr bwMode="auto">
          <a:xfrm>
            <a:off x="5226050" y="5953125"/>
            <a:ext cx="203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1" name="Arc 129"/>
          <p:cNvSpPr>
            <a:spLocks/>
          </p:cNvSpPr>
          <p:nvPr/>
        </p:nvSpPr>
        <p:spPr bwMode="auto">
          <a:xfrm>
            <a:off x="5413375" y="6075363"/>
            <a:ext cx="107950" cy="68262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2" name="Line 130"/>
          <p:cNvSpPr>
            <a:spLocks noChangeShapeType="1"/>
          </p:cNvSpPr>
          <p:nvPr/>
        </p:nvSpPr>
        <p:spPr bwMode="auto">
          <a:xfrm>
            <a:off x="4627563" y="6105525"/>
            <a:ext cx="7858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3" name="Arc 131"/>
          <p:cNvSpPr>
            <a:spLocks/>
          </p:cNvSpPr>
          <p:nvPr/>
        </p:nvSpPr>
        <p:spPr bwMode="auto">
          <a:xfrm>
            <a:off x="5413375" y="6229351"/>
            <a:ext cx="107950" cy="68263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4" name="Line 132"/>
          <p:cNvSpPr>
            <a:spLocks noChangeShapeType="1"/>
          </p:cNvSpPr>
          <p:nvPr/>
        </p:nvSpPr>
        <p:spPr bwMode="auto">
          <a:xfrm>
            <a:off x="3332163" y="6259513"/>
            <a:ext cx="20812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5" name="Arc 133"/>
          <p:cNvSpPr>
            <a:spLocks/>
          </p:cNvSpPr>
          <p:nvPr/>
        </p:nvSpPr>
        <p:spPr bwMode="auto">
          <a:xfrm>
            <a:off x="5418138" y="6375401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6" name="Line 134"/>
          <p:cNvSpPr>
            <a:spLocks noChangeShapeType="1"/>
          </p:cNvSpPr>
          <p:nvPr/>
        </p:nvSpPr>
        <p:spPr bwMode="auto">
          <a:xfrm>
            <a:off x="3041650" y="6410325"/>
            <a:ext cx="24003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27" name="Rectangle 135"/>
          <p:cNvSpPr>
            <a:spLocks noChangeArrowheads="1"/>
          </p:cNvSpPr>
          <p:nvPr/>
        </p:nvSpPr>
        <p:spPr bwMode="auto">
          <a:xfrm>
            <a:off x="5510213" y="5686426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CS1</a:t>
            </a:r>
          </a:p>
        </p:txBody>
      </p:sp>
      <p:sp>
        <p:nvSpPr>
          <p:cNvPr id="8328" name="Rectangle 136"/>
          <p:cNvSpPr>
            <a:spLocks noChangeArrowheads="1"/>
          </p:cNvSpPr>
          <p:nvPr/>
        </p:nvSpPr>
        <p:spPr bwMode="auto">
          <a:xfrm>
            <a:off x="5510213" y="5840414"/>
            <a:ext cx="45204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CS2</a:t>
            </a:r>
          </a:p>
        </p:txBody>
      </p:sp>
      <p:sp>
        <p:nvSpPr>
          <p:cNvPr id="8329" name="Rectangle 137"/>
          <p:cNvSpPr>
            <a:spLocks noChangeArrowheads="1"/>
          </p:cNvSpPr>
          <p:nvPr/>
        </p:nvSpPr>
        <p:spPr bwMode="auto">
          <a:xfrm>
            <a:off x="5908676" y="5959475"/>
            <a:ext cx="706926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512 x 8</a:t>
            </a:r>
          </a:p>
          <a:p>
            <a:pPr defTabSz="762000">
              <a:lnSpc>
                <a:spcPct val="90000"/>
              </a:lnSpc>
            </a:pPr>
            <a:endParaRPr lang="en-US" altLang="ko-KR" sz="1400">
              <a:solidFill>
                <a:srgbClr val="000000"/>
              </a:solidFill>
            </a:endParaRPr>
          </a:p>
        </p:txBody>
      </p:sp>
      <p:sp>
        <p:nvSpPr>
          <p:cNvPr id="8330" name="Rectangle 138"/>
          <p:cNvSpPr>
            <a:spLocks noChangeArrowheads="1"/>
          </p:cNvSpPr>
          <p:nvPr/>
        </p:nvSpPr>
        <p:spPr bwMode="auto">
          <a:xfrm>
            <a:off x="5992814" y="6086476"/>
            <a:ext cx="551306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ROM</a:t>
            </a:r>
          </a:p>
        </p:txBody>
      </p:sp>
      <p:sp>
        <p:nvSpPr>
          <p:cNvPr id="8331" name="Rectangle 139"/>
          <p:cNvSpPr>
            <a:spLocks noChangeArrowheads="1"/>
          </p:cNvSpPr>
          <p:nvPr/>
        </p:nvSpPr>
        <p:spPr bwMode="auto">
          <a:xfrm>
            <a:off x="5532439" y="5705476"/>
            <a:ext cx="1279525" cy="7905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2" name="Arc 140"/>
          <p:cNvSpPr>
            <a:spLocks/>
          </p:cNvSpPr>
          <p:nvPr/>
        </p:nvSpPr>
        <p:spPr bwMode="auto">
          <a:xfrm>
            <a:off x="7046913" y="6064251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3" name="Line 141"/>
          <p:cNvSpPr>
            <a:spLocks noChangeShapeType="1"/>
          </p:cNvSpPr>
          <p:nvPr/>
        </p:nvSpPr>
        <p:spPr bwMode="auto">
          <a:xfrm>
            <a:off x="6819900" y="6094413"/>
            <a:ext cx="23018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4" name="Line 142"/>
          <p:cNvSpPr>
            <a:spLocks noChangeShapeType="1"/>
          </p:cNvSpPr>
          <p:nvPr/>
        </p:nvSpPr>
        <p:spPr bwMode="auto">
          <a:xfrm>
            <a:off x="5629276" y="5880100"/>
            <a:ext cx="2381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6" name="Arc 144"/>
          <p:cNvSpPr>
            <a:spLocks/>
          </p:cNvSpPr>
          <p:nvPr/>
        </p:nvSpPr>
        <p:spPr bwMode="auto">
          <a:xfrm>
            <a:off x="5418138" y="5762626"/>
            <a:ext cx="107950" cy="66675"/>
          </a:xfrm>
          <a:custGeom>
            <a:avLst/>
            <a:gdLst>
              <a:gd name="G0" fmla="+- 21600 0 0"/>
              <a:gd name="G1" fmla="+- 8773 0 0"/>
              <a:gd name="G2" fmla="+- 21600 0 0"/>
              <a:gd name="T0" fmla="*/ 1746 w 21600"/>
              <a:gd name="T1" fmla="*/ 17282 h 17282"/>
              <a:gd name="T2" fmla="*/ 1862 w 21600"/>
              <a:gd name="T3" fmla="*/ 0 h 17282"/>
              <a:gd name="T4" fmla="*/ 21600 w 21600"/>
              <a:gd name="T5" fmla="*/ 8773 h 17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82" fill="none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</a:path>
              <a:path w="21600" h="17282" stroke="0" extrusionOk="0">
                <a:moveTo>
                  <a:pt x="1746" y="17281"/>
                </a:moveTo>
                <a:cubicBezTo>
                  <a:pt x="594" y="14593"/>
                  <a:pt x="0" y="11698"/>
                  <a:pt x="0" y="8773"/>
                </a:cubicBezTo>
                <a:cubicBezTo>
                  <a:pt x="-1" y="5750"/>
                  <a:pt x="634" y="2761"/>
                  <a:pt x="1861" y="-1"/>
                </a:cubicBezTo>
                <a:lnTo>
                  <a:pt x="21600" y="8773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7" name="Line 145"/>
          <p:cNvSpPr>
            <a:spLocks noChangeShapeType="1"/>
          </p:cNvSpPr>
          <p:nvPr/>
        </p:nvSpPr>
        <p:spPr bwMode="auto">
          <a:xfrm>
            <a:off x="5002213" y="5800725"/>
            <a:ext cx="4445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8" name="Line 146"/>
          <p:cNvSpPr>
            <a:spLocks noChangeShapeType="1"/>
          </p:cNvSpPr>
          <p:nvPr/>
        </p:nvSpPr>
        <p:spPr bwMode="auto">
          <a:xfrm>
            <a:off x="4822826" y="5953125"/>
            <a:ext cx="984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39" name="Rectangle 147"/>
          <p:cNvSpPr>
            <a:spLocks noChangeArrowheads="1"/>
          </p:cNvSpPr>
          <p:nvPr/>
        </p:nvSpPr>
        <p:spPr bwMode="auto">
          <a:xfrm>
            <a:off x="5570538" y="6151564"/>
            <a:ext cx="488917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AD9</a:t>
            </a:r>
          </a:p>
        </p:txBody>
      </p:sp>
      <p:sp>
        <p:nvSpPr>
          <p:cNvPr id="8340" name="Line 148"/>
          <p:cNvSpPr>
            <a:spLocks noChangeShapeType="1"/>
          </p:cNvSpPr>
          <p:nvPr/>
        </p:nvSpPr>
        <p:spPr bwMode="auto">
          <a:xfrm flipH="1">
            <a:off x="4918075" y="5843589"/>
            <a:ext cx="0" cy="2063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41" name="Freeform 149"/>
          <p:cNvSpPr>
            <a:spLocks/>
          </p:cNvSpPr>
          <p:nvPr/>
        </p:nvSpPr>
        <p:spPr bwMode="auto">
          <a:xfrm>
            <a:off x="4935538" y="5849939"/>
            <a:ext cx="220662" cy="1984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7" y="79"/>
              </a:cxn>
              <a:cxn ang="0">
                <a:pos x="0" y="158"/>
              </a:cxn>
            </a:cxnLst>
            <a:rect l="0" t="0" r="r" b="b"/>
            <a:pathLst>
              <a:path w="138" h="159">
                <a:moveTo>
                  <a:pt x="0" y="0"/>
                </a:moveTo>
                <a:lnTo>
                  <a:pt x="137" y="79"/>
                </a:lnTo>
                <a:lnTo>
                  <a:pt x="0" y="158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8344" name="Rectangle 152"/>
          <p:cNvSpPr>
            <a:spLocks noChangeArrowheads="1"/>
          </p:cNvSpPr>
          <p:nvPr/>
        </p:nvSpPr>
        <p:spPr bwMode="auto">
          <a:xfrm>
            <a:off x="5064125" y="5929314"/>
            <a:ext cx="460063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1- 7</a:t>
            </a:r>
          </a:p>
        </p:txBody>
      </p:sp>
      <p:sp>
        <p:nvSpPr>
          <p:cNvPr id="8345" name="Rectangle 153"/>
          <p:cNvSpPr>
            <a:spLocks noChangeArrowheads="1"/>
          </p:cNvSpPr>
          <p:nvPr/>
        </p:nvSpPr>
        <p:spPr bwMode="auto">
          <a:xfrm>
            <a:off x="5100639" y="6230939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8346" name="Rectangle 154"/>
          <p:cNvSpPr>
            <a:spLocks noChangeArrowheads="1"/>
          </p:cNvSpPr>
          <p:nvPr/>
        </p:nvSpPr>
        <p:spPr bwMode="auto">
          <a:xfrm>
            <a:off x="5094289" y="6075364"/>
            <a:ext cx="274115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8347" name="Line 155"/>
          <p:cNvSpPr>
            <a:spLocks noChangeShapeType="1"/>
          </p:cNvSpPr>
          <p:nvPr/>
        </p:nvSpPr>
        <p:spPr bwMode="auto">
          <a:xfrm flipH="1">
            <a:off x="4811713" y="1468438"/>
            <a:ext cx="4762" cy="44878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66" name="Oval 174"/>
          <p:cNvSpPr>
            <a:spLocks noChangeArrowheads="1"/>
          </p:cNvSpPr>
          <p:nvPr/>
        </p:nvSpPr>
        <p:spPr bwMode="auto">
          <a:xfrm>
            <a:off x="3732213" y="1525589"/>
            <a:ext cx="74612" cy="587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67" name="Oval 175"/>
          <p:cNvSpPr>
            <a:spLocks noChangeArrowheads="1"/>
          </p:cNvSpPr>
          <p:nvPr/>
        </p:nvSpPr>
        <p:spPr bwMode="auto">
          <a:xfrm>
            <a:off x="3994151" y="1633539"/>
            <a:ext cx="74613" cy="603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68" name="Oval 176"/>
          <p:cNvSpPr>
            <a:spLocks noChangeArrowheads="1"/>
          </p:cNvSpPr>
          <p:nvPr/>
        </p:nvSpPr>
        <p:spPr bwMode="auto">
          <a:xfrm>
            <a:off x="4772026" y="2246313"/>
            <a:ext cx="74613" cy="571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69" name="Oval 177"/>
          <p:cNvSpPr>
            <a:spLocks noChangeArrowheads="1"/>
          </p:cNvSpPr>
          <p:nvPr/>
        </p:nvSpPr>
        <p:spPr bwMode="auto">
          <a:xfrm>
            <a:off x="4967288" y="2403475"/>
            <a:ext cx="74612" cy="587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0" name="Oval 178"/>
          <p:cNvSpPr>
            <a:spLocks noChangeArrowheads="1"/>
          </p:cNvSpPr>
          <p:nvPr/>
        </p:nvSpPr>
        <p:spPr bwMode="auto">
          <a:xfrm>
            <a:off x="5153026" y="2552701"/>
            <a:ext cx="74613" cy="603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1" name="Oval 179"/>
          <p:cNvSpPr>
            <a:spLocks noChangeArrowheads="1"/>
          </p:cNvSpPr>
          <p:nvPr/>
        </p:nvSpPr>
        <p:spPr bwMode="auto">
          <a:xfrm>
            <a:off x="4584700" y="2706689"/>
            <a:ext cx="76200" cy="587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3" name="Line 181"/>
          <p:cNvSpPr>
            <a:spLocks noChangeShapeType="1"/>
          </p:cNvSpPr>
          <p:nvPr/>
        </p:nvSpPr>
        <p:spPr bwMode="auto">
          <a:xfrm>
            <a:off x="4019551" y="2073276"/>
            <a:ext cx="3175" cy="9826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4" name="Line 182"/>
          <p:cNvSpPr>
            <a:spLocks noChangeShapeType="1"/>
          </p:cNvSpPr>
          <p:nvPr/>
        </p:nvSpPr>
        <p:spPr bwMode="auto">
          <a:xfrm>
            <a:off x="3589338" y="2073276"/>
            <a:ext cx="4762" cy="28114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5" name="Line 183"/>
          <p:cNvSpPr>
            <a:spLocks noChangeShapeType="1"/>
          </p:cNvSpPr>
          <p:nvPr/>
        </p:nvSpPr>
        <p:spPr bwMode="auto">
          <a:xfrm>
            <a:off x="3044825" y="1562100"/>
            <a:ext cx="7938" cy="48529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6" name="Line 184"/>
          <p:cNvSpPr>
            <a:spLocks noChangeShapeType="1"/>
          </p:cNvSpPr>
          <p:nvPr/>
        </p:nvSpPr>
        <p:spPr bwMode="auto">
          <a:xfrm>
            <a:off x="4994275" y="1354139"/>
            <a:ext cx="0" cy="44545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7" name="Line 185"/>
          <p:cNvSpPr>
            <a:spLocks noChangeShapeType="1"/>
          </p:cNvSpPr>
          <p:nvPr/>
        </p:nvSpPr>
        <p:spPr bwMode="auto">
          <a:xfrm>
            <a:off x="5180014" y="1386682"/>
            <a:ext cx="17461" cy="396160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8" name="Oval 186"/>
          <p:cNvSpPr>
            <a:spLocks noChangeArrowheads="1"/>
          </p:cNvSpPr>
          <p:nvPr/>
        </p:nvSpPr>
        <p:spPr bwMode="auto">
          <a:xfrm>
            <a:off x="4776788" y="3168650"/>
            <a:ext cx="74612" cy="571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79" name="Oval 187"/>
          <p:cNvSpPr>
            <a:spLocks noChangeArrowheads="1"/>
          </p:cNvSpPr>
          <p:nvPr/>
        </p:nvSpPr>
        <p:spPr bwMode="auto">
          <a:xfrm>
            <a:off x="4962526" y="3317875"/>
            <a:ext cx="74613" cy="587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0" name="Oval 188"/>
          <p:cNvSpPr>
            <a:spLocks noChangeArrowheads="1"/>
          </p:cNvSpPr>
          <p:nvPr/>
        </p:nvSpPr>
        <p:spPr bwMode="auto">
          <a:xfrm>
            <a:off x="5153026" y="3471864"/>
            <a:ext cx="74613" cy="587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2" name="Oval 190"/>
          <p:cNvSpPr>
            <a:spLocks noChangeArrowheads="1"/>
          </p:cNvSpPr>
          <p:nvPr/>
        </p:nvSpPr>
        <p:spPr bwMode="auto">
          <a:xfrm>
            <a:off x="4584700" y="3629025"/>
            <a:ext cx="76200" cy="5873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3" name="Oval 191"/>
          <p:cNvSpPr>
            <a:spLocks noChangeArrowheads="1"/>
          </p:cNvSpPr>
          <p:nvPr/>
        </p:nvSpPr>
        <p:spPr bwMode="auto">
          <a:xfrm>
            <a:off x="4772026" y="4087813"/>
            <a:ext cx="74613" cy="571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4" name="Oval 192"/>
          <p:cNvSpPr>
            <a:spLocks noChangeArrowheads="1"/>
          </p:cNvSpPr>
          <p:nvPr/>
        </p:nvSpPr>
        <p:spPr bwMode="auto">
          <a:xfrm>
            <a:off x="4957763" y="4240214"/>
            <a:ext cx="74612" cy="587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5" name="Oval 193"/>
          <p:cNvSpPr>
            <a:spLocks noChangeArrowheads="1"/>
          </p:cNvSpPr>
          <p:nvPr/>
        </p:nvSpPr>
        <p:spPr bwMode="auto">
          <a:xfrm>
            <a:off x="5159376" y="4394201"/>
            <a:ext cx="74613" cy="603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6" name="Oval 194"/>
          <p:cNvSpPr>
            <a:spLocks noChangeArrowheads="1"/>
          </p:cNvSpPr>
          <p:nvPr/>
        </p:nvSpPr>
        <p:spPr bwMode="auto">
          <a:xfrm>
            <a:off x="4584700" y="4545014"/>
            <a:ext cx="76200" cy="587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7" name="Oval 195"/>
          <p:cNvSpPr>
            <a:spLocks noChangeArrowheads="1"/>
          </p:cNvSpPr>
          <p:nvPr/>
        </p:nvSpPr>
        <p:spPr bwMode="auto">
          <a:xfrm>
            <a:off x="4772026" y="4997451"/>
            <a:ext cx="74613" cy="6032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8" name="Oval 196"/>
          <p:cNvSpPr>
            <a:spLocks noChangeArrowheads="1"/>
          </p:cNvSpPr>
          <p:nvPr/>
        </p:nvSpPr>
        <p:spPr bwMode="auto">
          <a:xfrm>
            <a:off x="4962526" y="5156200"/>
            <a:ext cx="74613" cy="571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89" name="Oval 197"/>
          <p:cNvSpPr>
            <a:spLocks noChangeArrowheads="1"/>
          </p:cNvSpPr>
          <p:nvPr/>
        </p:nvSpPr>
        <p:spPr bwMode="auto">
          <a:xfrm>
            <a:off x="4581526" y="5459414"/>
            <a:ext cx="74613" cy="587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90" name="Oval 198"/>
          <p:cNvSpPr>
            <a:spLocks noChangeArrowheads="1"/>
          </p:cNvSpPr>
          <p:nvPr/>
        </p:nvSpPr>
        <p:spPr bwMode="auto">
          <a:xfrm>
            <a:off x="5153026" y="5919789"/>
            <a:ext cx="74613" cy="603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91" name="Line 199"/>
          <p:cNvSpPr>
            <a:spLocks noChangeShapeType="1"/>
          </p:cNvSpPr>
          <p:nvPr/>
        </p:nvSpPr>
        <p:spPr bwMode="auto">
          <a:xfrm flipV="1">
            <a:off x="4030663" y="1355726"/>
            <a:ext cx="0" cy="4238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8393" name="Rectangle 201"/>
          <p:cNvSpPr>
            <a:spLocks noChangeArrowheads="1"/>
          </p:cNvSpPr>
          <p:nvPr/>
        </p:nvSpPr>
        <p:spPr bwMode="auto">
          <a:xfrm rot="-5400000">
            <a:off x="6446211" y="2278311"/>
            <a:ext cx="52354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8394" name="Rectangle 202"/>
          <p:cNvSpPr>
            <a:spLocks noChangeArrowheads="1"/>
          </p:cNvSpPr>
          <p:nvPr/>
        </p:nvSpPr>
        <p:spPr bwMode="auto">
          <a:xfrm rot="-5400000">
            <a:off x="6436686" y="3202236"/>
            <a:ext cx="52354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8395" name="Rectangle 203"/>
          <p:cNvSpPr>
            <a:spLocks noChangeArrowheads="1"/>
          </p:cNvSpPr>
          <p:nvPr/>
        </p:nvSpPr>
        <p:spPr bwMode="auto">
          <a:xfrm rot="-5400000">
            <a:off x="6446211" y="4116636"/>
            <a:ext cx="52354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8396" name="Rectangle 204"/>
          <p:cNvSpPr>
            <a:spLocks noChangeArrowheads="1"/>
          </p:cNvSpPr>
          <p:nvPr/>
        </p:nvSpPr>
        <p:spPr bwMode="auto">
          <a:xfrm rot="-5400000">
            <a:off x="6427161" y="5050086"/>
            <a:ext cx="52354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8397" name="Rectangle 205"/>
          <p:cNvSpPr>
            <a:spLocks noChangeArrowheads="1"/>
          </p:cNvSpPr>
          <p:nvPr/>
        </p:nvSpPr>
        <p:spPr bwMode="auto">
          <a:xfrm rot="-5400000">
            <a:off x="6427161" y="5964486"/>
            <a:ext cx="523542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>
                <a:solidFill>
                  <a:srgbClr val="000000"/>
                </a:solidFill>
              </a:rPr>
              <a:t>Data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530" y="300176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Making Larger Memories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8293" y="1072016"/>
            <a:ext cx="8908555" cy="3383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Bigger RAMs from smaller RAMs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We can use small RAMs as building blocks for making larger memories.</a:t>
            </a:r>
          </a:p>
          <a:p>
            <a:r>
              <a:rPr lang="en-US" sz="1800" dirty="0"/>
              <a:t>As an example, suppose we have some 64K x 8 RAMs to start with:</a:t>
            </a:r>
          </a:p>
          <a:p>
            <a:pPr lvl="1"/>
            <a:r>
              <a:rPr lang="en-US" sz="1400" dirty="0"/>
              <a:t>64K = 2</a:t>
            </a:r>
            <a:r>
              <a:rPr lang="en-US" sz="1400" baseline="30000" dirty="0"/>
              <a:t>6</a:t>
            </a:r>
            <a:r>
              <a:rPr lang="en-US" sz="1400" dirty="0"/>
              <a:t> x 2</a:t>
            </a:r>
            <a:r>
              <a:rPr lang="en-US" sz="1400" baseline="30000" dirty="0"/>
              <a:t>10</a:t>
            </a:r>
            <a:r>
              <a:rPr lang="en-US" sz="1400" dirty="0"/>
              <a:t> = 2</a:t>
            </a:r>
            <a:r>
              <a:rPr lang="en-US" sz="1400" baseline="30000" dirty="0"/>
              <a:t>16</a:t>
            </a:r>
            <a:r>
              <a:rPr lang="en-US" sz="1400" dirty="0"/>
              <a:t>, so there are 16 address lines.</a:t>
            </a:r>
          </a:p>
          <a:p>
            <a:pPr lvl="1"/>
            <a:r>
              <a:rPr lang="en-US" sz="1400" dirty="0"/>
              <a:t>There are 8 data lines.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876801" y="3276600"/>
            <a:ext cx="2449513" cy="1428750"/>
            <a:chOff x="2112" y="1872"/>
            <a:chExt cx="1543" cy="900"/>
          </a:xfrm>
        </p:grpSpPr>
        <p:graphicFrame>
          <p:nvGraphicFramePr>
            <p:cNvPr id="458752" name="Object 1024"/>
            <p:cNvGraphicFramePr>
              <a:graphicFrameLocks noChangeAspect="1"/>
            </p:cNvGraphicFramePr>
            <p:nvPr/>
          </p:nvGraphicFramePr>
          <p:xfrm>
            <a:off x="2137" y="1872"/>
            <a:ext cx="1518" cy="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2409524" imgH="1428949" progId="PBrush">
                    <p:embed/>
                  </p:oleObj>
                </mc:Choice>
                <mc:Fallback>
                  <p:oleObj name="Bitmap Image" r:id="rId2" imgW="2409524" imgH="1428949" progId="PBrush">
                    <p:embed/>
                    <p:pic>
                      <p:nvPicPr>
                        <p:cNvPr id="458752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7" y="1872"/>
                          <a:ext cx="1518" cy="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accent2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2134" name="Line 6"/>
            <p:cNvSpPr>
              <a:spLocks noChangeShapeType="1"/>
            </p:cNvSpPr>
            <p:nvPr/>
          </p:nvSpPr>
          <p:spPr bwMode="auto">
            <a:xfrm flipH="1">
              <a:off x="2281" y="2160"/>
              <a:ext cx="4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135" name="Line 7"/>
            <p:cNvSpPr>
              <a:spLocks noChangeShapeType="1"/>
            </p:cNvSpPr>
            <p:nvPr/>
          </p:nvSpPr>
          <p:spPr bwMode="auto">
            <a:xfrm flipH="1">
              <a:off x="2281" y="2288"/>
              <a:ext cx="4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136" name="Line 8"/>
            <p:cNvSpPr>
              <a:spLocks noChangeShapeType="1"/>
            </p:cNvSpPr>
            <p:nvPr/>
          </p:nvSpPr>
          <p:spPr bwMode="auto">
            <a:xfrm flipH="1">
              <a:off x="3462" y="2293"/>
              <a:ext cx="4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137" name="Text Box 9"/>
            <p:cNvSpPr txBox="1">
              <a:spLocks noChangeArrowheads="1"/>
            </p:cNvSpPr>
            <p:nvPr/>
          </p:nvSpPr>
          <p:spPr bwMode="auto">
            <a:xfrm>
              <a:off x="3337" y="2185"/>
              <a:ext cx="17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432138" name="Text Box 10"/>
            <p:cNvSpPr txBox="1">
              <a:spLocks noChangeArrowheads="1"/>
            </p:cNvSpPr>
            <p:nvPr/>
          </p:nvSpPr>
          <p:spPr bwMode="auto">
            <a:xfrm>
              <a:off x="2129" y="2216"/>
              <a:ext cx="17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8</a:t>
              </a:r>
            </a:p>
          </p:txBody>
        </p:sp>
        <p:sp>
          <p:nvSpPr>
            <p:cNvPr id="432139" name="Text Box 11"/>
            <p:cNvSpPr txBox="1">
              <a:spLocks noChangeArrowheads="1"/>
            </p:cNvSpPr>
            <p:nvPr/>
          </p:nvSpPr>
          <p:spPr bwMode="auto">
            <a:xfrm>
              <a:off x="2112" y="2064"/>
              <a:ext cx="234" cy="19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16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9776" name="Object 1024"/>
          <p:cNvGraphicFramePr>
            <a:graphicFrameLocks noChangeAspect="1"/>
          </p:cNvGraphicFramePr>
          <p:nvPr/>
        </p:nvGraphicFramePr>
        <p:xfrm>
          <a:off x="6324600" y="914400"/>
          <a:ext cx="3848100" cy="514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47619" imgH="5144218" progId="PBrush">
                  <p:embed/>
                </p:oleObj>
              </mc:Choice>
              <mc:Fallback>
                <p:oleObj name="Bitmap Image" r:id="rId2" imgW="3847619" imgH="5144218" progId="PBrush">
                  <p:embed/>
                  <p:pic>
                    <p:nvPicPr>
                      <p:cNvPr id="45977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914400"/>
                        <a:ext cx="3848100" cy="514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accent2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6493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Making a larger memory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0"/>
            <a:ext cx="4267200" cy="5181600"/>
          </a:xfrm>
        </p:spPr>
        <p:txBody>
          <a:bodyPr/>
          <a:lstStyle/>
          <a:p>
            <a:r>
              <a:rPr lang="en-US" sz="2000" dirty="0"/>
              <a:t>We can put  ??  64K x 8 chips together to make a 256K x 8 memory.</a:t>
            </a:r>
          </a:p>
          <a:p>
            <a:r>
              <a:rPr lang="en-US" sz="2000" dirty="0"/>
              <a:t>For 256K words, we need ?? address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324600" y="914400"/>
            <a:ext cx="3848100" cy="5145088"/>
            <a:chOff x="3024" y="576"/>
            <a:chExt cx="2424" cy="3241"/>
          </a:xfrm>
        </p:grpSpPr>
        <p:graphicFrame>
          <p:nvGraphicFramePr>
            <p:cNvPr id="448515" name="Object 3"/>
            <p:cNvGraphicFramePr>
              <a:graphicFrameLocks noChangeAspect="1"/>
            </p:cNvGraphicFramePr>
            <p:nvPr/>
          </p:nvGraphicFramePr>
          <p:xfrm>
            <a:off x="3024" y="576"/>
            <a:ext cx="2424" cy="3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3847619" imgH="5144218" progId="PBrush">
                    <p:embed/>
                  </p:oleObj>
                </mc:Choice>
                <mc:Fallback>
                  <p:oleObj name="Bitmap Image" r:id="rId2" imgW="3847619" imgH="5144218" progId="PBrush">
                    <p:embed/>
                    <p:pic>
                      <p:nvPicPr>
                        <p:cNvPr id="44851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576"/>
                          <a:ext cx="2424" cy="3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accent2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8516" name="Line 4"/>
            <p:cNvSpPr>
              <a:spLocks noChangeShapeType="1"/>
            </p:cNvSpPr>
            <p:nvPr/>
          </p:nvSpPr>
          <p:spPr bwMode="auto">
            <a:xfrm flipH="1">
              <a:off x="3600" y="1200"/>
              <a:ext cx="48" cy="144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8517" name="Line 5"/>
            <p:cNvSpPr>
              <a:spLocks noChangeShapeType="1"/>
            </p:cNvSpPr>
            <p:nvPr/>
          </p:nvSpPr>
          <p:spPr bwMode="auto">
            <a:xfrm flipV="1">
              <a:off x="5280" y="3552"/>
              <a:ext cx="144" cy="96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8518" name="Line 6"/>
            <p:cNvSpPr>
              <a:spLocks noChangeShapeType="1"/>
            </p:cNvSpPr>
            <p:nvPr/>
          </p:nvSpPr>
          <p:spPr bwMode="auto">
            <a:xfrm flipV="1">
              <a:off x="4416" y="864"/>
              <a:ext cx="144" cy="96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8519" name="Text Box 7"/>
            <p:cNvSpPr txBox="1">
              <a:spLocks noChangeArrowheads="1"/>
            </p:cNvSpPr>
            <p:nvPr/>
          </p:nvSpPr>
          <p:spPr bwMode="auto">
            <a:xfrm>
              <a:off x="4368" y="768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48520" name="Text Box 8"/>
            <p:cNvSpPr txBox="1">
              <a:spLocks noChangeArrowheads="1"/>
            </p:cNvSpPr>
            <p:nvPr/>
          </p:nvSpPr>
          <p:spPr bwMode="auto">
            <a:xfrm>
              <a:off x="5184" y="3456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48521" name="Text Box 9"/>
            <p:cNvSpPr txBox="1">
              <a:spLocks noChangeArrowheads="1"/>
            </p:cNvSpPr>
            <p:nvPr/>
          </p:nvSpPr>
          <p:spPr bwMode="auto">
            <a:xfrm>
              <a:off x="3456" y="1104"/>
              <a:ext cx="218" cy="173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16</a:t>
              </a:r>
            </a:p>
          </p:txBody>
        </p:sp>
      </p:grpSp>
      <p:sp>
        <p:nvSpPr>
          <p:cNvPr id="448522" name="Rectangle 10"/>
          <p:cNvSpPr>
            <a:spLocks noGrp="1" noChangeArrowheads="1"/>
          </p:cNvSpPr>
          <p:nvPr>
            <p:ph type="title"/>
          </p:nvPr>
        </p:nvSpPr>
        <p:spPr>
          <a:xfrm>
            <a:off x="838200" y="212035"/>
            <a:ext cx="10515600" cy="3293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Making a larger memory</a:t>
            </a:r>
          </a:p>
        </p:txBody>
      </p:sp>
      <p:sp>
        <p:nvSpPr>
          <p:cNvPr id="44852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0"/>
            <a:ext cx="4267200" cy="5181600"/>
          </a:xfrm>
        </p:spPr>
        <p:txBody>
          <a:bodyPr/>
          <a:lstStyle/>
          <a:p>
            <a:r>
              <a:rPr lang="en-US" sz="2000" dirty="0"/>
              <a:t>We can put four 64K x 8 chips together to make a 256K x 8 memory.</a:t>
            </a:r>
          </a:p>
          <a:p>
            <a:r>
              <a:rPr lang="en-US" sz="2000" dirty="0"/>
              <a:t>For 256K words, we need 18 address lines.</a:t>
            </a:r>
          </a:p>
          <a:p>
            <a:pPr lvl="1"/>
            <a:r>
              <a:rPr lang="en-US" sz="1600" dirty="0"/>
              <a:t>The two most significant address lines go to the decoder, which selects one of the four 64K x 8 RAM chips.</a:t>
            </a:r>
          </a:p>
          <a:p>
            <a:pPr lvl="1"/>
            <a:r>
              <a:rPr lang="en-US" sz="1600" dirty="0"/>
              <a:t>The other 16 address lines are shared by the 64K x 8 chips.</a:t>
            </a:r>
          </a:p>
          <a:p>
            <a:r>
              <a:rPr lang="en-US" sz="2000" dirty="0"/>
              <a:t>The 64K x 8 chips also share WR and DATA inputs.</a:t>
            </a:r>
          </a:p>
          <a:p>
            <a:r>
              <a:rPr lang="en-US" sz="2000" dirty="0"/>
              <a:t>This assumes the 64K x 8 chips have three-state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667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Analyzing the 256K x 8 RAM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38200"/>
            <a:ext cx="4267200" cy="5181600"/>
          </a:xfrm>
        </p:spPr>
        <p:txBody>
          <a:bodyPr/>
          <a:lstStyle/>
          <a:p>
            <a:r>
              <a:rPr lang="en-US" sz="1800"/>
              <a:t>There are 256K words of memory, spread out among the four smaller 64K x 8 RAM chips.</a:t>
            </a:r>
          </a:p>
          <a:p>
            <a:r>
              <a:rPr lang="en-US" sz="1800"/>
              <a:t>When the two most significant bits of the address are 00, the bottom RAM chip is selected. It holds data for the first 64K addresses.</a:t>
            </a:r>
          </a:p>
          <a:p>
            <a:r>
              <a:rPr lang="en-US" sz="1800"/>
              <a:t>The next chip up is enabled when the address starts with 01. It holds data for the second 64K addresses.</a:t>
            </a:r>
          </a:p>
          <a:p>
            <a:r>
              <a:rPr lang="en-US" sz="1800"/>
              <a:t>The third chip up holds data for the next 64K addresses.</a:t>
            </a:r>
          </a:p>
          <a:p>
            <a:r>
              <a:rPr lang="en-US" sz="1800"/>
              <a:t>The final chip contains the data of the final 64K addresses.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324600" y="914400"/>
            <a:ext cx="3848100" cy="5145088"/>
            <a:chOff x="3024" y="576"/>
            <a:chExt cx="2424" cy="3241"/>
          </a:xfrm>
        </p:grpSpPr>
        <p:graphicFrame>
          <p:nvGraphicFramePr>
            <p:cNvPr id="460800" name="Object 0"/>
            <p:cNvGraphicFramePr>
              <a:graphicFrameLocks noChangeAspect="1"/>
            </p:cNvGraphicFramePr>
            <p:nvPr/>
          </p:nvGraphicFramePr>
          <p:xfrm>
            <a:off x="3024" y="576"/>
            <a:ext cx="2424" cy="3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3847619" imgH="5144218" progId="PBrush">
                    <p:embed/>
                  </p:oleObj>
                </mc:Choice>
                <mc:Fallback>
                  <p:oleObj name="Bitmap Image" r:id="rId2" imgW="3847619" imgH="5144218" progId="PBrush">
                    <p:embed/>
                    <p:pic>
                      <p:nvPicPr>
                        <p:cNvPr id="460800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576"/>
                          <a:ext cx="2424" cy="3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accent2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5510" name="Line 6"/>
            <p:cNvSpPr>
              <a:spLocks noChangeShapeType="1"/>
            </p:cNvSpPr>
            <p:nvPr/>
          </p:nvSpPr>
          <p:spPr bwMode="auto">
            <a:xfrm flipH="1">
              <a:off x="3600" y="1200"/>
              <a:ext cx="48" cy="144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5511" name="Line 7"/>
            <p:cNvSpPr>
              <a:spLocks noChangeShapeType="1"/>
            </p:cNvSpPr>
            <p:nvPr/>
          </p:nvSpPr>
          <p:spPr bwMode="auto">
            <a:xfrm flipV="1">
              <a:off x="5280" y="3552"/>
              <a:ext cx="144" cy="96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5512" name="Line 8"/>
            <p:cNvSpPr>
              <a:spLocks noChangeShapeType="1"/>
            </p:cNvSpPr>
            <p:nvPr/>
          </p:nvSpPr>
          <p:spPr bwMode="auto">
            <a:xfrm flipV="1">
              <a:off x="4416" y="864"/>
              <a:ext cx="144" cy="96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5513" name="Text Box 9"/>
            <p:cNvSpPr txBox="1">
              <a:spLocks noChangeArrowheads="1"/>
            </p:cNvSpPr>
            <p:nvPr/>
          </p:nvSpPr>
          <p:spPr bwMode="auto">
            <a:xfrm>
              <a:off x="4368" y="768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05514" name="Text Box 10"/>
            <p:cNvSpPr txBox="1">
              <a:spLocks noChangeArrowheads="1"/>
            </p:cNvSpPr>
            <p:nvPr/>
          </p:nvSpPr>
          <p:spPr bwMode="auto">
            <a:xfrm>
              <a:off x="5184" y="3456"/>
              <a:ext cx="166" cy="17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8</a:t>
              </a:r>
            </a:p>
          </p:txBody>
        </p:sp>
        <p:sp>
          <p:nvSpPr>
            <p:cNvPr id="405515" name="Text Box 11"/>
            <p:cNvSpPr txBox="1">
              <a:spLocks noChangeArrowheads="1"/>
            </p:cNvSpPr>
            <p:nvPr/>
          </p:nvSpPr>
          <p:spPr bwMode="auto">
            <a:xfrm>
              <a:off x="3456" y="1104"/>
              <a:ext cx="218" cy="173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33"/>
                  </a:solidFill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7493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Address ranges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057400" y="914400"/>
            <a:ext cx="8001000" cy="5145088"/>
            <a:chOff x="288" y="576"/>
            <a:chExt cx="5040" cy="324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88" y="576"/>
              <a:ext cx="2424" cy="3241"/>
              <a:chOff x="624" y="576"/>
              <a:chExt cx="2424" cy="3241"/>
            </a:xfrm>
          </p:grpSpPr>
          <p:graphicFrame>
            <p:nvGraphicFramePr>
              <p:cNvPr id="461824" name="Object 0"/>
              <p:cNvGraphicFramePr>
                <a:graphicFrameLocks noChangeAspect="1"/>
              </p:cNvGraphicFramePr>
              <p:nvPr/>
            </p:nvGraphicFramePr>
            <p:xfrm>
              <a:off x="624" y="576"/>
              <a:ext cx="2424" cy="3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2" imgW="3847619" imgH="5144218" progId="PBrush">
                      <p:embed/>
                    </p:oleObj>
                  </mc:Choice>
                  <mc:Fallback>
                    <p:oleObj name="Bitmap Image" r:id="rId2" imgW="3847619" imgH="5144218" progId="PBrush">
                      <p:embed/>
                      <p:pic>
                        <p:nvPicPr>
                          <p:cNvPr id="461824" name="Object 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4" y="576"/>
                            <a:ext cx="2424" cy="3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chemeClr val="accent2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7253" name="Line 5"/>
              <p:cNvSpPr>
                <a:spLocks noChangeShapeType="1"/>
              </p:cNvSpPr>
              <p:nvPr/>
            </p:nvSpPr>
            <p:spPr bwMode="auto">
              <a:xfrm flipH="1">
                <a:off x="1200" y="1200"/>
                <a:ext cx="48" cy="144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7254" name="Line 6"/>
              <p:cNvSpPr>
                <a:spLocks noChangeShapeType="1"/>
              </p:cNvSpPr>
              <p:nvPr/>
            </p:nvSpPr>
            <p:spPr bwMode="auto">
              <a:xfrm flipV="1">
                <a:off x="2880" y="3408"/>
                <a:ext cx="144" cy="96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7255" name="Line 7"/>
              <p:cNvSpPr>
                <a:spLocks noChangeShapeType="1"/>
              </p:cNvSpPr>
              <p:nvPr/>
            </p:nvSpPr>
            <p:spPr bwMode="auto">
              <a:xfrm flipV="1">
                <a:off x="2016" y="864"/>
                <a:ext cx="144" cy="96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7256" name="Text Box 8"/>
              <p:cNvSpPr txBox="1">
                <a:spLocks noChangeArrowheads="1"/>
              </p:cNvSpPr>
              <p:nvPr/>
            </p:nvSpPr>
            <p:spPr bwMode="auto">
              <a:xfrm>
                <a:off x="1968" y="768"/>
                <a:ext cx="166" cy="174"/>
              </a:xfrm>
              <a:prstGeom prst="rect">
                <a:avLst/>
              </a:prstGeom>
              <a:noFill/>
              <a:ln w="254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rgbClr val="FF0033"/>
                    </a:solidFill>
                  </a:rPr>
                  <a:t>8</a:t>
                </a:r>
              </a:p>
            </p:txBody>
          </p:sp>
          <p:sp>
            <p:nvSpPr>
              <p:cNvPr id="437257" name="Text Box 9"/>
              <p:cNvSpPr txBox="1">
                <a:spLocks noChangeArrowheads="1"/>
              </p:cNvSpPr>
              <p:nvPr/>
            </p:nvSpPr>
            <p:spPr bwMode="auto">
              <a:xfrm>
                <a:off x="2784" y="3312"/>
                <a:ext cx="188" cy="174"/>
              </a:xfrm>
              <a:prstGeom prst="rect">
                <a:avLst/>
              </a:prstGeom>
              <a:noFill/>
              <a:ln w="254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rgbClr val="FF0033"/>
                    </a:solidFill>
                  </a:rPr>
                  <a:t> 8</a:t>
                </a:r>
              </a:p>
            </p:txBody>
          </p:sp>
          <p:sp>
            <p:nvSpPr>
              <p:cNvPr id="437258" name="Text Box 10"/>
              <p:cNvSpPr txBox="1">
                <a:spLocks noChangeArrowheads="1"/>
              </p:cNvSpPr>
              <p:nvPr/>
            </p:nvSpPr>
            <p:spPr bwMode="auto">
              <a:xfrm>
                <a:off x="1056" y="1104"/>
                <a:ext cx="218" cy="173"/>
              </a:xfrm>
              <a:prstGeom prst="rect">
                <a:avLst/>
              </a:prstGeom>
              <a:noFill/>
              <a:ln w="254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200">
                    <a:solidFill>
                      <a:srgbClr val="FF0033"/>
                    </a:solidFill>
                  </a:rPr>
                  <a:t>16</a:t>
                </a:r>
              </a:p>
            </p:txBody>
          </p:sp>
        </p:grpSp>
        <p:sp>
          <p:nvSpPr>
            <p:cNvPr id="437259" name="Text Box 11"/>
            <p:cNvSpPr txBox="1">
              <a:spLocks noChangeArrowheads="1"/>
            </p:cNvSpPr>
            <p:nvPr/>
          </p:nvSpPr>
          <p:spPr bwMode="auto">
            <a:xfrm>
              <a:off x="2736" y="1104"/>
              <a:ext cx="2580" cy="520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Courier New" pitchFamily="49" charset="0"/>
                </a:rPr>
                <a:t>11 1111 1111 1111 1111 (0x3ffff)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to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11 0000 0000 0000 0000 (0x30000)</a:t>
              </a:r>
            </a:p>
          </p:txBody>
        </p:sp>
        <p:sp>
          <p:nvSpPr>
            <p:cNvPr id="437260" name="Text Box 12"/>
            <p:cNvSpPr txBox="1">
              <a:spLocks noChangeArrowheads="1"/>
            </p:cNvSpPr>
            <p:nvPr/>
          </p:nvSpPr>
          <p:spPr bwMode="auto">
            <a:xfrm>
              <a:off x="2736" y="1728"/>
              <a:ext cx="2580" cy="520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Courier New" pitchFamily="49" charset="0"/>
                </a:rPr>
                <a:t>10 1111 1111 1111 1111 (0x2ffff)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to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10 0000 0000 0000 0000 (0x20000)</a:t>
              </a:r>
            </a:p>
          </p:txBody>
        </p:sp>
        <p:sp>
          <p:nvSpPr>
            <p:cNvPr id="437261" name="Text Box 13"/>
            <p:cNvSpPr txBox="1">
              <a:spLocks noChangeArrowheads="1"/>
            </p:cNvSpPr>
            <p:nvPr/>
          </p:nvSpPr>
          <p:spPr bwMode="auto">
            <a:xfrm>
              <a:off x="2736" y="2352"/>
              <a:ext cx="2580" cy="520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Courier New" pitchFamily="49" charset="0"/>
                </a:rPr>
                <a:t>01 1111 1111 1111 1111 (0x1ffff)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to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01 0000 0000 0000 0000 (0x10000)</a:t>
              </a:r>
            </a:p>
          </p:txBody>
        </p:sp>
        <p:sp>
          <p:nvSpPr>
            <p:cNvPr id="437262" name="Text Box 14"/>
            <p:cNvSpPr txBox="1">
              <a:spLocks noChangeArrowheads="1"/>
            </p:cNvSpPr>
            <p:nvPr/>
          </p:nvSpPr>
          <p:spPr bwMode="auto">
            <a:xfrm>
              <a:off x="2736" y="2976"/>
              <a:ext cx="2580" cy="520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Courier New" pitchFamily="49" charset="0"/>
                </a:rPr>
                <a:t>00 1111 1111 1111 1111 (0x0ffff)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to</a:t>
              </a:r>
            </a:p>
            <a:p>
              <a:pPr algn="ctr"/>
              <a:r>
                <a:rPr lang="en-US" sz="1600">
                  <a:latin typeface="Courier New" pitchFamily="49" charset="0"/>
                </a:rPr>
                <a:t>00 0000 0000 0000 0000 (0x00000)</a:t>
              </a:r>
            </a:p>
          </p:txBody>
        </p:sp>
        <p:sp>
          <p:nvSpPr>
            <p:cNvPr id="437263" name="Line 15"/>
            <p:cNvSpPr>
              <a:spLocks noChangeShapeType="1"/>
            </p:cNvSpPr>
            <p:nvPr/>
          </p:nvSpPr>
          <p:spPr bwMode="auto">
            <a:xfrm>
              <a:off x="2688" y="2928"/>
              <a:ext cx="2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7264" name="Line 16"/>
            <p:cNvSpPr>
              <a:spLocks noChangeShapeType="1"/>
            </p:cNvSpPr>
            <p:nvPr/>
          </p:nvSpPr>
          <p:spPr bwMode="auto">
            <a:xfrm>
              <a:off x="2688" y="2304"/>
              <a:ext cx="2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7265" name="Line 17"/>
            <p:cNvSpPr>
              <a:spLocks noChangeShapeType="1"/>
            </p:cNvSpPr>
            <p:nvPr/>
          </p:nvSpPr>
          <p:spPr bwMode="auto">
            <a:xfrm>
              <a:off x="2688" y="1680"/>
              <a:ext cx="2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7266" name="Line 18"/>
            <p:cNvSpPr>
              <a:spLocks noChangeShapeType="1"/>
            </p:cNvSpPr>
            <p:nvPr/>
          </p:nvSpPr>
          <p:spPr bwMode="auto">
            <a:xfrm>
              <a:off x="2688" y="1056"/>
              <a:ext cx="2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7267" name="Line 19"/>
            <p:cNvSpPr>
              <a:spLocks noChangeShapeType="1"/>
            </p:cNvSpPr>
            <p:nvPr/>
          </p:nvSpPr>
          <p:spPr bwMode="auto">
            <a:xfrm>
              <a:off x="2688" y="3552"/>
              <a:ext cx="2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756</Words>
  <Application>Microsoft Office PowerPoint</Application>
  <PresentationFormat>Widescreen</PresentationFormat>
  <Paragraphs>194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Theme</vt:lpstr>
      <vt:lpstr>Bitmap Image</vt:lpstr>
      <vt:lpstr> </vt:lpstr>
      <vt:lpstr>MAIN  MEMORY</vt:lpstr>
      <vt:lpstr>MEMORY  ADDRESS  MAP</vt:lpstr>
      <vt:lpstr>CONNECTION  OF  MEMORY  TO  CPU</vt:lpstr>
      <vt:lpstr>Making Larger Memories</vt:lpstr>
      <vt:lpstr>Bigger RAMs from smaller RAMs</vt:lpstr>
      <vt:lpstr>Making a larger memory</vt:lpstr>
      <vt:lpstr>Making a larger memory</vt:lpstr>
      <vt:lpstr>Analyzing the 256K x 8 RAM</vt:lpstr>
      <vt:lpstr>Address ranges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SURAJ PRAJAPATI</cp:lastModifiedBy>
  <cp:revision>39</cp:revision>
  <dcterms:created xsi:type="dcterms:W3CDTF">2020-06-18T04:00:41Z</dcterms:created>
  <dcterms:modified xsi:type="dcterms:W3CDTF">2023-02-04T06:50:33Z</dcterms:modified>
</cp:coreProperties>
</file>