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356" r:id="rId3"/>
    <p:sldId id="347" r:id="rId4"/>
    <p:sldId id="349" r:id="rId5"/>
    <p:sldId id="398" r:id="rId6"/>
    <p:sldId id="399" r:id="rId7"/>
    <p:sldId id="350" r:id="rId8"/>
    <p:sldId id="396" r:id="rId9"/>
    <p:sldId id="357" r:id="rId10"/>
    <p:sldId id="352" r:id="rId11"/>
    <p:sldId id="402" r:id="rId12"/>
    <p:sldId id="2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9/9/2020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9/9/2020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9/9/2020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Fully Associative Mapping</a:t>
            </a:r>
          </a:p>
        </p:txBody>
      </p:sp>
      <p:sp>
        <p:nvSpPr>
          <p:cNvPr id="3" name="Content Placeholder 2"/>
          <p:cNvSpPr>
            <a:spLocks noGrp="1"/>
          </p:cNvSpPr>
          <p:nvPr>
            <p:ph idx="1"/>
          </p:nvPr>
        </p:nvSpPr>
        <p:spPr>
          <a:xfrm>
            <a:off x="1981200" y="928915"/>
            <a:ext cx="8229600" cy="5197249"/>
          </a:xfrm>
        </p:spPr>
        <p:txBody>
          <a:bodyPr/>
          <a:lstStyle/>
          <a:p>
            <a:r>
              <a:rPr lang="en-US" dirty="0"/>
              <a:t>An incoming main memory block can be placed in any available cache block. </a:t>
            </a:r>
          </a:p>
          <a:p>
            <a:r>
              <a:rPr lang="en-US" dirty="0"/>
              <a:t>This mapping does not impose any restriction on the placement of blocks in cache memory.</a:t>
            </a:r>
          </a:p>
          <a:p>
            <a:r>
              <a:rPr lang="en-US" dirty="0"/>
              <a:t>This offers maximum flexibility</a:t>
            </a:r>
          </a:p>
          <a:p>
            <a:endParaRPr lang="en-US" dirty="0"/>
          </a:p>
        </p:txBody>
      </p:sp>
      <p:pic>
        <p:nvPicPr>
          <p:cNvPr id="6" name="Picture 2"/>
          <p:cNvPicPr>
            <a:picLocks noChangeAspect="1" noChangeArrowheads="1"/>
          </p:cNvPicPr>
          <p:nvPr/>
        </p:nvPicPr>
        <p:blipFill>
          <a:blip r:embed="rId2" cstate="print"/>
          <a:srcRect/>
          <a:stretch>
            <a:fillRect/>
          </a:stretch>
        </p:blipFill>
        <p:spPr bwMode="auto">
          <a:xfrm>
            <a:off x="3305175" y="3235184"/>
            <a:ext cx="5581650" cy="34861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Fully Associative Mapping</a:t>
            </a: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2614" y="866775"/>
            <a:ext cx="7043737" cy="3500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057400" y="4476865"/>
            <a:ext cx="8401050" cy="1754326"/>
          </a:xfrm>
          <a:prstGeom prst="rect">
            <a:avLst/>
          </a:prstGeom>
        </p:spPr>
        <p:txBody>
          <a:bodyPr wrap="square">
            <a:spAutoFit/>
          </a:bodyPr>
          <a:lstStyle/>
          <a:p>
            <a:r>
              <a:rPr lang="en-US" dirty="0"/>
              <a:t>With associative mapping, we divide the address into two components :</a:t>
            </a:r>
          </a:p>
          <a:p>
            <a:pPr marL="285750" indent="-285750">
              <a:buFont typeface="Arial" pitchFamily="34" charset="0"/>
              <a:buChar char="•"/>
            </a:pPr>
            <a:r>
              <a:rPr lang="en-US" dirty="0"/>
              <a:t>The least significant bits are used for byte offset as in the direct mapping scheme, if Block size is B bytes;</a:t>
            </a:r>
          </a:p>
          <a:p>
            <a:pPr marL="285750" indent="-285750">
              <a:buFont typeface="Arial" pitchFamily="34" charset="0"/>
              <a:buChar char="•"/>
            </a:pPr>
            <a:endParaRPr lang="en-US" dirty="0"/>
          </a:p>
          <a:p>
            <a:pPr marL="285750" indent="-285750">
              <a:buFont typeface="Arial" pitchFamily="34" charset="0"/>
              <a:buChar char="•"/>
            </a:pPr>
            <a:endParaRPr lang="en-US" dirty="0"/>
          </a:p>
          <a:p>
            <a:pPr marL="285750" indent="-285750">
              <a:buFont typeface="Arial" pitchFamily="34" charset="0"/>
              <a:buChar char="•"/>
            </a:pPr>
            <a:r>
              <a:rPr lang="en-US" dirty="0"/>
              <a:t>The remaining bits are used as the tag field.</a:t>
            </a:r>
          </a:p>
        </p:txBody>
      </p:sp>
      <p:pic>
        <p:nvPicPr>
          <p:cNvPr id="215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8725" y="5329021"/>
            <a:ext cx="1219200" cy="468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9032"/>
          </a:xfrm>
        </p:spPr>
        <p:txBody>
          <a:bodyPr>
            <a:normAutofit fontScale="90000"/>
          </a:bodyPr>
          <a:lstStyle/>
          <a:p>
            <a:pPr algn="ctr"/>
            <a:r>
              <a:rPr lang="en-US" dirty="0">
                <a:solidFill>
                  <a:srgbClr val="C00000"/>
                </a:solidFill>
              </a:rPr>
              <a:t>Example</a:t>
            </a:r>
          </a:p>
        </p:txBody>
      </p:sp>
      <p:sp>
        <p:nvSpPr>
          <p:cNvPr id="3" name="Content Placeholder 2"/>
          <p:cNvSpPr>
            <a:spLocks noGrp="1"/>
          </p:cNvSpPr>
          <p:nvPr>
            <p:ph idx="1"/>
          </p:nvPr>
        </p:nvSpPr>
        <p:spPr>
          <a:xfrm>
            <a:off x="1981200" y="2514601"/>
            <a:ext cx="8229600" cy="3611563"/>
          </a:xfrm>
        </p:spPr>
        <p:txBody>
          <a:bodyPr/>
          <a:lstStyle/>
          <a:p>
            <a:r>
              <a:rPr lang="en-US" sz="1600" dirty="0"/>
              <a:t>B = Block Size = 16 words</a:t>
            </a:r>
          </a:p>
          <a:p>
            <a:r>
              <a:rPr lang="en-US" sz="1600" dirty="0"/>
              <a:t>C = Cache Size = 128 Blocks</a:t>
            </a:r>
          </a:p>
          <a:p>
            <a:r>
              <a:rPr lang="en-US" sz="1600" dirty="0"/>
              <a:t>M = Main Memory Size = 4K Blocks</a:t>
            </a:r>
          </a:p>
          <a:p>
            <a:r>
              <a:rPr lang="en-US" sz="1600" dirty="0"/>
              <a:t>Main Memory Address length = log </a:t>
            </a:r>
            <a:r>
              <a:rPr lang="en-US" sz="1600" baseline="-25000" dirty="0"/>
              <a:t>2</a:t>
            </a:r>
            <a:r>
              <a:rPr lang="en-US" sz="1600" dirty="0"/>
              <a:t> (4Kx16) = 12 bits</a:t>
            </a:r>
          </a:p>
          <a:p>
            <a:endParaRPr lang="en-US" sz="1600" dirty="0"/>
          </a:p>
          <a:p>
            <a:r>
              <a:rPr lang="en-US" sz="1600" dirty="0"/>
              <a:t>Byte Offset b = log </a:t>
            </a:r>
            <a:r>
              <a:rPr lang="en-US" sz="1600" baseline="-25000" dirty="0"/>
              <a:t>2</a:t>
            </a:r>
            <a:r>
              <a:rPr lang="en-US" sz="1600" dirty="0"/>
              <a:t> B = log </a:t>
            </a:r>
            <a:r>
              <a:rPr lang="en-US" sz="1600" baseline="-25000" dirty="0"/>
              <a:t>2</a:t>
            </a:r>
            <a:r>
              <a:rPr lang="en-US" sz="1600" dirty="0"/>
              <a:t> 16 = log </a:t>
            </a:r>
            <a:r>
              <a:rPr lang="en-US" sz="1600" baseline="-25000" dirty="0"/>
              <a:t>2</a:t>
            </a:r>
            <a:r>
              <a:rPr lang="en-US" sz="1600" dirty="0"/>
              <a:t> 2</a:t>
            </a:r>
            <a:r>
              <a:rPr lang="en-US" sz="1600" baseline="30000" dirty="0"/>
              <a:t>4</a:t>
            </a:r>
            <a:r>
              <a:rPr lang="en-US" sz="1600" dirty="0"/>
              <a:t> = 4 bits</a:t>
            </a:r>
          </a:p>
          <a:p>
            <a:r>
              <a:rPr lang="en-US" sz="1600" dirty="0"/>
              <a:t>Tag Bits t = Remaining Higher order bits = 16 –  4 = 12  bits</a:t>
            </a:r>
          </a:p>
          <a:p>
            <a:endParaRPr lang="en-US" sz="1600" dirty="0"/>
          </a:p>
        </p:txBody>
      </p:sp>
      <p:pic>
        <p:nvPicPr>
          <p:cNvPr id="80898" name="Picture 2"/>
          <p:cNvPicPr>
            <a:picLocks noChangeAspect="1" noChangeArrowheads="1"/>
          </p:cNvPicPr>
          <p:nvPr/>
        </p:nvPicPr>
        <p:blipFill rotWithShape="1">
          <a:blip r:embed="rId2" cstate="print"/>
          <a:srcRect b="50000"/>
          <a:stretch/>
        </p:blipFill>
        <p:spPr bwMode="auto">
          <a:xfrm>
            <a:off x="1920650" y="1218068"/>
            <a:ext cx="8300923" cy="1517309"/>
          </a:xfrm>
          <a:prstGeom prst="rect">
            <a:avLst/>
          </a:prstGeom>
          <a:noFill/>
          <a:ln w="9525">
            <a:noFill/>
            <a:miter lim="800000"/>
            <a:headEnd/>
            <a:tailEnd/>
          </a:ln>
          <a:effectLst/>
        </p:spPr>
      </p:pic>
      <p:sp>
        <p:nvSpPr>
          <p:cNvPr id="6" name="Rectangle 5"/>
          <p:cNvSpPr/>
          <p:nvPr/>
        </p:nvSpPr>
        <p:spPr bwMode="auto">
          <a:xfrm>
            <a:off x="3120571" y="1262744"/>
            <a:ext cx="159658" cy="246743"/>
          </a:xfrm>
          <a:prstGeom prst="rect">
            <a:avLst/>
          </a:prstGeom>
          <a:solidFill>
            <a:schemeClr val="bg1"/>
          </a:solidFill>
          <a:ln w="254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0" fontAlgn="base" hangingPunct="0">
              <a:lnSpc>
                <a:spcPct val="97000"/>
              </a:lnSpc>
              <a:spcBef>
                <a:spcPct val="0"/>
              </a:spcBef>
              <a:spcAft>
                <a:spcPct val="0"/>
              </a:spcAft>
            </a:pPr>
            <a:endParaRPr kumimoji="1" lang="en-US" sz="1100" b="1">
              <a:latin typeface="Arial" pitchFamily="34" charset="0"/>
              <a:ea typeface="굴림" pitchFamily="50" charset="-12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Hit Ratio</a:t>
            </a:r>
          </a:p>
        </p:txBody>
      </p:sp>
      <p:sp>
        <p:nvSpPr>
          <p:cNvPr id="3" name="Content Placeholder 2"/>
          <p:cNvSpPr>
            <a:spLocks noGrp="1"/>
          </p:cNvSpPr>
          <p:nvPr>
            <p:ph idx="1"/>
          </p:nvPr>
        </p:nvSpPr>
        <p:spPr>
          <a:xfrm>
            <a:off x="1981200" y="914401"/>
            <a:ext cx="4705350" cy="5040313"/>
          </a:xfrm>
        </p:spPr>
        <p:txBody>
          <a:bodyPr/>
          <a:lstStyle/>
          <a:p>
            <a:r>
              <a:rPr lang="en-US" sz="2000" dirty="0"/>
              <a:t>Example : Consider the reference pattern of Previous Example that accesses the sequence of blocks 0, 4, 0, 8, 0, 8, 0, 4, 0, 4, 0, 4. Assuming that the cache uses associative mapping, find the hit ratio with a cache size of four cache lines.</a:t>
            </a:r>
          </a:p>
          <a:p>
            <a:pPr lvl="1"/>
            <a:r>
              <a:rPr lang="en-US" sz="1600" dirty="0"/>
              <a:t>In fully associative mapping, the incoming block can take any free cache line, we use a FIFO allocation. Block 0 is placed in cache line 0, block 4 is placed in the next available cache line, and so on. Thus, after three misses to load the blocks 0, 4, and8 initially, the remaining nine references can be read from the cache. This gives us a hit ratio of 75%. This is in contrast to the hit ratio of 0% obtained with direct mapping. Because these three misses are compulsory misses, this is the highest hit ratio we can get for this reference pattern.</a:t>
            </a:r>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9550" y="838200"/>
            <a:ext cx="4078451"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349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Disadvantages</a:t>
            </a:r>
          </a:p>
        </p:txBody>
      </p:sp>
      <p:sp>
        <p:nvSpPr>
          <p:cNvPr id="3" name="Content Placeholder 2"/>
          <p:cNvSpPr>
            <a:spLocks noGrp="1"/>
          </p:cNvSpPr>
          <p:nvPr>
            <p:ph idx="1"/>
          </p:nvPr>
        </p:nvSpPr>
        <p:spPr/>
        <p:txBody>
          <a:bodyPr/>
          <a:lstStyle/>
          <a:p>
            <a:r>
              <a:rPr lang="en-US" dirty="0"/>
              <a:t>The major drawback is the location of a block in the cache.</a:t>
            </a:r>
          </a:p>
          <a:p>
            <a:r>
              <a:rPr lang="en-US" dirty="0"/>
              <a:t>Since a block can be in any cache line, we have to search all tag fields in parallel to locate a block. This means we need hardware to do 2</a:t>
            </a:r>
            <a:r>
              <a:rPr lang="en-US" baseline="30000" dirty="0"/>
              <a:t>c</a:t>
            </a:r>
            <a:r>
              <a:rPr lang="en-US" dirty="0"/>
              <a:t> comparisons, where c is the number of cache lines.</a:t>
            </a:r>
          </a:p>
        </p:txBody>
      </p:sp>
    </p:spTree>
    <p:extLst>
      <p:ext uri="{BB962C8B-B14F-4D97-AF65-F5344CB8AC3E}">
        <p14:creationId xmlns:p14="http://schemas.microsoft.com/office/powerpoint/2010/main" val="675375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Set Associative Mapping</a:t>
            </a:r>
          </a:p>
        </p:txBody>
      </p:sp>
      <p:sp>
        <p:nvSpPr>
          <p:cNvPr id="3" name="Content Placeholder 2"/>
          <p:cNvSpPr>
            <a:spLocks noGrp="1"/>
          </p:cNvSpPr>
          <p:nvPr>
            <p:ph idx="1"/>
          </p:nvPr>
        </p:nvSpPr>
        <p:spPr>
          <a:xfrm>
            <a:off x="1981200" y="972458"/>
            <a:ext cx="8229600" cy="5153706"/>
          </a:xfrm>
        </p:spPr>
        <p:txBody>
          <a:bodyPr/>
          <a:lstStyle/>
          <a:p>
            <a:r>
              <a:rPr lang="en-US" sz="2000" dirty="0"/>
              <a:t>Set-associative mapping is a compromise between direct and associative mapping. It divides the cache lines into disjoint sets. Mapping of a memory block is done as in direct mapping, except that it maps the block to a set of cache lines rather than to a single cache line. The block can be placed in any cache line within the assigned set as in the associative mapping. Set-associative mapping reduces the search complexity to the number of cache lines within a set. Typically, small set sizes—2, 4, or 8— are used.</a:t>
            </a:r>
          </a:p>
          <a:p>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200025"/>
            <a:ext cx="8953500" cy="6467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1838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Set Associative Mapping</a:t>
            </a: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1296" y="857250"/>
            <a:ext cx="6484554" cy="3160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866900" y="4022721"/>
            <a:ext cx="8572500" cy="2246769"/>
          </a:xfrm>
          <a:prstGeom prst="rect">
            <a:avLst/>
          </a:prstGeom>
        </p:spPr>
        <p:txBody>
          <a:bodyPr wrap="square">
            <a:spAutoFit/>
          </a:bodyPr>
          <a:lstStyle/>
          <a:p>
            <a:r>
              <a:rPr lang="en-US" sz="2000" dirty="0"/>
              <a:t>Set-associative mapping partitions the address into three components :</a:t>
            </a:r>
          </a:p>
          <a:p>
            <a:pPr marL="342900" indent="-342900">
              <a:buFont typeface="Arial" pitchFamily="34" charset="0"/>
              <a:buChar char="•"/>
            </a:pPr>
            <a:r>
              <a:rPr lang="en-US" sz="2000" dirty="0"/>
              <a:t>• The least significant bits </a:t>
            </a:r>
            <a:r>
              <a:rPr lang="en-US" sz="2000" i="1" dirty="0"/>
              <a:t>b </a:t>
            </a:r>
            <a:r>
              <a:rPr lang="en-US" sz="2000" dirty="0"/>
              <a:t>specify the byte offset as in the other two mapping functions.</a:t>
            </a:r>
          </a:p>
          <a:p>
            <a:pPr marL="342900" indent="-342900">
              <a:buFont typeface="Arial" pitchFamily="34" charset="0"/>
              <a:buChar char="•"/>
            </a:pPr>
            <a:r>
              <a:rPr lang="en-US" sz="2000" dirty="0"/>
              <a:t>• The next </a:t>
            </a:r>
            <a:r>
              <a:rPr lang="en-US" sz="2000" i="1" dirty="0"/>
              <a:t>s</a:t>
            </a:r>
            <a:r>
              <a:rPr lang="en-US" sz="2000" dirty="0"/>
              <a:t> bits identify a set. The number of bits for the </a:t>
            </a:r>
            <a:r>
              <a:rPr lang="en-US" sz="2000" i="1" dirty="0"/>
              <a:t>s</a:t>
            </a:r>
            <a:r>
              <a:rPr lang="en-US" sz="2000" dirty="0"/>
              <a:t> field is given by  </a:t>
            </a:r>
            <a:r>
              <a:rPr lang="en-US" sz="2000" i="1" dirty="0"/>
              <a:t>s = </a:t>
            </a:r>
            <a:r>
              <a:rPr lang="en-US" sz="2000" dirty="0"/>
              <a:t>log </a:t>
            </a:r>
            <a:r>
              <a:rPr lang="en-US" sz="2000" baseline="-25000" dirty="0"/>
              <a:t>2</a:t>
            </a:r>
            <a:r>
              <a:rPr lang="en-US" sz="2000" dirty="0"/>
              <a:t> S where S is the number of sets</a:t>
            </a:r>
          </a:p>
          <a:p>
            <a:pPr marL="342900" indent="-342900">
              <a:buFont typeface="Arial" pitchFamily="34" charset="0"/>
              <a:buChar char="•"/>
            </a:pPr>
            <a:r>
              <a:rPr lang="en-US" sz="2000" dirty="0"/>
              <a:t>The remaining higher-order bits are used as the tag, as in the other two mappings.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035"/>
            <a:ext cx="10515600" cy="519801"/>
          </a:xfrm>
        </p:spPr>
        <p:txBody>
          <a:bodyPr>
            <a:normAutofit fontScale="90000"/>
          </a:bodyPr>
          <a:lstStyle/>
          <a:p>
            <a:pPr algn="ctr"/>
            <a:r>
              <a:rPr lang="en-US" dirty="0">
                <a:solidFill>
                  <a:srgbClr val="C00000"/>
                </a:solidFill>
              </a:rPr>
              <a:t>Example</a:t>
            </a:r>
          </a:p>
        </p:txBody>
      </p:sp>
      <p:sp>
        <p:nvSpPr>
          <p:cNvPr id="3" name="Content Placeholder 2"/>
          <p:cNvSpPr>
            <a:spLocks noGrp="1"/>
          </p:cNvSpPr>
          <p:nvPr>
            <p:ph idx="1"/>
          </p:nvPr>
        </p:nvSpPr>
        <p:spPr>
          <a:xfrm>
            <a:off x="1981200" y="3276601"/>
            <a:ext cx="8229600" cy="2849563"/>
          </a:xfrm>
        </p:spPr>
        <p:txBody>
          <a:bodyPr/>
          <a:lstStyle/>
          <a:p>
            <a:r>
              <a:rPr lang="en-US" sz="1600" dirty="0"/>
              <a:t>B = Block Size = 16 words</a:t>
            </a:r>
          </a:p>
          <a:p>
            <a:r>
              <a:rPr lang="en-US" sz="1600" dirty="0"/>
              <a:t>C = Cache Size = 128 Blocks</a:t>
            </a:r>
          </a:p>
          <a:p>
            <a:r>
              <a:rPr lang="en-US" sz="1600" dirty="0"/>
              <a:t>M = Main Memory Size = 4K Blocks</a:t>
            </a:r>
          </a:p>
          <a:p>
            <a:r>
              <a:rPr lang="en-US" sz="1600" dirty="0"/>
              <a:t>Main Memory Address length = log </a:t>
            </a:r>
            <a:r>
              <a:rPr lang="en-US" sz="1600" baseline="-25000" dirty="0"/>
              <a:t>2</a:t>
            </a:r>
            <a:r>
              <a:rPr lang="en-US" sz="1600" dirty="0"/>
              <a:t> (4Kx16) = 12 bits</a:t>
            </a:r>
          </a:p>
          <a:p>
            <a:endParaRPr lang="en-US" sz="1600" dirty="0"/>
          </a:p>
          <a:p>
            <a:r>
              <a:rPr lang="en-US" sz="1600" dirty="0"/>
              <a:t>Byte Offset b = log </a:t>
            </a:r>
            <a:r>
              <a:rPr lang="en-US" sz="1600" baseline="-25000" dirty="0"/>
              <a:t>2</a:t>
            </a:r>
            <a:r>
              <a:rPr lang="en-US" sz="1600" dirty="0"/>
              <a:t> B = log </a:t>
            </a:r>
            <a:r>
              <a:rPr lang="en-US" sz="1600" baseline="-25000" dirty="0"/>
              <a:t>2</a:t>
            </a:r>
            <a:r>
              <a:rPr lang="en-US" sz="1600" dirty="0"/>
              <a:t> 16 = log </a:t>
            </a:r>
            <a:r>
              <a:rPr lang="en-US" sz="1600" baseline="-25000" dirty="0"/>
              <a:t>2</a:t>
            </a:r>
            <a:r>
              <a:rPr lang="en-US" sz="1600" dirty="0"/>
              <a:t> 2</a:t>
            </a:r>
            <a:r>
              <a:rPr lang="en-US" sz="1600" baseline="30000" dirty="0"/>
              <a:t>4</a:t>
            </a:r>
            <a:r>
              <a:rPr lang="en-US" sz="1600" dirty="0"/>
              <a:t> = 4 bits</a:t>
            </a:r>
          </a:p>
          <a:p>
            <a:r>
              <a:rPr lang="en-US" sz="1600" dirty="0"/>
              <a:t>Set Field  s = log </a:t>
            </a:r>
            <a:r>
              <a:rPr lang="en-US" sz="1600" baseline="-25000" dirty="0"/>
              <a:t>2</a:t>
            </a:r>
            <a:r>
              <a:rPr lang="en-US" sz="1600" dirty="0"/>
              <a:t> S = log </a:t>
            </a:r>
            <a:r>
              <a:rPr lang="en-US" sz="1600" baseline="-25000" dirty="0"/>
              <a:t>2</a:t>
            </a:r>
            <a:r>
              <a:rPr lang="en-US" sz="1600" dirty="0"/>
              <a:t> 32 = log </a:t>
            </a:r>
            <a:r>
              <a:rPr lang="en-US" sz="1600" baseline="-25000" dirty="0"/>
              <a:t>2</a:t>
            </a:r>
            <a:r>
              <a:rPr lang="en-US" sz="1600" dirty="0"/>
              <a:t> 2</a:t>
            </a:r>
            <a:r>
              <a:rPr lang="en-US" sz="1600" baseline="30000" dirty="0"/>
              <a:t>5</a:t>
            </a:r>
            <a:r>
              <a:rPr lang="en-US" sz="1600" dirty="0"/>
              <a:t> = 5 bits</a:t>
            </a:r>
          </a:p>
          <a:p>
            <a:r>
              <a:rPr lang="en-US" sz="1600" dirty="0"/>
              <a:t>Tag Bits t = Remaining Higher order bits = 16 –  (4+5) = 7  bits</a:t>
            </a:r>
          </a:p>
          <a:p>
            <a:endParaRPr lang="en-US" sz="1600" dirty="0"/>
          </a:p>
          <a:p>
            <a:endParaRPr lang="en-US" sz="1600" dirty="0"/>
          </a:p>
        </p:txBody>
      </p:sp>
      <p:pic>
        <p:nvPicPr>
          <p:cNvPr id="83970" name="Picture 2"/>
          <p:cNvPicPr>
            <a:picLocks noChangeAspect="1" noChangeArrowheads="1"/>
          </p:cNvPicPr>
          <p:nvPr/>
        </p:nvPicPr>
        <p:blipFill rotWithShape="1">
          <a:blip r:embed="rId2" cstate="print"/>
          <a:srcRect b="45585"/>
          <a:stretch/>
        </p:blipFill>
        <p:spPr bwMode="auto">
          <a:xfrm>
            <a:off x="1920649" y="1054554"/>
            <a:ext cx="8594920" cy="2222047"/>
          </a:xfrm>
          <a:prstGeom prst="rect">
            <a:avLst/>
          </a:prstGeom>
          <a:noFill/>
          <a:ln w="9525">
            <a:noFill/>
            <a:miter lim="800000"/>
            <a:headEnd/>
            <a:tailEnd/>
          </a:ln>
          <a:effectLst/>
        </p:spPr>
      </p:pic>
      <p:sp>
        <p:nvSpPr>
          <p:cNvPr id="5" name="Rectangle 4"/>
          <p:cNvSpPr/>
          <p:nvPr/>
        </p:nvSpPr>
        <p:spPr bwMode="auto">
          <a:xfrm>
            <a:off x="3120571" y="1103087"/>
            <a:ext cx="188686" cy="261257"/>
          </a:xfrm>
          <a:prstGeom prst="rect">
            <a:avLst/>
          </a:prstGeom>
          <a:solidFill>
            <a:schemeClr val="bg1"/>
          </a:solidFill>
          <a:ln w="254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0" fontAlgn="base" hangingPunct="0">
              <a:lnSpc>
                <a:spcPct val="97000"/>
              </a:lnSpc>
              <a:spcBef>
                <a:spcPct val="0"/>
              </a:spcBef>
              <a:spcAft>
                <a:spcPct val="0"/>
              </a:spcAft>
            </a:pPr>
            <a:endParaRPr kumimoji="1" lang="en-US" sz="1100" b="1">
              <a:latin typeface="Arial" pitchFamily="34" charset="0"/>
              <a:ea typeface="굴림" pitchFamily="50"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HIT RATIO</a:t>
            </a:r>
          </a:p>
        </p:txBody>
      </p:sp>
      <p:sp>
        <p:nvSpPr>
          <p:cNvPr id="3" name="Content Placeholder 2"/>
          <p:cNvSpPr>
            <a:spLocks noGrp="1"/>
          </p:cNvSpPr>
          <p:nvPr>
            <p:ph idx="1"/>
          </p:nvPr>
        </p:nvSpPr>
        <p:spPr>
          <a:xfrm>
            <a:off x="1714500" y="876300"/>
            <a:ext cx="4911682" cy="5486400"/>
          </a:xfrm>
        </p:spPr>
        <p:txBody>
          <a:bodyPr/>
          <a:lstStyle/>
          <a:p>
            <a:pPr marL="0" indent="0">
              <a:buNone/>
            </a:pPr>
            <a:r>
              <a:rPr lang="en-US" sz="1400" dirty="0"/>
              <a:t>Let us consider the reference pattern that accesses the sequence of blocks 0, 4, 0, 8, 0, 8, 0, 4, 0, 4, 0, 4. Assuming that the set size is 2 AND cache size of four cache lines.</a:t>
            </a:r>
          </a:p>
          <a:p>
            <a:r>
              <a:rPr lang="en-US" sz="1400" dirty="0"/>
              <a:t>Since the cache size is four lines and the set size is 2, we have two sets. Therefore, all blocks with an even number are mapped to set 0, and odd numbered blocks to set 1. In the example, all three blocks—0, 4, and 8—are mapped to set 0. The first reference to block 8 presents an interesting situation. This even-numbered block is mapped to set 0. However, set 0 is full (with blocks 0 and 4). Now we need to make  decision as to which block should be replaced. This is determined by the replacement policy in effect. We use LRU.  Between blocks 0 and 4, block 0 has been accessed more recently. Thus, we replace block 4 with block 8. A similar situation arises  when block 4 is accessed later. Using set-associative mapping gives us 8/12 67% as the hit ratio. As you can see, this hit ratio is better than that of the direct-mapped cache but lower than that of the fully associative-mapped cache.</a:t>
            </a:r>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7133" y="1019176"/>
            <a:ext cx="3879893" cy="324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2339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401</TotalTime>
  <Words>945</Words>
  <Application>Microsoft Office PowerPoint</Application>
  <PresentationFormat>Widescreen</PresentationFormat>
  <Paragraphs>49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 </vt:lpstr>
      <vt:lpstr>Fully Associative Mapping</vt:lpstr>
      <vt:lpstr>Fully Associative Mapping</vt:lpstr>
      <vt:lpstr>Example</vt:lpstr>
      <vt:lpstr>Hit Ratio</vt:lpstr>
      <vt:lpstr>Disadvantages</vt:lpstr>
      <vt:lpstr>Set Associative Mapping</vt:lpstr>
      <vt:lpstr>PowerPoint Presentation</vt:lpstr>
      <vt:lpstr>Set Associative Mapping</vt:lpstr>
      <vt:lpstr>Example</vt:lpstr>
      <vt:lpstr>HIT RATIO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40</cp:revision>
  <dcterms:created xsi:type="dcterms:W3CDTF">2020-06-18T04:00:41Z</dcterms:created>
  <dcterms:modified xsi:type="dcterms:W3CDTF">2020-09-09T04:41:25Z</dcterms:modified>
</cp:coreProperties>
</file>