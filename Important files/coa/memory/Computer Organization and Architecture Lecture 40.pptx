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11" r:id="rId3"/>
    <p:sldId id="329" r:id="rId4"/>
    <p:sldId id="330" r:id="rId5"/>
    <p:sldId id="312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Making Larger Memories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43138" y="1314451"/>
            <a:ext cx="3657600" cy="5027613"/>
          </a:xfrm>
        </p:spPr>
        <p:txBody>
          <a:bodyPr/>
          <a:lstStyle/>
          <a:p>
            <a:pPr marL="342900" indent="-342900"/>
            <a:r>
              <a:rPr lang="en-US" sz="2000" dirty="0">
                <a:cs typeface="Times New Roman" pitchFamily="18" charset="0"/>
              </a:rPr>
              <a:t>Using the CS lines, we can make larger memories from smaller ones by tying all address, data, and R/W lines in parallel, and using the decoded higher order address bits to control CS.   </a:t>
            </a:r>
          </a:p>
          <a:p>
            <a:pPr marL="342900" indent="-342900"/>
            <a:r>
              <a:rPr lang="en-US" sz="2000" dirty="0">
                <a:cs typeface="Times New Roman" pitchFamily="18" charset="0"/>
              </a:rPr>
              <a:t>Using the 4-Word by 1-Bit memory from before, we construct a 16-Word by</a:t>
            </a:r>
            <a:br>
              <a:rPr lang="en-US" sz="2000" dirty="0">
                <a:cs typeface="Times New Roman" pitchFamily="18" charset="0"/>
              </a:rPr>
            </a:br>
            <a:r>
              <a:rPr lang="en-US" sz="2000" dirty="0">
                <a:cs typeface="Times New Roman" pitchFamily="18" charset="0"/>
              </a:rPr>
              <a:t>1-Bit memory.  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</a:t>
            </a:r>
            <a:r>
              <a:rPr lang="en-US" sz="2000" dirty="0">
                <a:cs typeface="Times New Roman" pitchFamily="18" charset="0"/>
              </a:rPr>
              <a:t> </a:t>
            </a:r>
            <a:endParaRPr lang="en-US" sz="2000" dirty="0"/>
          </a:p>
        </p:txBody>
      </p:sp>
      <p:graphicFrame>
        <p:nvGraphicFramePr>
          <p:cNvPr id="735236" name="Object 4"/>
          <p:cNvGraphicFramePr>
            <a:graphicFrameLocks noChangeAspect="1"/>
          </p:cNvGraphicFramePr>
          <p:nvPr/>
        </p:nvGraphicFramePr>
        <p:xfrm>
          <a:off x="5562600" y="1219201"/>
          <a:ext cx="4643438" cy="545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signer Drawing" r:id="rId2" imgW="4956480" imgH="5819040" progId="">
                  <p:embed/>
                </p:oleObj>
              </mc:Choice>
              <mc:Fallback>
                <p:oleObj name="Designer Drawing" r:id="rId2" imgW="4956480" imgH="5819040" progId="">
                  <p:embed/>
                  <p:pic>
                    <p:nvPicPr>
                      <p:cNvPr id="735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219201"/>
                        <a:ext cx="4643438" cy="545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7699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Making a wider memory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990613"/>
            <a:ext cx="8229600" cy="4525963"/>
          </a:xfrm>
        </p:spPr>
        <p:txBody>
          <a:bodyPr/>
          <a:lstStyle/>
          <a:p>
            <a:r>
              <a:rPr lang="en-US" sz="1600"/>
              <a:t>You can also combine smaller chips to make wider memories, with the same number of addresses but more bits per word.</a:t>
            </a:r>
          </a:p>
          <a:p>
            <a:r>
              <a:rPr lang="en-US" sz="1600"/>
              <a:t>How do we create a 64K x 16 RAM from two 64K x 8 chips?</a:t>
            </a:r>
          </a:p>
        </p:txBody>
      </p:sp>
      <p:graphicFrame>
        <p:nvGraphicFramePr>
          <p:cNvPr id="462848" name="Object 0"/>
          <p:cNvGraphicFramePr>
            <a:graphicFrameLocks noChangeAspect="1"/>
          </p:cNvGraphicFramePr>
          <p:nvPr/>
        </p:nvGraphicFramePr>
        <p:xfrm>
          <a:off x="3276036" y="2537274"/>
          <a:ext cx="5418702" cy="3920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266667" imgH="3600000" progId="PBrush">
                  <p:embed/>
                </p:oleObj>
              </mc:Choice>
              <mc:Fallback>
                <p:oleObj name="Bitmap Image" r:id="rId2" imgW="5266667" imgH="3600000" progId="PBrush">
                  <p:embed/>
                  <p:pic>
                    <p:nvPicPr>
                      <p:cNvPr id="46284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036" y="2537274"/>
                        <a:ext cx="5418702" cy="3920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accent2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4267200" y="6248400"/>
            <a:ext cx="35814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Random Access Memory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3058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B7918DE5-F6CD-4E4D-AC0F-D2CAC6215B65}" type="slidenum">
              <a:rPr lang="en-US"/>
              <a:pPr/>
              <a:t>4</a:t>
            </a:fld>
            <a:endParaRPr lang="en-US"/>
          </a:p>
        </p:txBody>
      </p:sp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6833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Making a wider memory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990613"/>
            <a:ext cx="8229600" cy="4525963"/>
          </a:xfrm>
        </p:spPr>
        <p:txBody>
          <a:bodyPr/>
          <a:lstStyle/>
          <a:p>
            <a:r>
              <a:rPr lang="en-US" sz="1600" dirty="0"/>
              <a:t>You can also combine smaller chips to make wider memories, with the same number of addresses but more bits per word.</a:t>
            </a:r>
          </a:p>
          <a:p>
            <a:r>
              <a:rPr lang="en-US" sz="1600" dirty="0"/>
              <a:t>Here is a 64K x 16 RAM, created from two 64K x 8 chips.</a:t>
            </a:r>
          </a:p>
          <a:p>
            <a:pPr lvl="1"/>
            <a:r>
              <a:rPr lang="en-US" sz="1200" dirty="0"/>
              <a:t>The left chip contains the most significant 8 bits of the data.</a:t>
            </a:r>
          </a:p>
          <a:p>
            <a:pPr lvl="1"/>
            <a:r>
              <a:rPr lang="en-US" sz="1200" dirty="0"/>
              <a:t>The right chip contains the lower 8 bits of the data.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429001" y="2590801"/>
            <a:ext cx="5267325" cy="3600450"/>
            <a:chOff x="1248" y="1632"/>
            <a:chExt cx="3318" cy="2268"/>
          </a:xfrm>
        </p:grpSpPr>
        <p:graphicFrame>
          <p:nvGraphicFramePr>
            <p:cNvPr id="44954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867586"/>
                </p:ext>
              </p:extLst>
            </p:nvPr>
          </p:nvGraphicFramePr>
          <p:xfrm>
            <a:off x="1248" y="1632"/>
            <a:ext cx="3318" cy="2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5266667" imgH="3600000" progId="PBrush">
                    <p:embed/>
                  </p:oleObj>
                </mc:Choice>
                <mc:Fallback>
                  <p:oleObj name="Bitmap Image" r:id="rId2" imgW="5266667" imgH="3600000" progId="PBrush">
                    <p:embed/>
                    <p:pic>
                      <p:nvPicPr>
                        <p:cNvPr id="44954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632"/>
                          <a:ext cx="3318" cy="2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accent2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9542" name="Line 6"/>
            <p:cNvSpPr>
              <a:spLocks noChangeShapeType="1"/>
            </p:cNvSpPr>
            <p:nvPr/>
          </p:nvSpPr>
          <p:spPr bwMode="auto">
            <a:xfrm flipH="1">
              <a:off x="1776" y="2112"/>
              <a:ext cx="48" cy="192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543" name="Line 7"/>
            <p:cNvSpPr>
              <a:spLocks noChangeShapeType="1"/>
            </p:cNvSpPr>
            <p:nvPr/>
          </p:nvSpPr>
          <p:spPr bwMode="auto">
            <a:xfrm flipV="1">
              <a:off x="2496" y="1920"/>
              <a:ext cx="144" cy="48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544" name="Line 8"/>
            <p:cNvSpPr>
              <a:spLocks noChangeShapeType="1"/>
            </p:cNvSpPr>
            <p:nvPr/>
          </p:nvSpPr>
          <p:spPr bwMode="auto">
            <a:xfrm flipV="1">
              <a:off x="2640" y="1920"/>
              <a:ext cx="144" cy="48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545" name="Line 9"/>
            <p:cNvSpPr>
              <a:spLocks noChangeShapeType="1"/>
            </p:cNvSpPr>
            <p:nvPr/>
          </p:nvSpPr>
          <p:spPr bwMode="auto">
            <a:xfrm flipV="1">
              <a:off x="3024" y="3552"/>
              <a:ext cx="144" cy="48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546" name="Line 10"/>
            <p:cNvSpPr>
              <a:spLocks noChangeShapeType="1"/>
            </p:cNvSpPr>
            <p:nvPr/>
          </p:nvSpPr>
          <p:spPr bwMode="auto">
            <a:xfrm flipV="1">
              <a:off x="3168" y="3552"/>
              <a:ext cx="144" cy="48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547" name="Text Box 11"/>
            <p:cNvSpPr txBox="1">
              <a:spLocks noChangeArrowheads="1"/>
            </p:cNvSpPr>
            <p:nvPr/>
          </p:nvSpPr>
          <p:spPr bwMode="auto">
            <a:xfrm>
              <a:off x="1632" y="2064"/>
              <a:ext cx="218" cy="173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FF0033"/>
                  </a:solidFill>
                </a:rPr>
                <a:t>16</a:t>
              </a:r>
            </a:p>
          </p:txBody>
        </p:sp>
        <p:sp>
          <p:nvSpPr>
            <p:cNvPr id="449548" name="Text Box 12"/>
            <p:cNvSpPr txBox="1">
              <a:spLocks noChangeArrowheads="1"/>
            </p:cNvSpPr>
            <p:nvPr/>
          </p:nvSpPr>
          <p:spPr bwMode="auto">
            <a:xfrm>
              <a:off x="2352" y="1872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  <p:sp>
          <p:nvSpPr>
            <p:cNvPr id="449549" name="Text Box 13"/>
            <p:cNvSpPr txBox="1">
              <a:spLocks noChangeArrowheads="1"/>
            </p:cNvSpPr>
            <p:nvPr/>
          </p:nvSpPr>
          <p:spPr bwMode="auto">
            <a:xfrm>
              <a:off x="2736" y="1872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  <p:sp>
          <p:nvSpPr>
            <p:cNvPr id="449550" name="Text Box 14"/>
            <p:cNvSpPr txBox="1">
              <a:spLocks noChangeArrowheads="1"/>
            </p:cNvSpPr>
            <p:nvPr/>
          </p:nvSpPr>
          <p:spPr bwMode="auto">
            <a:xfrm>
              <a:off x="2880" y="3504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  <p:sp>
          <p:nvSpPr>
            <p:cNvPr id="449551" name="Text Box 15"/>
            <p:cNvSpPr txBox="1">
              <a:spLocks noChangeArrowheads="1"/>
            </p:cNvSpPr>
            <p:nvPr/>
          </p:nvSpPr>
          <p:spPr bwMode="auto">
            <a:xfrm>
              <a:off x="3264" y="3504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73977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Making Wider Memories</a:t>
            </a:r>
          </a:p>
        </p:txBody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43138" y="1314451"/>
            <a:ext cx="4038600" cy="5027613"/>
          </a:xfrm>
        </p:spPr>
        <p:txBody>
          <a:bodyPr/>
          <a:lstStyle/>
          <a:p>
            <a:pPr marL="342900" indent="-342900"/>
            <a:r>
              <a:rPr lang="en-US" sz="2000" dirty="0">
                <a:cs typeface="Times New Roman" pitchFamily="18" charset="0"/>
              </a:rPr>
              <a:t>To construct wider memories from narrow ones, we tie the address and control lines in parallel and keep the data lines separate.  </a:t>
            </a:r>
          </a:p>
          <a:p>
            <a:pPr marL="342900" indent="-342900"/>
            <a:r>
              <a:rPr lang="en-US" sz="2000" dirty="0">
                <a:cs typeface="Times New Roman" pitchFamily="18" charset="0"/>
              </a:rPr>
              <a:t>For example, to make a 4-word by 4-bit memory from 4, 4-word by 1-bit memories              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</a:t>
            </a:r>
            <a:r>
              <a:rPr lang="en-US" sz="2000" dirty="0">
                <a:cs typeface="Times New Roman" pitchFamily="18" charset="0"/>
              </a:rPr>
              <a:t> </a:t>
            </a:r>
          </a:p>
          <a:p>
            <a:pPr marL="342900" indent="-342900"/>
            <a:r>
              <a:rPr lang="en-US" sz="2000" dirty="0">
                <a:cs typeface="Times New Roman" pitchFamily="18" charset="0"/>
              </a:rPr>
              <a:t>Note: Both 16x1 and 4x4 memories take 4-chips </a:t>
            </a:r>
            <a:br>
              <a:rPr lang="en-US" sz="2000" dirty="0">
                <a:cs typeface="Times New Roman" pitchFamily="18" charset="0"/>
              </a:rPr>
            </a:br>
            <a:r>
              <a:rPr lang="en-US" sz="2000" dirty="0">
                <a:cs typeface="Times New Roman" pitchFamily="18" charset="0"/>
              </a:rPr>
              <a:t>and hold 16 bits of data.</a:t>
            </a:r>
          </a:p>
          <a:p>
            <a:pPr marL="342900" indent="-342900"/>
            <a:endParaRPr lang="en-US" sz="2000" dirty="0"/>
          </a:p>
        </p:txBody>
      </p:sp>
      <p:graphicFrame>
        <p:nvGraphicFramePr>
          <p:cNvPr id="736260" name="Object 4"/>
          <p:cNvGraphicFramePr>
            <a:graphicFrameLocks noChangeAspect="1"/>
          </p:cNvGraphicFramePr>
          <p:nvPr/>
        </p:nvGraphicFramePr>
        <p:xfrm>
          <a:off x="5943600" y="1295401"/>
          <a:ext cx="3957638" cy="525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signer Drawing" r:id="rId2" imgW="5045040" imgH="6697080" progId="">
                  <p:embed/>
                </p:oleObj>
              </mc:Choice>
              <mc:Fallback>
                <p:oleObj name="Designer Drawing" r:id="rId2" imgW="5045040" imgH="6697080" progId="">
                  <p:embed/>
                  <p:pic>
                    <p:nvPicPr>
                      <p:cNvPr id="7362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295401"/>
                        <a:ext cx="3957638" cy="525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273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Designer Drawing</vt:lpstr>
      <vt:lpstr>Bitmap Image</vt:lpstr>
      <vt:lpstr> </vt:lpstr>
      <vt:lpstr>Making Larger Memories</vt:lpstr>
      <vt:lpstr>Making a wider memory</vt:lpstr>
      <vt:lpstr>Making a wider memory</vt:lpstr>
      <vt:lpstr>Making Wider Memories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SURAJ PRAJAPATI</cp:lastModifiedBy>
  <cp:revision>36</cp:revision>
  <dcterms:created xsi:type="dcterms:W3CDTF">2020-06-18T04:00:41Z</dcterms:created>
  <dcterms:modified xsi:type="dcterms:W3CDTF">2023-03-30T09:15:19Z</dcterms:modified>
</cp:coreProperties>
</file>