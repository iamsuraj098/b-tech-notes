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80" r:id="rId3"/>
    <p:sldId id="381" r:id="rId4"/>
    <p:sldId id="382" r:id="rId5"/>
    <p:sldId id="383" r:id="rId6"/>
    <p:sldId id="384" r:id="rId7"/>
    <p:sldId id="266" r:id="rId8"/>
    <p:sldId id="386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Cache In The memory hierarchy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Cache memory has the fastest access time after registers.</a:t>
            </a:r>
          </a:p>
        </p:txBody>
      </p:sp>
      <p:pic>
        <p:nvPicPr>
          <p:cNvPr id="1044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528" y="2623040"/>
            <a:ext cx="3428096" cy="353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374" y="3276600"/>
            <a:ext cx="5146490" cy="217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142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Why is cache memory needed?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When a program references a memory location, it is likely to reference that same memory location again soon.</a:t>
            </a:r>
          </a:p>
          <a:p>
            <a:r>
              <a:rPr lang="en-US"/>
              <a:t>A memory location that is near a recently referenced location is more likely to be referenced then a memory location that is farther away.</a:t>
            </a:r>
          </a:p>
        </p:txBody>
      </p:sp>
    </p:spTree>
    <p:extLst>
      <p:ext uri="{BB962C8B-B14F-4D97-AF65-F5344CB8AC3E}">
        <p14:creationId xmlns:p14="http://schemas.microsoft.com/office/powerpoint/2010/main" val="325461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Why is cache memory needed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small but fast cache memory, in which the contents of the most commonly accessed locations are maintained, can be placed between the CPU and the main memory.</a:t>
            </a:r>
          </a:p>
          <a:p>
            <a:r>
              <a:rPr lang="en-US"/>
              <a:t>When a program executes, the cache memory is searched first.</a:t>
            </a:r>
          </a:p>
          <a:p>
            <a:pPr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7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Why is cache memory fast?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Faster electronics used</a:t>
            </a:r>
          </a:p>
          <a:p>
            <a:r>
              <a:rPr lang="en-US"/>
              <a:t>A cache memory has fewer locations than a main memory, which reduces the access time</a:t>
            </a:r>
          </a:p>
          <a:p>
            <a:r>
              <a:rPr lang="en-US"/>
              <a:t>The cache is placed both physically closer and logically closer the the CPU than the main memory</a:t>
            </a:r>
          </a:p>
        </p:txBody>
      </p:sp>
    </p:spTree>
    <p:extLst>
      <p:ext uri="{BB962C8B-B14F-4D97-AF65-F5344CB8AC3E}">
        <p14:creationId xmlns:p14="http://schemas.microsoft.com/office/powerpoint/2010/main" val="3036242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Why is cache memory fast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cacheless computer usually needs a few bus cycles to synchronize the CPU with the bus.</a:t>
            </a:r>
          </a:p>
          <a:p>
            <a:r>
              <a:rPr lang="en-US"/>
              <a:t>A cache memory can be positioned closer to the CPU. </a:t>
            </a:r>
          </a:p>
        </p:txBody>
      </p:sp>
      <p:pic>
        <p:nvPicPr>
          <p:cNvPr id="1085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3772474"/>
            <a:ext cx="7600950" cy="2530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249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62226" y="233364"/>
            <a:ext cx="7154863" cy="555625"/>
          </a:xfrm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n-US" altLang="ko-KR" sz="2400" dirty="0">
                <a:solidFill>
                  <a:srgbClr val="C00000"/>
                </a:solidFill>
              </a:rPr>
              <a:t>PERFORMANCE  OF  CACHE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357438" y="1346201"/>
            <a:ext cx="5813644" cy="23334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/>
              <a:t>All the memory accesses are directed first to Cache</a:t>
            </a:r>
          </a:p>
          <a:p>
            <a:pPr defTabSz="762000">
              <a:lnSpc>
                <a:spcPct val="90000"/>
              </a:lnSpc>
            </a:pPr>
            <a:r>
              <a:rPr lang="en-US" altLang="ko-KR"/>
              <a:t>If the word is in Cache; Access cache to provide it to CPU</a:t>
            </a:r>
          </a:p>
          <a:p>
            <a:pPr defTabSz="762000">
              <a:lnSpc>
                <a:spcPct val="90000"/>
              </a:lnSpc>
            </a:pPr>
            <a:r>
              <a:rPr lang="en-US" altLang="ko-KR"/>
              <a:t>If the word is not in Cache; Bring a block (or a line) including</a:t>
            </a:r>
          </a:p>
          <a:p>
            <a:pPr defTabSz="762000">
              <a:lnSpc>
                <a:spcPct val="90000"/>
              </a:lnSpc>
            </a:pPr>
            <a:r>
              <a:rPr lang="en-US" altLang="ko-KR"/>
              <a:t>that word to replace a block now in Cache</a:t>
            </a:r>
          </a:p>
          <a:p>
            <a:pPr defTabSz="762000">
              <a:lnSpc>
                <a:spcPct val="90000"/>
              </a:lnSpc>
            </a:pPr>
            <a:endParaRPr lang="en-US" altLang="ko-KR"/>
          </a:p>
          <a:p>
            <a:pPr defTabSz="762000">
              <a:lnSpc>
                <a:spcPct val="90000"/>
              </a:lnSpc>
            </a:pPr>
            <a:r>
              <a:rPr lang="en-US" altLang="ko-KR"/>
              <a:t>   - How can we know if the word that is required </a:t>
            </a:r>
          </a:p>
          <a:p>
            <a:pPr defTabSz="762000">
              <a:lnSpc>
                <a:spcPct val="90000"/>
              </a:lnSpc>
            </a:pPr>
            <a:r>
              <a:rPr lang="en-US" altLang="ko-KR"/>
              <a:t>     is there ?</a:t>
            </a:r>
          </a:p>
          <a:p>
            <a:pPr defTabSz="762000">
              <a:lnSpc>
                <a:spcPct val="90000"/>
              </a:lnSpc>
            </a:pPr>
            <a:r>
              <a:rPr lang="en-US" altLang="ko-KR"/>
              <a:t>   - If a new block is to replace one of the old blocks,</a:t>
            </a:r>
          </a:p>
          <a:p>
            <a:pPr defTabSz="762000">
              <a:lnSpc>
                <a:spcPct val="90000"/>
              </a:lnSpc>
            </a:pPr>
            <a:r>
              <a:rPr lang="en-US" altLang="ko-KR"/>
              <a:t>     which one should we choose ?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838325" y="954089"/>
            <a:ext cx="1663470" cy="3390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/>
              <a:t>Memory Access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1836739" y="3751264"/>
            <a:ext cx="6825075" cy="28320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dirty="0"/>
              <a:t>Performance of Cache Memory System</a:t>
            </a:r>
          </a:p>
          <a:p>
            <a:pPr defTabSz="762000">
              <a:lnSpc>
                <a:spcPct val="90000"/>
              </a:lnSpc>
            </a:pPr>
            <a:endParaRPr lang="en-US" altLang="ko-KR" dirty="0"/>
          </a:p>
          <a:p>
            <a:pPr defTabSz="762000">
              <a:lnSpc>
                <a:spcPct val="90000"/>
              </a:lnSpc>
            </a:pPr>
            <a:r>
              <a:rPr lang="en-US" altLang="ko-KR" dirty="0"/>
              <a:t>     Hit Ratio - % of memory accesses satisfied by Cache memory system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/>
              <a:t>     Te:  Effective memory access time in Cache memory system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/>
              <a:t>     </a:t>
            </a:r>
            <a:r>
              <a:rPr lang="en-US" altLang="ko-KR" dirty="0" err="1"/>
              <a:t>Tc</a:t>
            </a:r>
            <a:r>
              <a:rPr lang="en-US" altLang="ko-KR" dirty="0"/>
              <a:t>:  Cache access time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/>
              <a:t>     Tm: Main memory access time</a:t>
            </a:r>
          </a:p>
          <a:p>
            <a:pPr defTabSz="762000">
              <a:lnSpc>
                <a:spcPct val="90000"/>
              </a:lnSpc>
            </a:pPr>
            <a:endParaRPr lang="en-US" altLang="ko-KR" dirty="0"/>
          </a:p>
          <a:p>
            <a:pPr defTabSz="762000">
              <a:lnSpc>
                <a:spcPct val="90000"/>
              </a:lnSpc>
            </a:pPr>
            <a:r>
              <a:rPr lang="en-US" altLang="ko-KR" dirty="0"/>
              <a:t>             T</a:t>
            </a:r>
            <a:r>
              <a:rPr lang="en-US" altLang="ko-KR" baseline="-25000" dirty="0"/>
              <a:t>e</a:t>
            </a:r>
            <a:r>
              <a:rPr lang="en-US" altLang="ko-KR" dirty="0"/>
              <a:t> = </a:t>
            </a:r>
            <a:r>
              <a:rPr lang="en-US" altLang="ko-KR" dirty="0" err="1"/>
              <a:t>hT</a:t>
            </a:r>
            <a:r>
              <a:rPr lang="en-US" altLang="ko-KR" baseline="-25000" dirty="0" err="1"/>
              <a:t>c</a:t>
            </a:r>
            <a:r>
              <a:rPr lang="en-US" altLang="ko-KR" dirty="0"/>
              <a:t> + (1 - h) T</a:t>
            </a:r>
            <a:r>
              <a:rPr lang="en-US" altLang="ko-KR" baseline="-25000" dirty="0"/>
              <a:t>m</a:t>
            </a:r>
          </a:p>
          <a:p>
            <a:pPr defTabSz="762000">
              <a:lnSpc>
                <a:spcPct val="90000"/>
              </a:lnSpc>
            </a:pPr>
            <a:endParaRPr lang="en-US" altLang="ko-KR" dirty="0"/>
          </a:p>
          <a:p>
            <a:pPr defTabSz="762000">
              <a:lnSpc>
                <a:spcPct val="90000"/>
              </a:lnSpc>
            </a:pPr>
            <a:r>
              <a:rPr lang="en-US" altLang="ko-KR" dirty="0"/>
              <a:t>             Example: </a:t>
            </a:r>
            <a:r>
              <a:rPr lang="en-US" altLang="ko-KR" dirty="0" err="1"/>
              <a:t>T</a:t>
            </a:r>
            <a:r>
              <a:rPr lang="en-US" altLang="ko-KR" baseline="-25000" dirty="0" err="1"/>
              <a:t>c</a:t>
            </a:r>
            <a:r>
              <a:rPr lang="en-US" altLang="ko-KR" dirty="0"/>
              <a:t> = 0.4 </a:t>
            </a:r>
            <a:r>
              <a:rPr lang="en-US" altLang="ko-KR" dirty="0">
                <a:latin typeface="Symbol" pitchFamily="18" charset="2"/>
              </a:rPr>
              <a:t></a:t>
            </a:r>
            <a:r>
              <a:rPr lang="en-US" altLang="ko-KR" dirty="0"/>
              <a:t>s, T</a:t>
            </a:r>
            <a:r>
              <a:rPr lang="en-US" altLang="ko-KR" baseline="-25000" dirty="0"/>
              <a:t>m</a:t>
            </a:r>
            <a:r>
              <a:rPr lang="en-US" altLang="ko-KR" dirty="0"/>
              <a:t> = 1.2</a:t>
            </a:r>
            <a:r>
              <a:rPr lang="en-US" altLang="ko-KR" dirty="0">
                <a:latin typeface="Symbol" pitchFamily="18" charset="2"/>
              </a:rPr>
              <a:t></a:t>
            </a:r>
            <a:r>
              <a:rPr lang="en-US" altLang="ko-KR" dirty="0"/>
              <a:t>s, h = 0.85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/>
              <a:t>                              T</a:t>
            </a:r>
            <a:r>
              <a:rPr lang="en-US" altLang="ko-KR" baseline="-25000" dirty="0"/>
              <a:t>e</a:t>
            </a:r>
            <a:r>
              <a:rPr lang="en-US" altLang="ko-KR" dirty="0"/>
              <a:t> = 0.85 x 0.4 + (1 - 0.85) x 1.2 = 0.52 </a:t>
            </a:r>
            <a:r>
              <a:rPr lang="en-US" altLang="ko-KR" dirty="0">
                <a:latin typeface="Symbol" pitchFamily="18" charset="2"/>
              </a:rPr>
              <a:t></a:t>
            </a:r>
            <a:r>
              <a:rPr lang="en-US" altLang="ko-KR" dirty="0"/>
              <a:t>s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4775201" y="6065839"/>
            <a:ext cx="447239" cy="3390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/>
              <a:t>     </a:t>
            </a: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2520950" y="2549525"/>
            <a:ext cx="5595938" cy="10874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9275144" y="1"/>
            <a:ext cx="1278556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>
              <a:lnSpc>
                <a:spcPct val="90000"/>
              </a:lnSpc>
            </a:pPr>
            <a:r>
              <a:rPr lang="en-US" altLang="ko-KR" sz="1400" i="1"/>
              <a:t>Cache Memory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Data Reading from Memory with Cache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89" y="885825"/>
            <a:ext cx="6372225" cy="546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6191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408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 Theme</vt:lpstr>
      <vt:lpstr> </vt:lpstr>
      <vt:lpstr>Cache In The memory hierarchy</vt:lpstr>
      <vt:lpstr>Why is cache memory needed?</vt:lpstr>
      <vt:lpstr>Why is cache memory needed</vt:lpstr>
      <vt:lpstr>Why is cache memory fast?</vt:lpstr>
      <vt:lpstr>Why is cache memory fast</vt:lpstr>
      <vt:lpstr>PERFORMANCE  OF  CACHE</vt:lpstr>
      <vt:lpstr>Data Reading from Memory with Cache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38</cp:revision>
  <dcterms:created xsi:type="dcterms:W3CDTF">2020-06-18T04:00:41Z</dcterms:created>
  <dcterms:modified xsi:type="dcterms:W3CDTF">2020-10-16T07:15:47Z</dcterms:modified>
</cp:coreProperties>
</file>