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0" r:id="rId3"/>
    <p:sldId id="322" r:id="rId4"/>
    <p:sldId id="313" r:id="rId5"/>
    <p:sldId id="314" r:id="rId6"/>
    <p:sldId id="315" r:id="rId7"/>
    <p:sldId id="316" r:id="rId8"/>
    <p:sldId id="317" r:id="rId9"/>
    <p:sldId id="319" r:id="rId10"/>
    <p:sldId id="320" r:id="rId11"/>
    <p:sldId id="321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9" d="100"/>
          <a:sy n="79" d="100"/>
        </p:scale>
        <p:origin x="42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05F12C-8765-4736-B3E5-7F972913AC4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C00000"/>
                </a:solidFill>
              </a:rPr>
              <a:t>Types of ROM</a:t>
            </a:r>
          </a:p>
        </p:txBody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US"/>
              <a:t>Written during manufacture</a:t>
            </a:r>
          </a:p>
          <a:p>
            <a:pPr lvl="1" eaLnBrk="1" hangingPunct="1"/>
            <a:r>
              <a:rPr lang="en-US"/>
              <a:t>Very expensive for small runs</a:t>
            </a:r>
          </a:p>
          <a:p>
            <a:pPr eaLnBrk="1" hangingPunct="1"/>
            <a:r>
              <a:rPr lang="en-US"/>
              <a:t>Programmable (once)</a:t>
            </a:r>
          </a:p>
          <a:p>
            <a:pPr lvl="1" eaLnBrk="1" hangingPunct="1"/>
            <a:r>
              <a:rPr lang="en-US"/>
              <a:t>PROM</a:t>
            </a:r>
          </a:p>
          <a:p>
            <a:pPr lvl="1" eaLnBrk="1" hangingPunct="1"/>
            <a:r>
              <a:rPr lang="en-US"/>
              <a:t>Needs special equipment to program</a:t>
            </a:r>
          </a:p>
          <a:p>
            <a:pPr eaLnBrk="1" hangingPunct="1"/>
            <a:r>
              <a:rPr lang="en-US"/>
              <a:t>Read “mostly”</a:t>
            </a:r>
          </a:p>
          <a:p>
            <a:pPr lvl="1" eaLnBrk="1" hangingPunct="1"/>
            <a:r>
              <a:rPr lang="en-US"/>
              <a:t>Erasable Programmable (EPROM)</a:t>
            </a:r>
          </a:p>
          <a:p>
            <a:pPr lvl="2" eaLnBrk="1" hangingPunct="1"/>
            <a:r>
              <a:rPr lang="en-US"/>
              <a:t>Erased by UV</a:t>
            </a:r>
          </a:p>
          <a:p>
            <a:pPr lvl="1" eaLnBrk="1" hangingPunct="1"/>
            <a:r>
              <a:rPr lang="en-US"/>
              <a:t>Electrically Erasable (EEPROM)</a:t>
            </a:r>
          </a:p>
          <a:p>
            <a:pPr lvl="2" eaLnBrk="1" hangingPunct="1"/>
            <a:r>
              <a:rPr lang="en-US"/>
              <a:t>Takes much longer to write than read</a:t>
            </a:r>
          </a:p>
          <a:p>
            <a:pPr lvl="1" eaLnBrk="1" hangingPunct="1"/>
            <a:r>
              <a:rPr lang="en-US"/>
              <a:t>Flash memory</a:t>
            </a:r>
          </a:p>
          <a:p>
            <a:pPr lvl="2" eaLnBrk="1" hangingPunct="1"/>
            <a:r>
              <a:rPr lang="en-US"/>
              <a:t>Erase whole memory electrically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1863" y="274639"/>
            <a:ext cx="7747000" cy="458787"/>
          </a:xfrm>
          <a:noFill/>
          <a:ln/>
        </p:spPr>
        <p:txBody>
          <a:bodyPr anchor="ctr"/>
          <a:lstStyle/>
          <a:p>
            <a:pPr algn="ctr"/>
            <a:r>
              <a:rPr lang="en-US" altLang="ko-KR" sz="2400" b="1" dirty="0">
                <a:solidFill>
                  <a:srgbClr val="C00000"/>
                </a:solidFill>
              </a:rPr>
              <a:t>MAIN  MEMORY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865313" y="942975"/>
            <a:ext cx="2077300" cy="3241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/>
              <a:t>RAM and ROM Chips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157414" y="1274763"/>
            <a:ext cx="1723677" cy="322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/>
              <a:t>Typical RAM chip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157414" y="4738688"/>
            <a:ext cx="1740669" cy="322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/>
              <a:t>Typical ROM chip</a:t>
            </a: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913314" y="191293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752850" y="1790700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1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913314" y="2111375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3752850" y="1985963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2</a:t>
            </a:r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913314" y="230663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4913314" y="250348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4913314" y="2698750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4291014" y="2182813"/>
            <a:ext cx="49423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Read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4291013" y="2378075"/>
            <a:ext cx="529248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Write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3752850" y="2573338"/>
            <a:ext cx="9934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7-bit address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5273675" y="1790700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5273675" y="198596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5273676" y="2182813"/>
            <a:ext cx="360677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5273676" y="2378075"/>
            <a:ext cx="40235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5289550" y="2573338"/>
            <a:ext cx="48090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AD 7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5910263" y="2112964"/>
            <a:ext cx="63479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6002338" y="2273300"/>
            <a:ext cx="4873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RAM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5264150" y="1724026"/>
            <a:ext cx="1536700" cy="11461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Arc 24"/>
          <p:cNvSpPr>
            <a:spLocks/>
          </p:cNvSpPr>
          <p:nvPr/>
        </p:nvSpPr>
        <p:spPr bwMode="auto">
          <a:xfrm>
            <a:off x="7381875" y="2251075"/>
            <a:ext cx="128588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Arc 25"/>
          <p:cNvSpPr>
            <a:spLocks/>
          </p:cNvSpPr>
          <p:nvPr/>
        </p:nvSpPr>
        <p:spPr bwMode="auto">
          <a:xfrm>
            <a:off x="6821488" y="2251075"/>
            <a:ext cx="127000" cy="88900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6935789" y="2298700"/>
            <a:ext cx="4460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7499351" y="2182813"/>
            <a:ext cx="104188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8-bit data bus</a:t>
            </a:r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5372101" y="2006600"/>
            <a:ext cx="282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Rectangle 29"/>
          <p:cNvSpPr>
            <a:spLocks noChangeArrowheads="1"/>
          </p:cNvSpPr>
          <p:nvPr/>
        </p:nvSpPr>
        <p:spPr bwMode="auto">
          <a:xfrm>
            <a:off x="3862388" y="3302001"/>
            <a:ext cx="142988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  CS2     RD    WR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4" name="Rectangle 30"/>
          <p:cNvSpPr>
            <a:spLocks noChangeArrowheads="1"/>
          </p:cNvSpPr>
          <p:nvPr/>
        </p:nvSpPr>
        <p:spPr bwMode="auto">
          <a:xfrm>
            <a:off x="3833813" y="3521076"/>
            <a:ext cx="142667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0        0        x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5" name="Rectangle 31"/>
          <p:cNvSpPr>
            <a:spLocks noChangeArrowheads="1"/>
          </p:cNvSpPr>
          <p:nvPr/>
        </p:nvSpPr>
        <p:spPr bwMode="auto">
          <a:xfrm>
            <a:off x="3833813" y="3681414"/>
            <a:ext cx="142667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0        1        x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3833813" y="3844926"/>
            <a:ext cx="14491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1        0        0        0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7" name="Rectangle 33"/>
          <p:cNvSpPr>
            <a:spLocks noChangeArrowheads="1"/>
          </p:cNvSpPr>
          <p:nvPr/>
        </p:nvSpPr>
        <p:spPr bwMode="auto">
          <a:xfrm>
            <a:off x="3833813" y="4005264"/>
            <a:ext cx="14491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1        0        0        1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8" name="Rectangle 34"/>
          <p:cNvSpPr>
            <a:spLocks noChangeArrowheads="1"/>
          </p:cNvSpPr>
          <p:nvPr/>
        </p:nvSpPr>
        <p:spPr bwMode="auto">
          <a:xfrm>
            <a:off x="3833814" y="4167189"/>
            <a:ext cx="143789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1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9" name="Rectangle 35"/>
          <p:cNvSpPr>
            <a:spLocks noChangeArrowheads="1"/>
          </p:cNvSpPr>
          <p:nvPr/>
        </p:nvSpPr>
        <p:spPr bwMode="auto">
          <a:xfrm>
            <a:off x="3833813" y="4327525"/>
            <a:ext cx="142667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1        x        x</a:t>
            </a:r>
          </a:p>
        </p:txBody>
      </p:sp>
      <p:sp>
        <p:nvSpPr>
          <p:cNvPr id="6180" name="Rectangle 36"/>
          <p:cNvSpPr>
            <a:spLocks noChangeArrowheads="1"/>
          </p:cNvSpPr>
          <p:nvPr/>
        </p:nvSpPr>
        <p:spPr bwMode="auto">
          <a:xfrm>
            <a:off x="5614988" y="3290889"/>
            <a:ext cx="127515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Memory function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5586413" y="350837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2" name="Rectangle 38"/>
          <p:cNvSpPr>
            <a:spLocks noChangeArrowheads="1"/>
          </p:cNvSpPr>
          <p:nvPr/>
        </p:nvSpPr>
        <p:spPr bwMode="auto">
          <a:xfrm>
            <a:off x="5586413" y="3671889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3" name="Rectangle 39"/>
          <p:cNvSpPr>
            <a:spLocks noChangeArrowheads="1"/>
          </p:cNvSpPr>
          <p:nvPr/>
        </p:nvSpPr>
        <p:spPr bwMode="auto">
          <a:xfrm>
            <a:off x="5586413" y="383222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4" name="Rectangle 40"/>
          <p:cNvSpPr>
            <a:spLocks noChangeArrowheads="1"/>
          </p:cNvSpPr>
          <p:nvPr/>
        </p:nvSpPr>
        <p:spPr bwMode="auto">
          <a:xfrm>
            <a:off x="5586414" y="3994151"/>
            <a:ext cx="70557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Write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5" name="Rectangle 41"/>
          <p:cNvSpPr>
            <a:spLocks noChangeArrowheads="1"/>
          </p:cNvSpPr>
          <p:nvPr/>
        </p:nvSpPr>
        <p:spPr bwMode="auto">
          <a:xfrm>
            <a:off x="5586414" y="4156076"/>
            <a:ext cx="67056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Read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6" name="Rectangle 42"/>
          <p:cNvSpPr>
            <a:spLocks noChangeArrowheads="1"/>
          </p:cNvSpPr>
          <p:nvPr/>
        </p:nvSpPr>
        <p:spPr bwMode="auto">
          <a:xfrm>
            <a:off x="5586413" y="431482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7" name="Rectangle 43"/>
          <p:cNvSpPr>
            <a:spLocks noChangeArrowheads="1"/>
          </p:cNvSpPr>
          <p:nvPr/>
        </p:nvSpPr>
        <p:spPr bwMode="auto">
          <a:xfrm>
            <a:off x="5586414" y="4476750"/>
            <a:ext cx="25327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</a:t>
            </a:r>
          </a:p>
        </p:txBody>
      </p:sp>
      <p:sp>
        <p:nvSpPr>
          <p:cNvPr id="6188" name="Rectangle 44"/>
          <p:cNvSpPr>
            <a:spLocks noChangeArrowheads="1"/>
          </p:cNvSpPr>
          <p:nvPr/>
        </p:nvSpPr>
        <p:spPr bwMode="auto">
          <a:xfrm>
            <a:off x="7070725" y="3290889"/>
            <a:ext cx="123251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State of data bus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9" name="Rectangle 45"/>
          <p:cNvSpPr>
            <a:spLocks noChangeArrowheads="1"/>
          </p:cNvSpPr>
          <p:nvPr/>
        </p:nvSpPr>
        <p:spPr bwMode="auto">
          <a:xfrm>
            <a:off x="7042151" y="3508376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7042151" y="3673476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1" name="Rectangle 47"/>
          <p:cNvSpPr>
            <a:spLocks noChangeArrowheads="1"/>
          </p:cNvSpPr>
          <p:nvPr/>
        </p:nvSpPr>
        <p:spPr bwMode="auto">
          <a:xfrm>
            <a:off x="7042151" y="3833814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7042150" y="3994151"/>
            <a:ext cx="133055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Input data to RAM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3" name="Rectangle 49"/>
          <p:cNvSpPr>
            <a:spLocks noChangeArrowheads="1"/>
          </p:cNvSpPr>
          <p:nvPr/>
        </p:nvSpPr>
        <p:spPr bwMode="auto">
          <a:xfrm>
            <a:off x="7042151" y="4154489"/>
            <a:ext cx="161646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Output data from RAM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4" name="Rectangle 50"/>
          <p:cNvSpPr>
            <a:spLocks noChangeArrowheads="1"/>
          </p:cNvSpPr>
          <p:nvPr/>
        </p:nvSpPr>
        <p:spPr bwMode="auto">
          <a:xfrm>
            <a:off x="7042151" y="4316414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5" name="Line 51"/>
          <p:cNvSpPr>
            <a:spLocks noChangeShapeType="1"/>
          </p:cNvSpPr>
          <p:nvPr/>
        </p:nvSpPr>
        <p:spPr bwMode="auto">
          <a:xfrm>
            <a:off x="3848100" y="3524250"/>
            <a:ext cx="4948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6" name="Line 52"/>
          <p:cNvSpPr>
            <a:spLocks noChangeShapeType="1"/>
          </p:cNvSpPr>
          <p:nvPr/>
        </p:nvSpPr>
        <p:spPr bwMode="auto">
          <a:xfrm>
            <a:off x="3848100" y="4533900"/>
            <a:ext cx="4948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7" name="Line 53"/>
          <p:cNvSpPr>
            <a:spLocks noChangeShapeType="1"/>
          </p:cNvSpPr>
          <p:nvPr/>
        </p:nvSpPr>
        <p:spPr bwMode="auto">
          <a:xfrm>
            <a:off x="5594350" y="3360738"/>
            <a:ext cx="0" cy="11731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8" name="Line 54"/>
          <p:cNvSpPr>
            <a:spLocks noChangeShapeType="1"/>
          </p:cNvSpPr>
          <p:nvPr/>
        </p:nvSpPr>
        <p:spPr bwMode="auto">
          <a:xfrm>
            <a:off x="6969125" y="3360738"/>
            <a:ext cx="0" cy="11731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9" name="Line 55"/>
          <p:cNvSpPr>
            <a:spLocks noChangeShapeType="1"/>
          </p:cNvSpPr>
          <p:nvPr/>
        </p:nvSpPr>
        <p:spPr bwMode="auto">
          <a:xfrm>
            <a:off x="4360864" y="3343275"/>
            <a:ext cx="282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1" name="Line 57"/>
          <p:cNvSpPr>
            <a:spLocks noChangeShapeType="1"/>
          </p:cNvSpPr>
          <p:nvPr/>
        </p:nvSpPr>
        <p:spPr bwMode="auto">
          <a:xfrm>
            <a:off x="4129089" y="5395913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2" name="Rectangle 58"/>
          <p:cNvSpPr>
            <a:spLocks noChangeArrowheads="1"/>
          </p:cNvSpPr>
          <p:nvPr/>
        </p:nvSpPr>
        <p:spPr bwMode="auto">
          <a:xfrm>
            <a:off x="3068638" y="5267325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1</a:t>
            </a:r>
          </a:p>
        </p:txBody>
      </p:sp>
      <p:sp>
        <p:nvSpPr>
          <p:cNvPr id="6203" name="Line 59"/>
          <p:cNvSpPr>
            <a:spLocks noChangeShapeType="1"/>
          </p:cNvSpPr>
          <p:nvPr/>
        </p:nvSpPr>
        <p:spPr bwMode="auto">
          <a:xfrm>
            <a:off x="4129089" y="5599113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4" name="Rectangle 60"/>
          <p:cNvSpPr>
            <a:spLocks noChangeArrowheads="1"/>
          </p:cNvSpPr>
          <p:nvPr/>
        </p:nvSpPr>
        <p:spPr bwMode="auto">
          <a:xfrm>
            <a:off x="3068638" y="5472113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2</a:t>
            </a:r>
          </a:p>
        </p:txBody>
      </p:sp>
      <p:sp>
        <p:nvSpPr>
          <p:cNvPr id="6205" name="Line 61"/>
          <p:cNvSpPr>
            <a:spLocks noChangeShapeType="1"/>
          </p:cNvSpPr>
          <p:nvPr/>
        </p:nvSpPr>
        <p:spPr bwMode="auto">
          <a:xfrm>
            <a:off x="4129089" y="6207125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6" name="Rectangle 62"/>
          <p:cNvSpPr>
            <a:spLocks noChangeArrowheads="1"/>
          </p:cNvSpPr>
          <p:nvPr/>
        </p:nvSpPr>
        <p:spPr bwMode="auto">
          <a:xfrm>
            <a:off x="3068638" y="6078538"/>
            <a:ext cx="9934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9-bit address</a:t>
            </a:r>
          </a:p>
        </p:txBody>
      </p:sp>
      <p:sp>
        <p:nvSpPr>
          <p:cNvPr id="6207" name="Rectangle 63"/>
          <p:cNvSpPr>
            <a:spLocks noChangeArrowheads="1"/>
          </p:cNvSpPr>
          <p:nvPr/>
        </p:nvSpPr>
        <p:spPr bwMode="auto">
          <a:xfrm>
            <a:off x="4459288" y="525621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6208" name="Rectangle 64"/>
          <p:cNvSpPr>
            <a:spLocks noChangeArrowheads="1"/>
          </p:cNvSpPr>
          <p:nvPr/>
        </p:nvSpPr>
        <p:spPr bwMode="auto">
          <a:xfrm>
            <a:off x="4459288" y="545941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6209" name="Rectangle 65"/>
          <p:cNvSpPr>
            <a:spLocks noChangeArrowheads="1"/>
          </p:cNvSpPr>
          <p:nvPr/>
        </p:nvSpPr>
        <p:spPr bwMode="auto">
          <a:xfrm>
            <a:off x="4471988" y="6091238"/>
            <a:ext cx="48090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AD 9</a:t>
            </a:r>
          </a:p>
        </p:txBody>
      </p:sp>
      <p:sp>
        <p:nvSpPr>
          <p:cNvPr id="6210" name="Rectangle 66"/>
          <p:cNvSpPr>
            <a:spLocks noChangeArrowheads="1"/>
          </p:cNvSpPr>
          <p:nvPr/>
        </p:nvSpPr>
        <p:spPr bwMode="auto">
          <a:xfrm>
            <a:off x="5049838" y="5613401"/>
            <a:ext cx="63479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512 x 8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211" name="Rectangle 67"/>
          <p:cNvSpPr>
            <a:spLocks noChangeArrowheads="1"/>
          </p:cNvSpPr>
          <p:nvPr/>
        </p:nvSpPr>
        <p:spPr bwMode="auto">
          <a:xfrm>
            <a:off x="5137150" y="5781675"/>
            <a:ext cx="498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ROM</a:t>
            </a:r>
          </a:p>
        </p:txBody>
      </p:sp>
      <p:sp>
        <p:nvSpPr>
          <p:cNvPr id="6212" name="Rectangle 68"/>
          <p:cNvSpPr>
            <a:spLocks noChangeArrowheads="1"/>
          </p:cNvSpPr>
          <p:nvPr/>
        </p:nvSpPr>
        <p:spPr bwMode="auto">
          <a:xfrm>
            <a:off x="4440239" y="5200650"/>
            <a:ext cx="1412875" cy="1200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3" name="Arc 69"/>
          <p:cNvSpPr>
            <a:spLocks/>
          </p:cNvSpPr>
          <p:nvPr/>
        </p:nvSpPr>
        <p:spPr bwMode="auto">
          <a:xfrm>
            <a:off x="6383339" y="5745164"/>
            <a:ext cx="117475" cy="90487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4" name="Line 70"/>
          <p:cNvSpPr>
            <a:spLocks noChangeShapeType="1"/>
          </p:cNvSpPr>
          <p:nvPr/>
        </p:nvSpPr>
        <p:spPr bwMode="auto">
          <a:xfrm>
            <a:off x="5868989" y="5792788"/>
            <a:ext cx="5222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5" name="Rectangle 71"/>
          <p:cNvSpPr>
            <a:spLocks noChangeArrowheads="1"/>
          </p:cNvSpPr>
          <p:nvPr/>
        </p:nvSpPr>
        <p:spPr bwMode="auto">
          <a:xfrm>
            <a:off x="6491289" y="5661025"/>
            <a:ext cx="104188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8-bit data bus</a:t>
            </a:r>
          </a:p>
        </p:txBody>
      </p:sp>
      <p:sp>
        <p:nvSpPr>
          <p:cNvPr id="6216" name="Line 72"/>
          <p:cNvSpPr>
            <a:spLocks noChangeShapeType="1"/>
          </p:cNvSpPr>
          <p:nvPr/>
        </p:nvSpPr>
        <p:spPr bwMode="auto">
          <a:xfrm>
            <a:off x="4548189" y="5491163"/>
            <a:ext cx="2952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8" name="Rectangle 74"/>
          <p:cNvSpPr>
            <a:spLocks noChangeArrowheads="1"/>
          </p:cNvSpPr>
          <p:nvPr/>
        </p:nvSpPr>
        <p:spPr bwMode="auto">
          <a:xfrm>
            <a:off x="9448754" y="1"/>
            <a:ext cx="121924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Main Memory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Random Access Memory (RAM)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Sequential circuits all depend upon the presence of memory.</a:t>
            </a:r>
          </a:p>
          <a:p>
            <a:pPr lvl="1"/>
            <a:r>
              <a:rPr lang="en-US" sz="1400"/>
              <a:t>A flip-flop can store one bit of information.</a:t>
            </a:r>
          </a:p>
          <a:p>
            <a:pPr lvl="1"/>
            <a:r>
              <a:rPr lang="en-US" sz="1400"/>
              <a:t>A register can store a single “word,” typically 32-64 bits.</a:t>
            </a:r>
          </a:p>
          <a:p>
            <a:pPr>
              <a:buClr>
                <a:schemeClr val="tx1"/>
              </a:buClr>
            </a:pPr>
            <a:r>
              <a:rPr lang="en-US" sz="1800">
                <a:solidFill>
                  <a:srgbClr val="FF0033"/>
                </a:solidFill>
              </a:rPr>
              <a:t>Random access memory</a:t>
            </a:r>
            <a:r>
              <a:rPr lang="en-US" sz="1800"/>
              <a:t>, or </a:t>
            </a:r>
            <a:r>
              <a:rPr lang="en-US" sz="1800">
                <a:solidFill>
                  <a:srgbClr val="FF0033"/>
                </a:solidFill>
              </a:rPr>
              <a:t>RAM</a:t>
            </a:r>
            <a:r>
              <a:rPr lang="en-US" sz="1800"/>
              <a:t>, allows us to store even larger amounts of data. Today we’ll see:</a:t>
            </a:r>
          </a:p>
          <a:p>
            <a:pPr lvl="1"/>
            <a:r>
              <a:rPr lang="en-US" sz="1400"/>
              <a:t>The basic interface to memory.</a:t>
            </a:r>
          </a:p>
          <a:p>
            <a:pPr lvl="1"/>
            <a:r>
              <a:rPr lang="en-US" sz="1400"/>
              <a:t>How you can implement static RAM chips hierarchically.</a:t>
            </a:r>
          </a:p>
          <a:p>
            <a:r>
              <a:rPr lang="en-US" sz="1800"/>
              <a:t>This is the last piece we need to put together a computer!</a:t>
            </a:r>
          </a:p>
        </p:txBody>
      </p:sp>
      <p:graphicFrame>
        <p:nvGraphicFramePr>
          <p:cNvPr id="377861" name="Object 5"/>
          <p:cNvGraphicFramePr>
            <a:graphicFrameLocks noChangeAspect="1"/>
          </p:cNvGraphicFramePr>
          <p:nvPr/>
        </p:nvGraphicFramePr>
        <p:xfrm>
          <a:off x="4876800" y="3962401"/>
          <a:ext cx="2438400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Clip" r:id="rId3" imgW="3992400" imgH="3468960" progId="">
                  <p:embed/>
                </p:oleObj>
              </mc:Choice>
              <mc:Fallback>
                <p:oleObj name="Clip" r:id="rId3" imgW="3992400" imgH="3468960" progId="">
                  <p:embed/>
                  <p:pic>
                    <p:nvPicPr>
                      <p:cNvPr id="3778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962401"/>
                        <a:ext cx="2438400" cy="211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0643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Introduction to RAM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72209"/>
            <a:ext cx="10515600" cy="4904754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1800" dirty="0">
                <a:solidFill>
                  <a:srgbClr val="FF0033"/>
                </a:solidFill>
              </a:rPr>
              <a:t>Random-access memory</a:t>
            </a:r>
            <a:r>
              <a:rPr lang="en-US" sz="1800" dirty="0"/>
              <a:t>, or </a:t>
            </a:r>
            <a:r>
              <a:rPr lang="en-US" sz="1800" dirty="0">
                <a:solidFill>
                  <a:srgbClr val="FF0033"/>
                </a:solidFill>
              </a:rPr>
              <a:t>RAM</a:t>
            </a:r>
            <a:r>
              <a:rPr lang="en-US" sz="1800" dirty="0"/>
              <a:t>, provides large quantities of temporary storage in a computer system.</a:t>
            </a:r>
            <a:r>
              <a:rPr lang="en-US" sz="1800" dirty="0">
                <a:solidFill>
                  <a:srgbClr val="FF0033"/>
                </a:solidFill>
              </a:rPr>
              <a:t> </a:t>
            </a:r>
            <a:endParaRPr lang="en-US" sz="1800" dirty="0"/>
          </a:p>
          <a:p>
            <a:r>
              <a:rPr lang="en-US" sz="1800" dirty="0"/>
              <a:t>Remember the basic capabilities of a memory: </a:t>
            </a:r>
          </a:p>
          <a:p>
            <a:pPr lvl="1"/>
            <a:r>
              <a:rPr lang="en-US" sz="1800" dirty="0"/>
              <a:t>It should be able to store a value.</a:t>
            </a:r>
          </a:p>
          <a:p>
            <a:pPr lvl="1"/>
            <a:r>
              <a:rPr lang="en-US" sz="1800" dirty="0"/>
              <a:t>You should be able to read the value that was saved.</a:t>
            </a:r>
          </a:p>
          <a:p>
            <a:pPr lvl="1"/>
            <a:r>
              <a:rPr lang="en-US" sz="1800" dirty="0"/>
              <a:t>You should be able to change the stored value.</a:t>
            </a:r>
          </a:p>
          <a:p>
            <a:r>
              <a:rPr lang="en-US" sz="1800" dirty="0"/>
              <a:t>A RAM is similar, except that it can store </a:t>
            </a:r>
            <a:r>
              <a:rPr lang="en-US" sz="1800" i="1" dirty="0"/>
              <a:t>many</a:t>
            </a:r>
            <a:r>
              <a:rPr lang="en-US" sz="1800" dirty="0"/>
              <a:t> values.</a:t>
            </a:r>
          </a:p>
          <a:p>
            <a:pPr lvl="1"/>
            <a:r>
              <a:rPr lang="en-US" sz="1800" dirty="0"/>
              <a:t>An </a:t>
            </a:r>
            <a:r>
              <a:rPr lang="en-US" sz="1800" dirty="0">
                <a:solidFill>
                  <a:srgbClr val="FF0033"/>
                </a:solidFill>
              </a:rPr>
              <a:t>address</a:t>
            </a:r>
            <a:r>
              <a:rPr lang="en-US" sz="1800" dirty="0"/>
              <a:t> will specify which memory value we’re interested in.</a:t>
            </a:r>
          </a:p>
          <a:p>
            <a:pPr lvl="1"/>
            <a:r>
              <a:rPr lang="en-US" sz="1800" dirty="0"/>
              <a:t>Each value can be a multiple-bit </a:t>
            </a:r>
            <a:r>
              <a:rPr lang="en-US" sz="1800" dirty="0">
                <a:solidFill>
                  <a:srgbClr val="FF0033"/>
                </a:solidFill>
              </a:rPr>
              <a:t>word </a:t>
            </a:r>
            <a:r>
              <a:rPr lang="en-US" sz="1800" dirty="0"/>
              <a:t>(e.g., 32 bits).</a:t>
            </a:r>
          </a:p>
          <a:p>
            <a:r>
              <a:rPr lang="en-US" sz="1800" dirty="0"/>
              <a:t>We’ll refine the memory properties as follows:</a:t>
            </a:r>
          </a:p>
          <a:p>
            <a:pPr>
              <a:buClr>
                <a:schemeClr val="tx1"/>
              </a:buClr>
            </a:pPr>
            <a:endParaRPr lang="en-US" sz="160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71800" y="4343400"/>
            <a:ext cx="6324600" cy="1524000"/>
            <a:chOff x="912" y="2688"/>
            <a:chExt cx="3984" cy="960"/>
          </a:xfrm>
        </p:grpSpPr>
        <p:sp>
          <p:nvSpPr>
            <p:cNvPr id="418822" name="Rectangle 6"/>
            <p:cNvSpPr>
              <a:spLocks noChangeArrowheads="1"/>
            </p:cNvSpPr>
            <p:nvPr/>
          </p:nvSpPr>
          <p:spPr bwMode="auto">
            <a:xfrm>
              <a:off x="912" y="2688"/>
              <a:ext cx="3984" cy="960"/>
            </a:xfrm>
            <a:prstGeom prst="rect">
              <a:avLst/>
            </a:prstGeom>
            <a:solidFill>
              <a:srgbClr val="DDDDDD"/>
            </a:solidFill>
            <a:ln w="25400">
              <a:noFill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823" name="Text Box 7"/>
            <p:cNvSpPr txBox="1">
              <a:spLocks noChangeArrowheads="1"/>
            </p:cNvSpPr>
            <p:nvPr/>
          </p:nvSpPr>
          <p:spPr bwMode="auto">
            <a:xfrm>
              <a:off x="960" y="2736"/>
              <a:ext cx="3387" cy="861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/>
                <a:t>A RAM should be able to:</a:t>
              </a:r>
            </a:p>
            <a:p>
              <a:pPr marL="114300" lvl="1">
                <a:spcBef>
                  <a:spcPct val="20000"/>
                </a:spcBef>
              </a:pPr>
              <a:r>
                <a:rPr lang="en-US"/>
                <a:t>- Store many words, one per address</a:t>
              </a:r>
            </a:p>
            <a:p>
              <a:pPr marL="114300" lvl="1">
                <a:spcBef>
                  <a:spcPct val="20000"/>
                </a:spcBef>
              </a:pPr>
              <a:r>
                <a:rPr lang="en-US"/>
                <a:t>- Read the word that was saved at a particular address</a:t>
              </a:r>
            </a:p>
            <a:p>
              <a:pPr marL="114300" lvl="1">
                <a:spcBef>
                  <a:spcPct val="20000"/>
                </a:spcBef>
              </a:pPr>
              <a:r>
                <a:rPr lang="en-US"/>
                <a:t>- Change the word that’s saved at a particular address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143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Picture of memory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5638800" cy="5181600"/>
          </a:xfrm>
        </p:spPr>
        <p:txBody>
          <a:bodyPr>
            <a:normAutofit lnSpcReduction="10000"/>
          </a:bodyPr>
          <a:lstStyle/>
          <a:p>
            <a:r>
              <a:rPr lang="en-US"/>
              <a:t>You can think of computer memory as being one big array of data.</a:t>
            </a:r>
          </a:p>
          <a:p>
            <a:pPr lvl="1"/>
            <a:r>
              <a:rPr lang="en-US"/>
              <a:t>The address serves as an array index.</a:t>
            </a:r>
          </a:p>
          <a:p>
            <a:pPr lvl="1"/>
            <a:r>
              <a:rPr lang="en-US"/>
              <a:t>Each address refers to one word of data.</a:t>
            </a:r>
          </a:p>
          <a:p>
            <a:r>
              <a:rPr lang="en-US"/>
              <a:t>You can read or modify the data at any given memory address, just like you can read or modify the contents of an array at any given index.</a:t>
            </a:r>
          </a:p>
          <a:p>
            <a:r>
              <a:rPr lang="en-US"/>
              <a:t>If you’ve worked with pointers in C or C++, then you’ve already worked with memory addresses.</a:t>
            </a:r>
          </a:p>
        </p:txBody>
      </p:sp>
      <p:graphicFrame>
        <p:nvGraphicFramePr>
          <p:cNvPr id="450560" name="Object 0"/>
          <p:cNvGraphicFramePr>
            <a:graphicFrameLocks noChangeAspect="1"/>
          </p:cNvGraphicFramePr>
          <p:nvPr/>
        </p:nvGraphicFramePr>
        <p:xfrm>
          <a:off x="7696200" y="838200"/>
          <a:ext cx="2673350" cy="534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Document" r:id="rId3" imgW="2667960" imgH="5339160" progId="Word.Document.8">
                  <p:embed/>
                </p:oleObj>
              </mc:Choice>
              <mc:Fallback>
                <p:oleObj name="Document" r:id="rId3" imgW="2667960" imgH="5339160" progId="Word.Document.8">
                  <p:embed/>
                  <p:pic>
                    <p:nvPicPr>
                      <p:cNvPr id="4505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838200"/>
                        <a:ext cx="2673350" cy="534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3714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Block diagram of RAM</a:t>
            </a:r>
          </a:p>
        </p:txBody>
      </p:sp>
      <p:sp>
        <p:nvSpPr>
          <p:cNvPr id="4229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8305800" cy="5181600"/>
          </a:xfrm>
        </p:spPr>
        <p:txBody>
          <a:bodyPr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This block diagram introduces the main interface to RAM. </a:t>
            </a:r>
          </a:p>
          <a:p>
            <a:pPr lvl="1"/>
            <a:r>
              <a:rPr lang="en-US" sz="1400"/>
              <a:t>A Chip Select, </a:t>
            </a:r>
            <a:r>
              <a:rPr lang="en-US" sz="1400">
                <a:solidFill>
                  <a:srgbClr val="FF0033"/>
                </a:solidFill>
              </a:rPr>
              <a:t>CS</a:t>
            </a:r>
            <a:r>
              <a:rPr lang="en-US" sz="1400"/>
              <a:t>, enables or disables the RAM.</a:t>
            </a:r>
          </a:p>
          <a:p>
            <a:pPr lvl="1">
              <a:buClr>
                <a:schemeClr val="tx1"/>
              </a:buClr>
            </a:pPr>
            <a:r>
              <a:rPr lang="en-US" sz="1400">
                <a:solidFill>
                  <a:srgbClr val="FF0033"/>
                </a:solidFill>
              </a:rPr>
              <a:t>ADRS</a:t>
            </a:r>
            <a:r>
              <a:rPr lang="en-US" sz="1400"/>
              <a:t> specifies the address or location to read from or write to.</a:t>
            </a:r>
          </a:p>
          <a:p>
            <a:pPr lvl="1">
              <a:buClr>
                <a:schemeClr val="tx1"/>
              </a:buClr>
            </a:pPr>
            <a:r>
              <a:rPr lang="en-US" sz="1400">
                <a:solidFill>
                  <a:srgbClr val="FF0033"/>
                </a:solidFill>
              </a:rPr>
              <a:t>WR</a:t>
            </a:r>
            <a:r>
              <a:rPr lang="en-US" sz="1400"/>
              <a:t> selects between reading from or writing to the memory.</a:t>
            </a:r>
          </a:p>
          <a:p>
            <a:pPr lvl="2">
              <a:buSzTx/>
              <a:buFont typeface="Webdings" pitchFamily="18" charset="2"/>
              <a:buChar char="4"/>
            </a:pPr>
            <a:r>
              <a:rPr lang="en-US" sz="1400"/>
              <a:t>To read</a:t>
            </a:r>
            <a:r>
              <a:rPr lang="en-US" sz="1400" i="1"/>
              <a:t> </a:t>
            </a:r>
            <a:r>
              <a:rPr lang="en-US" sz="1400"/>
              <a:t>from memory, WR should be set to 0.</a:t>
            </a:r>
          </a:p>
          <a:p>
            <a:pPr lvl="2">
              <a:spcBef>
                <a:spcPct val="0"/>
              </a:spcBef>
              <a:buSzTx/>
              <a:buFont typeface="Webdings" pitchFamily="18" charset="2"/>
              <a:buNone/>
            </a:pPr>
            <a:r>
              <a:rPr lang="en-US" sz="1400">
                <a:solidFill>
                  <a:srgbClr val="FF0033"/>
                </a:solidFill>
              </a:rPr>
              <a:t>	OUT</a:t>
            </a:r>
            <a:r>
              <a:rPr lang="en-US" sz="1400"/>
              <a:t> will be the n-bit value stored at ADRS.</a:t>
            </a:r>
          </a:p>
          <a:p>
            <a:pPr lvl="2">
              <a:buSzTx/>
              <a:buFont typeface="Webdings" pitchFamily="18" charset="2"/>
              <a:buChar char="4"/>
            </a:pPr>
            <a:r>
              <a:rPr lang="en-US" sz="1400"/>
              <a:t>To write to memory, we set WR = 1.</a:t>
            </a:r>
          </a:p>
          <a:p>
            <a:pPr lvl="2">
              <a:spcBef>
                <a:spcPct val="0"/>
              </a:spcBef>
              <a:buSzTx/>
              <a:buFont typeface="Webdings" pitchFamily="18" charset="2"/>
              <a:buNone/>
            </a:pPr>
            <a:r>
              <a:rPr lang="en-US" sz="1400">
                <a:solidFill>
                  <a:srgbClr val="FF0033"/>
                </a:solidFill>
              </a:rPr>
              <a:t>	DATA</a:t>
            </a:r>
            <a:r>
              <a:rPr lang="en-US" sz="1400"/>
              <a:t> is the n-bit value to save in memory.</a:t>
            </a:r>
          </a:p>
          <a:p>
            <a:r>
              <a:rPr lang="en-US" sz="1800"/>
              <a:t>This interface makes it easy to combine RAMs together, as we’ll see.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2514600" y="1066801"/>
            <a:ext cx="3352800" cy="1830388"/>
            <a:chOff x="624" y="1488"/>
            <a:chExt cx="2112" cy="1153"/>
          </a:xfrm>
        </p:grpSpPr>
        <p:sp>
          <p:nvSpPr>
            <p:cNvPr id="422917" name="Text Box 1029"/>
            <p:cNvSpPr txBox="1">
              <a:spLocks noChangeArrowheads="1"/>
            </p:cNvSpPr>
            <p:nvPr/>
          </p:nvSpPr>
          <p:spPr bwMode="auto">
            <a:xfrm>
              <a:off x="1104" y="1536"/>
              <a:ext cx="1064" cy="1105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1082675" algn="l"/>
                </a:tabLst>
              </a:pPr>
              <a:r>
                <a:rPr lang="en-US"/>
                <a:t> 2</a:t>
              </a:r>
              <a:r>
                <a:rPr lang="en-US" baseline="30000"/>
                <a:t>k</a:t>
              </a:r>
              <a:r>
                <a:rPr lang="en-US"/>
                <a:t> x n memory</a:t>
              </a:r>
            </a:p>
            <a:p>
              <a:pPr>
                <a:tabLst>
                  <a:tab pos="1082675" algn="l"/>
                </a:tabLst>
              </a:pPr>
              <a:endParaRPr lang="en-US"/>
            </a:p>
            <a:p>
              <a:pPr>
                <a:tabLst>
                  <a:tab pos="1082675" algn="l"/>
                </a:tabLst>
              </a:pPr>
              <a:r>
                <a:rPr lang="en-US"/>
                <a:t>ADRS	OUT</a:t>
              </a:r>
            </a:p>
            <a:p>
              <a:pPr>
                <a:tabLst>
                  <a:tab pos="1082675" algn="l"/>
                </a:tabLst>
              </a:pPr>
              <a:r>
                <a:rPr lang="en-US"/>
                <a:t>DATA</a:t>
              </a:r>
              <a:br>
                <a:rPr lang="en-US"/>
              </a:br>
              <a:r>
                <a:rPr lang="en-US"/>
                <a:t>CS</a:t>
              </a:r>
            </a:p>
            <a:p>
              <a:pPr>
                <a:tabLst>
                  <a:tab pos="1082675" algn="l"/>
                </a:tabLst>
              </a:pPr>
              <a:r>
                <a:rPr lang="en-US"/>
                <a:t>WR</a:t>
              </a:r>
            </a:p>
          </p:txBody>
        </p:sp>
        <p:grpSp>
          <p:nvGrpSpPr>
            <p:cNvPr id="3" name="Group 1030"/>
            <p:cNvGrpSpPr>
              <a:grpSpLocks/>
            </p:cNvGrpSpPr>
            <p:nvPr/>
          </p:nvGrpSpPr>
          <p:grpSpPr bwMode="auto">
            <a:xfrm>
              <a:off x="624" y="1488"/>
              <a:ext cx="2112" cy="1152"/>
              <a:chOff x="624" y="1488"/>
              <a:chExt cx="2112" cy="1152"/>
            </a:xfrm>
          </p:grpSpPr>
          <p:sp>
            <p:nvSpPr>
              <p:cNvPr id="422919" name="Rectangle 1031"/>
              <p:cNvSpPr>
                <a:spLocks noChangeArrowheads="1"/>
              </p:cNvSpPr>
              <p:nvPr/>
            </p:nvSpPr>
            <p:spPr bwMode="auto">
              <a:xfrm>
                <a:off x="1104" y="1488"/>
                <a:ext cx="1152" cy="11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20" name="Line 1032"/>
              <p:cNvSpPr>
                <a:spLocks noChangeShapeType="1"/>
              </p:cNvSpPr>
              <p:nvPr/>
            </p:nvSpPr>
            <p:spPr bwMode="auto">
              <a:xfrm>
                <a:off x="624" y="233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21" name="Line 1033"/>
              <p:cNvSpPr>
                <a:spLocks noChangeShapeType="1"/>
              </p:cNvSpPr>
              <p:nvPr/>
            </p:nvSpPr>
            <p:spPr bwMode="auto">
              <a:xfrm>
                <a:off x="624" y="249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034"/>
              <p:cNvGrpSpPr>
                <a:grpSpLocks/>
              </p:cNvGrpSpPr>
              <p:nvPr/>
            </p:nvGrpSpPr>
            <p:grpSpPr bwMode="auto">
              <a:xfrm>
                <a:off x="624" y="1824"/>
                <a:ext cx="480" cy="240"/>
                <a:chOff x="624" y="1824"/>
                <a:chExt cx="480" cy="240"/>
              </a:xfrm>
            </p:grpSpPr>
            <p:sp>
              <p:nvSpPr>
                <p:cNvPr id="422923" name="Line 1035"/>
                <p:cNvSpPr>
                  <a:spLocks noChangeShapeType="1"/>
                </p:cNvSpPr>
                <p:nvPr/>
              </p:nvSpPr>
              <p:spPr bwMode="auto">
                <a:xfrm>
                  <a:off x="624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036"/>
                <p:cNvGrpSpPr>
                  <a:grpSpLocks/>
                </p:cNvGrpSpPr>
                <p:nvPr/>
              </p:nvGrpSpPr>
              <p:grpSpPr bwMode="auto">
                <a:xfrm>
                  <a:off x="672" y="1824"/>
                  <a:ext cx="192" cy="240"/>
                  <a:chOff x="672" y="1824"/>
                  <a:chExt cx="192" cy="240"/>
                </a:xfrm>
              </p:grpSpPr>
              <p:sp>
                <p:nvSpPr>
                  <p:cNvPr id="422925" name="Line 10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920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2926" name="Text Box 10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824"/>
                    <a:ext cx="175" cy="213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k</a:t>
                    </a:r>
                    <a:endParaRPr lang="en-US"/>
                  </a:p>
                </p:txBody>
              </p:sp>
            </p:grpSp>
          </p:grpSp>
          <p:grpSp>
            <p:nvGrpSpPr>
              <p:cNvPr id="6" name="Group 1039"/>
              <p:cNvGrpSpPr>
                <a:grpSpLocks/>
              </p:cNvGrpSpPr>
              <p:nvPr/>
            </p:nvGrpSpPr>
            <p:grpSpPr bwMode="auto">
              <a:xfrm>
                <a:off x="624" y="1984"/>
                <a:ext cx="480" cy="240"/>
                <a:chOff x="624" y="1968"/>
                <a:chExt cx="480" cy="240"/>
              </a:xfrm>
            </p:grpSpPr>
            <p:sp>
              <p:nvSpPr>
                <p:cNvPr id="422928" name="Line 1040"/>
                <p:cNvSpPr>
                  <a:spLocks noChangeShapeType="1"/>
                </p:cNvSpPr>
                <p:nvPr/>
              </p:nvSpPr>
              <p:spPr bwMode="auto">
                <a:xfrm>
                  <a:off x="624" y="2160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1041"/>
                <p:cNvGrpSpPr>
                  <a:grpSpLocks/>
                </p:cNvGrpSpPr>
                <p:nvPr/>
              </p:nvGrpSpPr>
              <p:grpSpPr bwMode="auto">
                <a:xfrm>
                  <a:off x="672" y="1968"/>
                  <a:ext cx="192" cy="240"/>
                  <a:chOff x="672" y="1968"/>
                  <a:chExt cx="192" cy="240"/>
                </a:xfrm>
              </p:grpSpPr>
              <p:sp>
                <p:nvSpPr>
                  <p:cNvPr id="422930" name="Line 10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2931" name="Text Box 10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  <p:grpSp>
            <p:nvGrpSpPr>
              <p:cNvPr id="8" name="Group 1044"/>
              <p:cNvGrpSpPr>
                <a:grpSpLocks/>
              </p:cNvGrpSpPr>
              <p:nvPr/>
            </p:nvGrpSpPr>
            <p:grpSpPr bwMode="auto">
              <a:xfrm>
                <a:off x="2256" y="1824"/>
                <a:ext cx="480" cy="240"/>
                <a:chOff x="2256" y="1824"/>
                <a:chExt cx="480" cy="240"/>
              </a:xfrm>
            </p:grpSpPr>
            <p:sp>
              <p:nvSpPr>
                <p:cNvPr id="422933" name="Line 1045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1046"/>
                <p:cNvGrpSpPr>
                  <a:grpSpLocks/>
                </p:cNvGrpSpPr>
                <p:nvPr/>
              </p:nvGrpSpPr>
              <p:grpSpPr bwMode="auto">
                <a:xfrm>
                  <a:off x="2352" y="1824"/>
                  <a:ext cx="192" cy="240"/>
                  <a:chOff x="672" y="1968"/>
                  <a:chExt cx="192" cy="240"/>
                </a:xfrm>
              </p:grpSpPr>
              <p:sp>
                <p:nvSpPr>
                  <p:cNvPr id="422935" name="Line 10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2936" name="Text Box 10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</p:grpSp>
      </p:grpSp>
      <p:graphicFrame>
        <p:nvGraphicFramePr>
          <p:cNvPr id="422937" name="Object 1049"/>
          <p:cNvGraphicFramePr>
            <a:graphicFrameLocks noChangeAspect="1"/>
          </p:cNvGraphicFramePr>
          <p:nvPr/>
        </p:nvGraphicFramePr>
        <p:xfrm>
          <a:off x="6248400" y="1371601"/>
          <a:ext cx="3627438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Document" r:id="rId3" imgW="3640320" imgH="1396080" progId="Word.Document.8">
                  <p:embed/>
                </p:oleObj>
              </mc:Choice>
              <mc:Fallback>
                <p:oleObj name="Document" r:id="rId3" imgW="3640320" imgH="1396080" progId="Word.Document.8">
                  <p:embed/>
                  <p:pic>
                    <p:nvPicPr>
                      <p:cNvPr id="422937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371601"/>
                        <a:ext cx="3627438" cy="1395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3"/>
            <a:ext cx="10515600" cy="58419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Memory sizes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199"/>
            <a:ext cx="8514522" cy="5509591"/>
          </a:xfrm>
        </p:spPr>
        <p:txBody>
          <a:bodyPr>
            <a:noAutofit/>
          </a:bodyPr>
          <a:lstStyle/>
          <a:p>
            <a:r>
              <a:rPr lang="en-US" sz="2000" dirty="0"/>
              <a:t>We refer to this as a </a:t>
            </a:r>
            <a:r>
              <a:rPr lang="en-US" sz="2000" dirty="0">
                <a:solidFill>
                  <a:srgbClr val="FF0033"/>
                </a:solidFill>
              </a:rPr>
              <a:t>2</a:t>
            </a:r>
            <a:r>
              <a:rPr lang="en-US" sz="2000" baseline="30000" dirty="0">
                <a:solidFill>
                  <a:srgbClr val="FF0033"/>
                </a:solidFill>
              </a:rPr>
              <a:t>k</a:t>
            </a:r>
            <a:r>
              <a:rPr lang="en-US" sz="2000" dirty="0">
                <a:solidFill>
                  <a:srgbClr val="FF0033"/>
                </a:solidFill>
              </a:rPr>
              <a:t> x n </a:t>
            </a:r>
            <a:r>
              <a:rPr lang="en-US" sz="2000" dirty="0"/>
              <a:t>memory.</a:t>
            </a:r>
          </a:p>
          <a:p>
            <a:pPr lvl="1"/>
            <a:r>
              <a:rPr lang="en-US" sz="2000" dirty="0"/>
              <a:t>There are k </a:t>
            </a:r>
            <a:r>
              <a:rPr lang="en-US" sz="2000" i="1" dirty="0">
                <a:solidFill>
                  <a:srgbClr val="FF0033"/>
                </a:solidFill>
              </a:rPr>
              <a:t>address lines</a:t>
            </a:r>
            <a:r>
              <a:rPr lang="en-US" sz="2000" dirty="0"/>
              <a:t>, which can specify one of 2</a:t>
            </a:r>
            <a:r>
              <a:rPr lang="en-US" sz="2000" baseline="30000" dirty="0"/>
              <a:t>k</a:t>
            </a:r>
            <a:r>
              <a:rPr lang="en-US" sz="2000" dirty="0"/>
              <a:t> addresses.</a:t>
            </a:r>
          </a:p>
          <a:p>
            <a:pPr lvl="1"/>
            <a:r>
              <a:rPr lang="en-US" sz="2000" dirty="0"/>
              <a:t>Each address contains an n-bit word.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For example, a 2</a:t>
            </a:r>
            <a:r>
              <a:rPr lang="en-US" sz="2000" baseline="30000" dirty="0"/>
              <a:t>24</a:t>
            </a:r>
            <a:r>
              <a:rPr lang="en-US" sz="2000" dirty="0"/>
              <a:t> x 16 RAM contains 2</a:t>
            </a:r>
            <a:r>
              <a:rPr lang="en-US" sz="2000" baseline="30000" dirty="0"/>
              <a:t>24</a:t>
            </a:r>
            <a:r>
              <a:rPr lang="en-US" sz="2000" dirty="0"/>
              <a:t> = 16M words, each 16 bits long.</a:t>
            </a:r>
          </a:p>
          <a:p>
            <a:pPr lvl="1"/>
            <a:r>
              <a:rPr lang="en-US" sz="2000" dirty="0"/>
              <a:t>The RAM would need 24 address lines.</a:t>
            </a:r>
          </a:p>
          <a:p>
            <a:pPr lvl="1"/>
            <a:r>
              <a:rPr lang="en-US" sz="2000" dirty="0"/>
              <a:t>The total </a:t>
            </a:r>
            <a:r>
              <a:rPr lang="en-US" sz="2000" dirty="0">
                <a:solidFill>
                  <a:srgbClr val="FF0033"/>
                </a:solidFill>
              </a:rPr>
              <a:t>storage capacity</a:t>
            </a:r>
            <a:r>
              <a:rPr lang="en-US" sz="2000" dirty="0"/>
              <a:t> is 2</a:t>
            </a:r>
            <a:r>
              <a:rPr lang="en-US" sz="2000" baseline="30000" dirty="0"/>
              <a:t>24</a:t>
            </a:r>
            <a:r>
              <a:rPr lang="en-US" sz="2000" dirty="0"/>
              <a:t> x 16 = 2</a:t>
            </a:r>
            <a:r>
              <a:rPr lang="en-US" sz="2000" baseline="30000" dirty="0"/>
              <a:t>28</a:t>
            </a:r>
            <a:r>
              <a:rPr lang="en-US" sz="2000" dirty="0"/>
              <a:t> bits.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19599" y="2209801"/>
            <a:ext cx="3730487" cy="2399872"/>
            <a:chOff x="624" y="1488"/>
            <a:chExt cx="2112" cy="1152"/>
          </a:xfrm>
        </p:grpSpPr>
        <p:sp>
          <p:nvSpPr>
            <p:cNvPr id="381957" name="Text Box 5"/>
            <p:cNvSpPr txBox="1">
              <a:spLocks noChangeArrowheads="1"/>
            </p:cNvSpPr>
            <p:nvPr/>
          </p:nvSpPr>
          <p:spPr bwMode="auto">
            <a:xfrm>
              <a:off x="1104" y="1536"/>
              <a:ext cx="980" cy="106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1082675" algn="l"/>
                </a:tabLst>
              </a:pPr>
              <a:r>
                <a:rPr lang="en-US" dirty="0"/>
                <a:t> </a:t>
              </a:r>
              <a:r>
                <a:rPr lang="en-US" sz="1200" dirty="0"/>
                <a:t>2</a:t>
              </a:r>
              <a:r>
                <a:rPr lang="en-US" sz="1200" baseline="30000" dirty="0"/>
                <a:t>k</a:t>
              </a:r>
              <a:r>
                <a:rPr lang="en-US" sz="1200" dirty="0"/>
                <a:t> x n memory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ADRS	OUT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DATA</a:t>
              </a:r>
              <a:br>
                <a:rPr lang="en-US" sz="1200" dirty="0"/>
              </a:b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CS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WR</a:t>
              </a: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624" y="1488"/>
              <a:ext cx="2112" cy="1152"/>
              <a:chOff x="624" y="1488"/>
              <a:chExt cx="2112" cy="1152"/>
            </a:xfrm>
          </p:grpSpPr>
          <p:sp>
            <p:nvSpPr>
              <p:cNvPr id="381959" name="Rectangle 7"/>
              <p:cNvSpPr>
                <a:spLocks noChangeArrowheads="1"/>
              </p:cNvSpPr>
              <p:nvPr/>
            </p:nvSpPr>
            <p:spPr bwMode="auto">
              <a:xfrm>
                <a:off x="1104" y="1488"/>
                <a:ext cx="1152" cy="11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1960" name="Line 8"/>
              <p:cNvSpPr>
                <a:spLocks noChangeShapeType="1"/>
              </p:cNvSpPr>
              <p:nvPr/>
            </p:nvSpPr>
            <p:spPr bwMode="auto">
              <a:xfrm>
                <a:off x="624" y="233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1961" name="Line 9"/>
              <p:cNvSpPr>
                <a:spLocks noChangeShapeType="1"/>
              </p:cNvSpPr>
              <p:nvPr/>
            </p:nvSpPr>
            <p:spPr bwMode="auto">
              <a:xfrm>
                <a:off x="624" y="249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624" y="1824"/>
                <a:ext cx="480" cy="240"/>
                <a:chOff x="624" y="1824"/>
                <a:chExt cx="480" cy="240"/>
              </a:xfrm>
            </p:grpSpPr>
            <p:sp>
              <p:nvSpPr>
                <p:cNvPr id="381963" name="Line 11"/>
                <p:cNvSpPr>
                  <a:spLocks noChangeShapeType="1"/>
                </p:cNvSpPr>
                <p:nvPr/>
              </p:nvSpPr>
              <p:spPr bwMode="auto">
                <a:xfrm>
                  <a:off x="624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672" y="1824"/>
                  <a:ext cx="192" cy="240"/>
                  <a:chOff x="672" y="1824"/>
                  <a:chExt cx="192" cy="240"/>
                </a:xfrm>
              </p:grpSpPr>
              <p:sp>
                <p:nvSpPr>
                  <p:cNvPr id="381965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920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196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824"/>
                    <a:ext cx="175" cy="213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k</a:t>
                    </a:r>
                    <a:endParaRPr lang="en-US"/>
                  </a:p>
                </p:txBody>
              </p:sp>
            </p:grp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624" y="1984"/>
                <a:ext cx="480" cy="240"/>
                <a:chOff x="624" y="1968"/>
                <a:chExt cx="480" cy="240"/>
              </a:xfrm>
            </p:grpSpPr>
            <p:sp>
              <p:nvSpPr>
                <p:cNvPr id="381968" name="Line 16"/>
                <p:cNvSpPr>
                  <a:spLocks noChangeShapeType="1"/>
                </p:cNvSpPr>
                <p:nvPr/>
              </p:nvSpPr>
              <p:spPr bwMode="auto">
                <a:xfrm>
                  <a:off x="624" y="2160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17"/>
                <p:cNvGrpSpPr>
                  <a:grpSpLocks/>
                </p:cNvGrpSpPr>
                <p:nvPr/>
              </p:nvGrpSpPr>
              <p:grpSpPr bwMode="auto">
                <a:xfrm>
                  <a:off x="672" y="1968"/>
                  <a:ext cx="192" cy="240"/>
                  <a:chOff x="672" y="1968"/>
                  <a:chExt cx="192" cy="240"/>
                </a:xfrm>
              </p:grpSpPr>
              <p:sp>
                <p:nvSpPr>
                  <p:cNvPr id="381970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1971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2256" y="1824"/>
                <a:ext cx="480" cy="240"/>
                <a:chOff x="2256" y="1824"/>
                <a:chExt cx="480" cy="240"/>
              </a:xfrm>
            </p:grpSpPr>
            <p:sp>
              <p:nvSpPr>
                <p:cNvPr id="381973" name="Line 21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2"/>
                <p:cNvGrpSpPr>
                  <a:grpSpLocks/>
                </p:cNvGrpSpPr>
                <p:nvPr/>
              </p:nvGrpSpPr>
              <p:grpSpPr bwMode="auto">
                <a:xfrm>
                  <a:off x="2352" y="1824"/>
                  <a:ext cx="192" cy="240"/>
                  <a:chOff x="672" y="1968"/>
                  <a:chExt cx="192" cy="240"/>
                </a:xfrm>
              </p:grpSpPr>
              <p:sp>
                <p:nvSpPr>
                  <p:cNvPr id="381975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1976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730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Typical memory sizes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72208"/>
            <a:ext cx="6705600" cy="4747591"/>
          </a:xfrm>
        </p:spPr>
        <p:txBody>
          <a:bodyPr>
            <a:normAutofit/>
          </a:bodyPr>
          <a:lstStyle/>
          <a:p>
            <a:r>
              <a:rPr lang="en-US" sz="2000" dirty="0"/>
              <a:t>Some typical memory capacities:</a:t>
            </a:r>
          </a:p>
          <a:p>
            <a:pPr lvl="1"/>
            <a:r>
              <a:rPr lang="en-US" sz="2000" dirty="0"/>
              <a:t>PCs usually come with 512MB – 2GB RAM.</a:t>
            </a:r>
          </a:p>
          <a:p>
            <a:pPr lvl="1"/>
            <a:r>
              <a:rPr lang="en-US" sz="2000" dirty="0"/>
              <a:t>PDAs have 16-64MB of memory.</a:t>
            </a:r>
          </a:p>
          <a:p>
            <a:pPr lvl="1"/>
            <a:r>
              <a:rPr lang="en-US" sz="2000" dirty="0"/>
              <a:t>Digital cameras and MP3 players can have 32MB-8GB or more of onboard storage.</a:t>
            </a:r>
          </a:p>
          <a:p>
            <a:r>
              <a:rPr lang="en-US" sz="2000" dirty="0"/>
              <a:t>Many operating systems implement </a:t>
            </a:r>
            <a:r>
              <a:rPr lang="en-US" sz="2000" dirty="0">
                <a:solidFill>
                  <a:srgbClr val="FF0033"/>
                </a:solidFill>
              </a:rPr>
              <a:t>virtual memory</a:t>
            </a:r>
            <a:r>
              <a:rPr lang="en-US" sz="2000" dirty="0"/>
              <a:t>, which makes the memory seem larger than it really is.</a:t>
            </a:r>
          </a:p>
          <a:p>
            <a:pPr lvl="1"/>
            <a:r>
              <a:rPr lang="en-US" sz="2000" dirty="0"/>
              <a:t>Most systems allow up to 32-bit addresses. This works out to 2</a:t>
            </a:r>
            <a:r>
              <a:rPr lang="en-US" sz="2000" baseline="40000" dirty="0"/>
              <a:t>32</a:t>
            </a:r>
            <a:r>
              <a:rPr lang="en-US" sz="2000" dirty="0"/>
              <a:t>, or about four billion, different possible addresses.</a:t>
            </a:r>
          </a:p>
          <a:p>
            <a:pPr lvl="1"/>
            <a:r>
              <a:rPr lang="en-US" sz="2000" dirty="0"/>
              <a:t>With a data size of one byte, the result is apparently a 4GB memory!</a:t>
            </a:r>
          </a:p>
          <a:p>
            <a:pPr lvl="1"/>
            <a:r>
              <a:rPr lang="en-US" sz="2000" dirty="0"/>
              <a:t>The operating system uses hard disk space as a substitute for “real” memory.</a:t>
            </a:r>
          </a:p>
        </p:txBody>
      </p:sp>
      <p:graphicFrame>
        <p:nvGraphicFramePr>
          <p:cNvPr id="445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00944"/>
              </p:ext>
            </p:extLst>
          </p:nvPr>
        </p:nvGraphicFramePr>
        <p:xfrm>
          <a:off x="7779026" y="1116082"/>
          <a:ext cx="2673350" cy="534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Document" r:id="rId3" imgW="2667960" imgH="5339160" progId="Word.Document.8">
                  <p:embed/>
                </p:oleObj>
              </mc:Choice>
              <mc:Fallback>
                <p:oleObj name="Document" r:id="rId3" imgW="2667960" imgH="5339160" progId="Word.Document.8">
                  <p:embed/>
                  <p:pic>
                    <p:nvPicPr>
                      <p:cNvPr id="445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9026" y="1116082"/>
                        <a:ext cx="2673350" cy="534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4730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Reading RAM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1"/>
            <a:ext cx="8156713" cy="22097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</a:t>
            </a:r>
            <a:r>
              <a:rPr lang="en-US" i="1" dirty="0"/>
              <a:t>read</a:t>
            </a:r>
            <a:r>
              <a:rPr lang="en-US" dirty="0"/>
              <a:t> from this RAM, the controlling circuit must:</a:t>
            </a:r>
          </a:p>
          <a:p>
            <a:pPr lvl="1"/>
            <a:r>
              <a:rPr lang="en-US" dirty="0"/>
              <a:t>Enable the chip by ensuring CS = 1.</a:t>
            </a:r>
          </a:p>
          <a:p>
            <a:pPr lvl="1"/>
            <a:r>
              <a:rPr lang="en-US" dirty="0"/>
              <a:t>Select the read operation, by setting WR = 0.</a:t>
            </a:r>
          </a:p>
          <a:p>
            <a:pPr lvl="1"/>
            <a:r>
              <a:rPr lang="en-US" dirty="0"/>
              <a:t>Send the desired address to the ADRS input.</a:t>
            </a:r>
          </a:p>
          <a:p>
            <a:pPr lvl="1"/>
            <a:r>
              <a:rPr lang="en-US" dirty="0"/>
              <a:t>The contents of that address appear on OUT after a little while.</a:t>
            </a:r>
          </a:p>
          <a:p>
            <a:r>
              <a:rPr lang="en-US" dirty="0"/>
              <a:t>Notice that the DATA input is unused for read operations.</a:t>
            </a:r>
          </a:p>
          <a:p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19600" y="3327345"/>
            <a:ext cx="6952293" cy="2241911"/>
            <a:chOff x="624" y="1447"/>
            <a:chExt cx="3425" cy="1193"/>
          </a:xfrm>
        </p:grpSpPr>
        <p:sp>
          <p:nvSpPr>
            <p:cNvPr id="382981" name="Text Box 5"/>
            <p:cNvSpPr txBox="1">
              <a:spLocks noChangeArrowheads="1"/>
            </p:cNvSpPr>
            <p:nvPr/>
          </p:nvSpPr>
          <p:spPr bwMode="auto">
            <a:xfrm>
              <a:off x="1121" y="1447"/>
              <a:ext cx="2928" cy="1179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tabLst>
                  <a:tab pos="1082675" algn="l"/>
                </a:tabLst>
              </a:pPr>
              <a:r>
                <a:rPr lang="en-US" dirty="0"/>
                <a:t> </a:t>
              </a:r>
              <a:r>
                <a:rPr lang="en-US" sz="1200" dirty="0"/>
                <a:t>2</a:t>
              </a:r>
              <a:r>
                <a:rPr lang="en-US" sz="1200" baseline="30000" dirty="0"/>
                <a:t>k</a:t>
              </a:r>
              <a:r>
                <a:rPr lang="en-US" sz="1200" dirty="0"/>
                <a:t> x n memory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ADRS	OUT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DATA</a:t>
              </a:r>
              <a:br>
                <a:rPr lang="en-US" sz="1200" dirty="0"/>
              </a:b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CS</a:t>
              </a:r>
            </a:p>
            <a:p>
              <a:pPr>
                <a:tabLst>
                  <a:tab pos="1082675" algn="l"/>
                </a:tabLst>
              </a:pPr>
              <a:endParaRPr lang="en-US" sz="1200" dirty="0"/>
            </a:p>
            <a:p>
              <a:pPr>
                <a:tabLst>
                  <a:tab pos="1082675" algn="l"/>
                </a:tabLst>
              </a:pPr>
              <a:r>
                <a:rPr lang="en-US" sz="1200" dirty="0"/>
                <a:t>WR</a:t>
              </a: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624" y="1488"/>
              <a:ext cx="2112" cy="1152"/>
              <a:chOff x="624" y="1488"/>
              <a:chExt cx="2112" cy="1152"/>
            </a:xfrm>
          </p:grpSpPr>
          <p:sp>
            <p:nvSpPr>
              <p:cNvPr id="382983" name="Rectangle 7"/>
              <p:cNvSpPr>
                <a:spLocks noChangeArrowheads="1"/>
              </p:cNvSpPr>
              <p:nvPr/>
            </p:nvSpPr>
            <p:spPr bwMode="auto">
              <a:xfrm>
                <a:off x="1104" y="1488"/>
                <a:ext cx="1152" cy="11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84" name="Line 8"/>
              <p:cNvSpPr>
                <a:spLocks noChangeShapeType="1"/>
              </p:cNvSpPr>
              <p:nvPr/>
            </p:nvSpPr>
            <p:spPr bwMode="auto">
              <a:xfrm>
                <a:off x="624" y="233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85" name="Line 9"/>
              <p:cNvSpPr>
                <a:spLocks noChangeShapeType="1"/>
              </p:cNvSpPr>
              <p:nvPr/>
            </p:nvSpPr>
            <p:spPr bwMode="auto">
              <a:xfrm>
                <a:off x="624" y="249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624" y="1824"/>
                <a:ext cx="480" cy="240"/>
                <a:chOff x="624" y="1824"/>
                <a:chExt cx="480" cy="240"/>
              </a:xfrm>
            </p:grpSpPr>
            <p:sp>
              <p:nvSpPr>
                <p:cNvPr id="382987" name="Line 11"/>
                <p:cNvSpPr>
                  <a:spLocks noChangeShapeType="1"/>
                </p:cNvSpPr>
                <p:nvPr/>
              </p:nvSpPr>
              <p:spPr bwMode="auto">
                <a:xfrm>
                  <a:off x="624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672" y="1824"/>
                  <a:ext cx="192" cy="240"/>
                  <a:chOff x="672" y="1824"/>
                  <a:chExt cx="192" cy="240"/>
                </a:xfrm>
              </p:grpSpPr>
              <p:sp>
                <p:nvSpPr>
                  <p:cNvPr id="382989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920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2990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824"/>
                    <a:ext cx="175" cy="213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k</a:t>
                    </a:r>
                    <a:endParaRPr lang="en-US"/>
                  </a:p>
                </p:txBody>
              </p:sp>
            </p:grp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624" y="1984"/>
                <a:ext cx="480" cy="240"/>
                <a:chOff x="624" y="1968"/>
                <a:chExt cx="480" cy="240"/>
              </a:xfrm>
            </p:grpSpPr>
            <p:sp>
              <p:nvSpPr>
                <p:cNvPr id="382992" name="Line 16"/>
                <p:cNvSpPr>
                  <a:spLocks noChangeShapeType="1"/>
                </p:cNvSpPr>
                <p:nvPr/>
              </p:nvSpPr>
              <p:spPr bwMode="auto">
                <a:xfrm>
                  <a:off x="624" y="2160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17"/>
                <p:cNvGrpSpPr>
                  <a:grpSpLocks/>
                </p:cNvGrpSpPr>
                <p:nvPr/>
              </p:nvGrpSpPr>
              <p:grpSpPr bwMode="auto">
                <a:xfrm>
                  <a:off x="672" y="1968"/>
                  <a:ext cx="192" cy="240"/>
                  <a:chOff x="672" y="1968"/>
                  <a:chExt cx="192" cy="240"/>
                </a:xfrm>
              </p:grpSpPr>
              <p:sp>
                <p:nvSpPr>
                  <p:cNvPr id="382994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2995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2256" y="1824"/>
                <a:ext cx="480" cy="240"/>
                <a:chOff x="2256" y="1824"/>
                <a:chExt cx="480" cy="240"/>
              </a:xfrm>
            </p:grpSpPr>
            <p:sp>
              <p:nvSpPr>
                <p:cNvPr id="382997" name="Line 21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2"/>
                <p:cNvGrpSpPr>
                  <a:grpSpLocks/>
                </p:cNvGrpSpPr>
                <p:nvPr/>
              </p:nvGrpSpPr>
              <p:grpSpPr bwMode="auto">
                <a:xfrm>
                  <a:off x="2352" y="1824"/>
                  <a:ext cx="192" cy="240"/>
                  <a:chOff x="672" y="1968"/>
                  <a:chExt cx="192" cy="240"/>
                </a:xfrm>
              </p:grpSpPr>
              <p:sp>
                <p:nvSpPr>
                  <p:cNvPr id="382999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3000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</p:grp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6080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Writing RAM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8305800" cy="5181600"/>
          </a:xfrm>
        </p:spPr>
        <p:txBody>
          <a:bodyPr/>
          <a:lstStyle/>
          <a:p>
            <a:r>
              <a:rPr lang="en-US"/>
              <a:t>To </a:t>
            </a:r>
            <a:r>
              <a:rPr lang="en-US" i="1"/>
              <a:t>write</a:t>
            </a:r>
            <a:r>
              <a:rPr lang="en-US"/>
              <a:t> to this RAM, you need to:</a:t>
            </a:r>
          </a:p>
          <a:p>
            <a:pPr lvl="1"/>
            <a:r>
              <a:rPr lang="en-US"/>
              <a:t>Enable the chip by setting CS = 1.</a:t>
            </a:r>
          </a:p>
          <a:p>
            <a:pPr lvl="1"/>
            <a:r>
              <a:rPr lang="en-US"/>
              <a:t>Select the write operation, by setting WR = 1.</a:t>
            </a:r>
          </a:p>
          <a:p>
            <a:pPr lvl="1"/>
            <a:r>
              <a:rPr lang="en-US"/>
              <a:t>Send the desired address to the ADRS input.</a:t>
            </a:r>
          </a:p>
          <a:p>
            <a:pPr lvl="1"/>
            <a:r>
              <a:rPr lang="en-US"/>
              <a:t>Send the word to store to the DATA input.</a:t>
            </a:r>
          </a:p>
          <a:p>
            <a:r>
              <a:rPr lang="en-US"/>
              <a:t>The output OUT is not needed for memory write operations.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19600" y="3505201"/>
            <a:ext cx="3352800" cy="1830388"/>
            <a:chOff x="624" y="1488"/>
            <a:chExt cx="2112" cy="1153"/>
          </a:xfrm>
        </p:grpSpPr>
        <p:sp>
          <p:nvSpPr>
            <p:cNvPr id="384005" name="Text Box 5"/>
            <p:cNvSpPr txBox="1">
              <a:spLocks noChangeArrowheads="1"/>
            </p:cNvSpPr>
            <p:nvPr/>
          </p:nvSpPr>
          <p:spPr bwMode="auto">
            <a:xfrm>
              <a:off x="1104" y="1536"/>
              <a:ext cx="1064" cy="1105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1082675" algn="l"/>
                </a:tabLst>
              </a:pPr>
              <a:r>
                <a:rPr lang="en-US"/>
                <a:t> 2</a:t>
              </a:r>
              <a:r>
                <a:rPr lang="en-US" baseline="30000"/>
                <a:t>k</a:t>
              </a:r>
              <a:r>
                <a:rPr lang="en-US"/>
                <a:t> x n memory</a:t>
              </a:r>
            </a:p>
            <a:p>
              <a:pPr>
                <a:tabLst>
                  <a:tab pos="1082675" algn="l"/>
                </a:tabLst>
              </a:pPr>
              <a:endParaRPr lang="en-US"/>
            </a:p>
            <a:p>
              <a:pPr>
                <a:tabLst>
                  <a:tab pos="1082675" algn="l"/>
                </a:tabLst>
              </a:pPr>
              <a:r>
                <a:rPr lang="en-US"/>
                <a:t>ADRS	OUT</a:t>
              </a:r>
            </a:p>
            <a:p>
              <a:pPr>
                <a:tabLst>
                  <a:tab pos="1082675" algn="l"/>
                </a:tabLst>
              </a:pPr>
              <a:r>
                <a:rPr lang="en-US"/>
                <a:t>DATA</a:t>
              </a:r>
              <a:br>
                <a:rPr lang="en-US"/>
              </a:br>
              <a:r>
                <a:rPr lang="en-US"/>
                <a:t>CS</a:t>
              </a:r>
            </a:p>
            <a:p>
              <a:pPr>
                <a:tabLst>
                  <a:tab pos="1082675" algn="l"/>
                </a:tabLst>
              </a:pPr>
              <a:r>
                <a:rPr lang="en-US"/>
                <a:t>WR</a:t>
              </a: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624" y="1488"/>
              <a:ext cx="2112" cy="1152"/>
              <a:chOff x="624" y="1488"/>
              <a:chExt cx="2112" cy="1152"/>
            </a:xfrm>
          </p:grpSpPr>
          <p:sp>
            <p:nvSpPr>
              <p:cNvPr id="384007" name="Rectangle 7"/>
              <p:cNvSpPr>
                <a:spLocks noChangeArrowheads="1"/>
              </p:cNvSpPr>
              <p:nvPr/>
            </p:nvSpPr>
            <p:spPr bwMode="auto">
              <a:xfrm>
                <a:off x="1104" y="1488"/>
                <a:ext cx="1152" cy="11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4008" name="Line 8"/>
              <p:cNvSpPr>
                <a:spLocks noChangeShapeType="1"/>
              </p:cNvSpPr>
              <p:nvPr/>
            </p:nvSpPr>
            <p:spPr bwMode="auto">
              <a:xfrm>
                <a:off x="624" y="233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4009" name="Line 9"/>
              <p:cNvSpPr>
                <a:spLocks noChangeShapeType="1"/>
              </p:cNvSpPr>
              <p:nvPr/>
            </p:nvSpPr>
            <p:spPr bwMode="auto">
              <a:xfrm>
                <a:off x="624" y="249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624" y="1824"/>
                <a:ext cx="480" cy="240"/>
                <a:chOff x="624" y="1824"/>
                <a:chExt cx="480" cy="240"/>
              </a:xfrm>
            </p:grpSpPr>
            <p:sp>
              <p:nvSpPr>
                <p:cNvPr id="384011" name="Line 11"/>
                <p:cNvSpPr>
                  <a:spLocks noChangeShapeType="1"/>
                </p:cNvSpPr>
                <p:nvPr/>
              </p:nvSpPr>
              <p:spPr bwMode="auto">
                <a:xfrm>
                  <a:off x="624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672" y="1824"/>
                  <a:ext cx="192" cy="240"/>
                  <a:chOff x="672" y="1824"/>
                  <a:chExt cx="192" cy="240"/>
                </a:xfrm>
              </p:grpSpPr>
              <p:sp>
                <p:nvSpPr>
                  <p:cNvPr id="384013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920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4014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824"/>
                    <a:ext cx="175" cy="213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k</a:t>
                    </a:r>
                    <a:endParaRPr lang="en-US"/>
                  </a:p>
                </p:txBody>
              </p:sp>
            </p:grp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624" y="1984"/>
                <a:ext cx="480" cy="240"/>
                <a:chOff x="624" y="1968"/>
                <a:chExt cx="480" cy="240"/>
              </a:xfrm>
            </p:grpSpPr>
            <p:sp>
              <p:nvSpPr>
                <p:cNvPr id="384016" name="Line 16"/>
                <p:cNvSpPr>
                  <a:spLocks noChangeShapeType="1"/>
                </p:cNvSpPr>
                <p:nvPr/>
              </p:nvSpPr>
              <p:spPr bwMode="auto">
                <a:xfrm>
                  <a:off x="624" y="2160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17"/>
                <p:cNvGrpSpPr>
                  <a:grpSpLocks/>
                </p:cNvGrpSpPr>
                <p:nvPr/>
              </p:nvGrpSpPr>
              <p:grpSpPr bwMode="auto">
                <a:xfrm>
                  <a:off x="672" y="1968"/>
                  <a:ext cx="192" cy="240"/>
                  <a:chOff x="672" y="1968"/>
                  <a:chExt cx="192" cy="240"/>
                </a:xfrm>
              </p:grpSpPr>
              <p:sp>
                <p:nvSpPr>
                  <p:cNvPr id="384018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4019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2256" y="1824"/>
                <a:ext cx="480" cy="240"/>
                <a:chOff x="2256" y="1824"/>
                <a:chExt cx="480" cy="240"/>
              </a:xfrm>
            </p:grpSpPr>
            <p:sp>
              <p:nvSpPr>
                <p:cNvPr id="384021" name="Line 21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48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2"/>
                <p:cNvGrpSpPr>
                  <a:grpSpLocks/>
                </p:cNvGrpSpPr>
                <p:nvPr/>
              </p:nvGrpSpPr>
              <p:grpSpPr bwMode="auto">
                <a:xfrm>
                  <a:off x="2352" y="1824"/>
                  <a:ext cx="192" cy="240"/>
                  <a:chOff x="672" y="1968"/>
                  <a:chExt cx="192" cy="240"/>
                </a:xfrm>
              </p:grpSpPr>
              <p:sp>
                <p:nvSpPr>
                  <p:cNvPr id="384023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2064"/>
                    <a:ext cx="48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402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1968"/>
                    <a:ext cx="183" cy="212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/>
                      <a:t>n</a:t>
                    </a:r>
                    <a:endParaRPr lang="en-US"/>
                  </a:p>
                </p:txBody>
              </p:sp>
            </p:grpSp>
          </p:grpSp>
        </p:grp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993</Words>
  <Application>Microsoft Office PowerPoint</Application>
  <PresentationFormat>Widescreen</PresentationFormat>
  <Paragraphs>194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Webdings</vt:lpstr>
      <vt:lpstr>Office Theme</vt:lpstr>
      <vt:lpstr>Clip</vt:lpstr>
      <vt:lpstr>Document</vt:lpstr>
      <vt:lpstr> </vt:lpstr>
      <vt:lpstr>Types of ROM</vt:lpstr>
      <vt:lpstr>MAIN  MEMORY</vt:lpstr>
      <vt:lpstr>Random Access Memory (RAM)</vt:lpstr>
      <vt:lpstr>Introduction to RAM</vt:lpstr>
      <vt:lpstr>Picture of memory</vt:lpstr>
      <vt:lpstr>Block diagram of RAM</vt:lpstr>
      <vt:lpstr>Memory sizes</vt:lpstr>
      <vt:lpstr>Typical memory sizes</vt:lpstr>
      <vt:lpstr>Reading RAM</vt:lpstr>
      <vt:lpstr>Writing 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46</cp:revision>
  <dcterms:created xsi:type="dcterms:W3CDTF">2020-06-18T04:00:41Z</dcterms:created>
  <dcterms:modified xsi:type="dcterms:W3CDTF">2020-10-09T05:29:42Z</dcterms:modified>
</cp:coreProperties>
</file>