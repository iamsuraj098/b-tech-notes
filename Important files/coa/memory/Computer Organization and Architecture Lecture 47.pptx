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403" r:id="rId3"/>
    <p:sldId id="404" r:id="rId4"/>
    <p:sldId id="392" r:id="rId5"/>
    <p:sldId id="374" r:id="rId6"/>
    <p:sldId id="375" r:id="rId7"/>
    <p:sldId id="273" r:id="rId8"/>
    <p:sldId id="362" r:id="rId9"/>
    <p:sldId id="376" r:id="rId10"/>
    <p:sldId id="378" r:id="rId11"/>
    <p:sldId id="363" r:id="rId12"/>
    <p:sldId id="377" r:id="rId13"/>
    <p:sldId id="27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3793C-9F6E-4CE1-B94E-78F167BB0663}" type="datetimeFigureOut">
              <a:rPr lang="en-US" smtClean="0"/>
              <a:t>8/13/2020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AF78A-2270-4721-AA5A-1B675F5A1ABB}" type="slidenum">
              <a:rPr lang="en-US" smtClean="0"/>
              <a:t>‹#›</a:t>
            </a:fld>
            <a:endParaRPr lang="en-US"/>
          </a:p>
        </p:txBody>
      </p:sp>
    </p:spTree>
    <p:extLst>
      <p:ext uri="{BB962C8B-B14F-4D97-AF65-F5344CB8AC3E}">
        <p14:creationId xmlns:p14="http://schemas.microsoft.com/office/powerpoint/2010/main" val="2745719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A7E-81F0-4134-BD15-5C170C069D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BCD674-A3BA-4C42-9005-763EDB025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8A7EDD-DFA4-4A1A-83E3-25AA585BA9A2}"/>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3EBDDD35-3124-45BE-8281-89DADE36D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4DDAB-06E4-4EA3-94AC-1B24D066671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7249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C73F-1D55-4331-B6FC-3AA2B609F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A4E085-C58E-496B-98D7-1B99D1C33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2F368-288E-4BA1-BE87-29FB8F830832}"/>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4D7250FE-6DBD-4289-9511-5D05D19CF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0A08E-4AE5-4672-8C44-34B86EEC82CE}"/>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74824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32352-8481-41AD-8AC0-D532E19E6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668B2E-6852-4395-B254-EEA800955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9FC224-D401-4126-8A4C-A88089EBB83C}"/>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A08A6F80-1254-4085-9631-EF3BFB215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5BEC7-7EFD-4172-A6EB-324F550B1E9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403327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B8EF-7756-480B-8AC4-884B456AD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D0B1B-47A0-4232-BAF8-F717551F6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1A325D-5F45-4CA3-ABCC-3A07EE07CB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03B7B7-5A8B-48EE-8F45-38809D0AA093}"/>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6" name="Footer Placeholder 5">
            <a:extLst>
              <a:ext uri="{FF2B5EF4-FFF2-40B4-BE49-F238E27FC236}">
                <a16:creationId xmlns:a16="http://schemas.microsoft.com/office/drawing/2014/main" id="{23D7EE25-F5A8-40CF-AED4-6A8B4153C1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EF098-D06A-4D79-A934-F11F1217AE8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7950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17B3-8B64-4F56-9165-9D1F1B6996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2F572-116B-4FBC-80A1-B160E910E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AA3B-BF40-498F-910E-D6FE62C72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7089C-079C-4C6E-9481-3975BCB5D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8D0D08-DF36-4271-880D-5E9F0DBDE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D17495-0CEE-4E07-B1EE-B6519BFEFF1A}"/>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8" name="Footer Placeholder 7">
            <a:extLst>
              <a:ext uri="{FF2B5EF4-FFF2-40B4-BE49-F238E27FC236}">
                <a16:creationId xmlns:a16="http://schemas.microsoft.com/office/drawing/2014/main" id="{2C8416FD-C3A3-4B77-9678-C5082E628E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E038-F659-4CEC-893C-EE00681F5F73}"/>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56983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EC38-A637-413A-ADAE-BE0CFC8B87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9CF607-1E75-4E3B-9910-AF15505BCFA0}"/>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4" name="Footer Placeholder 3">
            <a:extLst>
              <a:ext uri="{FF2B5EF4-FFF2-40B4-BE49-F238E27FC236}">
                <a16:creationId xmlns:a16="http://schemas.microsoft.com/office/drawing/2014/main" id="{298C001C-1627-4AD3-A0D3-B3339FC11C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E4DC-41E9-49A6-9047-6E1F7BF34CF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642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CE46B-A1F2-4FE7-BE62-EA0E275D0B6A}"/>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3" name="Footer Placeholder 2">
            <a:extLst>
              <a:ext uri="{FF2B5EF4-FFF2-40B4-BE49-F238E27FC236}">
                <a16:creationId xmlns:a16="http://schemas.microsoft.com/office/drawing/2014/main" id="{EF188AA1-14B3-435D-88D6-94512D0E89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F83966-455F-4672-A770-38992392405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71139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7F8D-EF09-4BE8-A8AA-A3E2AB642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B90AC-FF6F-4700-8FDC-3A3EC0FF8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719B4C-AF9F-4A5E-9702-FB58A7B26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8C2B0-1797-4CA4-91C5-DF4B4A45FCC6}"/>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6" name="Footer Placeholder 5">
            <a:extLst>
              <a:ext uri="{FF2B5EF4-FFF2-40B4-BE49-F238E27FC236}">
                <a16:creationId xmlns:a16="http://schemas.microsoft.com/office/drawing/2014/main" id="{8BE09123-8FCE-4335-90FF-B38FF4278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15DF9-1BB0-4D73-8CE7-BE42FC1A576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86266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001E-159E-4C6B-904E-108CE8ECF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E07AB-277F-44EB-9550-9E948F6ED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4C6601-2A79-4B56-9BD2-9FFCD85C1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A6FD8E-BD42-4380-A704-79AD7BEB4212}"/>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6" name="Footer Placeholder 5">
            <a:extLst>
              <a:ext uri="{FF2B5EF4-FFF2-40B4-BE49-F238E27FC236}">
                <a16:creationId xmlns:a16="http://schemas.microsoft.com/office/drawing/2014/main" id="{AA504562-B91A-4A31-B18F-2CE9197E1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97E42-70ED-44AC-8D83-F71879FFE9B7}"/>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23752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2E7-DD2D-4D70-82F6-D9725B371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27CEF2-37E8-4EA3-895A-13883A2168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F8EF2-460E-4E7D-A56E-13C49CA0173D}"/>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0D1DE7C8-D345-4CEE-B7B9-E056DB785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00CDD-B8DE-434D-8CD1-8D73E0465BD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148748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BF484-8DF8-4359-A45F-3550A7C91D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12163-A279-4DFE-9D2D-E78F9BB203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9479B-855F-41CF-8B9D-86AEE460424B}"/>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6EAE8C7C-204E-4E9D-B2DF-712E4B42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7DAE8-C3F7-47A0-ACCB-36C329E6530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0440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63EC23-EE39-4728-B8BB-EAA618506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CCE27-E475-4C15-9FE6-8CAEA1D4E7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445BA-1B4C-44B9-8E59-F3B0BDD73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77875FA0-C085-4441-B672-E2C970C4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623047-2BBF-4763-A0EE-1941F70D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914E4-B421-41C6-A5C3-592ADA163034}" type="slidenum">
              <a:rPr lang="en-US" smtClean="0"/>
              <a:t>‹#›</a:t>
            </a:fld>
            <a:endParaRPr lang="en-US"/>
          </a:p>
        </p:txBody>
      </p:sp>
    </p:spTree>
    <p:extLst>
      <p:ext uri="{BB962C8B-B14F-4D97-AF65-F5344CB8AC3E}">
        <p14:creationId xmlns:p14="http://schemas.microsoft.com/office/powerpoint/2010/main" val="2606624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0700D48D-C9AA-4000-A912-29A4FEA98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5138" y="394887"/>
            <a:ext cx="5720862" cy="606822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1DA4F3-9EF8-4369-8046-62460F132A30}"/>
              </a:ext>
            </a:extLst>
          </p:cNvPr>
          <p:cNvSpPr>
            <a:spLocks noGrp="1"/>
          </p:cNvSpPr>
          <p:nvPr>
            <p:ph type="ctrTitle"/>
          </p:nvPr>
        </p:nvSpPr>
        <p:spPr>
          <a:xfrm>
            <a:off x="1018604" y="1053042"/>
            <a:ext cx="4458424" cy="3068357"/>
          </a:xfrm>
        </p:spPr>
        <p:txBody>
          <a:bodyPr>
            <a:normAutofit/>
          </a:bodyPr>
          <a:lstStyle/>
          <a:p>
            <a:pPr algn="l"/>
            <a:br>
              <a:rPr lang="en-US">
                <a:solidFill>
                  <a:srgbClr val="FFFFFF"/>
                </a:solidFill>
              </a:rPr>
            </a:br>
            <a:endParaRPr lang="en-US">
              <a:solidFill>
                <a:srgbClr val="FFFFFF"/>
              </a:solidFill>
            </a:endParaRPr>
          </a:p>
        </p:txBody>
      </p:sp>
      <p:sp>
        <p:nvSpPr>
          <p:cNvPr id="3" name="Subtitle 2">
            <a:extLst>
              <a:ext uri="{FF2B5EF4-FFF2-40B4-BE49-F238E27FC236}">
                <a16:creationId xmlns:a16="http://schemas.microsoft.com/office/drawing/2014/main" id="{FD3F6E6A-CA2C-4D7C-95F1-0463554CE732}"/>
              </a:ext>
            </a:extLst>
          </p:cNvPr>
          <p:cNvSpPr>
            <a:spLocks noGrp="1"/>
          </p:cNvSpPr>
          <p:nvPr>
            <p:ph type="subTitle" idx="1"/>
          </p:nvPr>
        </p:nvSpPr>
        <p:spPr>
          <a:xfrm>
            <a:off x="1018604" y="4292070"/>
            <a:ext cx="4458424" cy="1512888"/>
          </a:xfrm>
        </p:spPr>
        <p:txBody>
          <a:bodyPr>
            <a:normAutofit/>
          </a:bodyPr>
          <a:lstStyle/>
          <a:p>
            <a:pPr algn="l"/>
            <a:r>
              <a:rPr lang="en-US" sz="1500">
                <a:solidFill>
                  <a:srgbClr val="ABCD81"/>
                </a:solidFill>
              </a:rPr>
              <a:t>Dr. Rizwan Khan</a:t>
            </a:r>
          </a:p>
          <a:p>
            <a:pPr algn="l"/>
            <a:r>
              <a:rPr lang="en-US" sz="1500">
                <a:solidFill>
                  <a:srgbClr val="ABCD81"/>
                </a:solidFill>
              </a:rPr>
              <a:t>Head – Department of Computer Science and Engineering</a:t>
            </a:r>
          </a:p>
          <a:p>
            <a:pPr algn="l"/>
            <a:r>
              <a:rPr lang="en-US" sz="1500">
                <a:solidFill>
                  <a:srgbClr val="ABCD81"/>
                </a:solidFill>
              </a:rPr>
              <a:t>(An NBA Accredited Program)</a:t>
            </a:r>
          </a:p>
          <a:p>
            <a:pPr algn="l"/>
            <a:r>
              <a:rPr lang="en-US" sz="1500">
                <a:solidFill>
                  <a:srgbClr val="ABCD81"/>
                </a:solidFill>
              </a:rPr>
              <a:t>ABES Institute of Technology, Ghaziabad</a:t>
            </a:r>
          </a:p>
        </p:txBody>
      </p:sp>
      <p:cxnSp>
        <p:nvCxnSpPr>
          <p:cNvPr id="80" name="Straight Connector 79">
            <a:extLst>
              <a:ext uri="{FF2B5EF4-FFF2-40B4-BE49-F238E27FC236}">
                <a16:creationId xmlns:a16="http://schemas.microsoft.com/office/drawing/2014/main" id="{805E69BC-D844-4AB5-9E35-ED458EE29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184178" y="1874520"/>
            <a:ext cx="0" cy="310896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312C673-8179-457E-AD2A-D1FAE4CC96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14009" y="4201833"/>
            <a:ext cx="3400425"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8E6B5078-279F-496A-B100-835C91465BD5}"/>
              </a:ext>
            </a:extLst>
          </p:cNvPr>
          <p:cNvGraphicFramePr>
            <a:graphicFrameLocks noGrp="1"/>
          </p:cNvGraphicFramePr>
          <p:nvPr>
            <p:extLst>
              <p:ext uri="{D42A27DB-BD31-4B8C-83A1-F6EECF244321}">
                <p14:modId xmlns:p14="http://schemas.microsoft.com/office/powerpoint/2010/main" val="1133047617"/>
              </p:ext>
            </p:extLst>
          </p:nvPr>
        </p:nvGraphicFramePr>
        <p:xfrm>
          <a:off x="7517296" y="1053042"/>
          <a:ext cx="3999192" cy="1554480"/>
        </p:xfrm>
        <a:graphic>
          <a:graphicData uri="http://schemas.openxmlformats.org/drawingml/2006/table">
            <a:tbl>
              <a:tblPr firstRow="1" bandRow="1">
                <a:tableStyleId>{5C22544A-7EE6-4342-B048-85BDC9FD1C3A}</a:tableStyleId>
              </a:tblPr>
              <a:tblGrid>
                <a:gridCol w="3999192">
                  <a:extLst>
                    <a:ext uri="{9D8B030D-6E8A-4147-A177-3AD203B41FA5}">
                      <a16:colId xmlns:a16="http://schemas.microsoft.com/office/drawing/2014/main" val="3518561318"/>
                    </a:ext>
                  </a:extLst>
                </a:gridCol>
              </a:tblGrid>
              <a:tr h="1474163">
                <a:tc>
                  <a:txBody>
                    <a:bodyPr/>
                    <a:lstStyle/>
                    <a:p>
                      <a:r>
                        <a:rPr lang="en-US" sz="3200" dirty="0"/>
                        <a:t>COMPUTER ORGANIZATION AND ARCHITECTURE</a:t>
                      </a:r>
                    </a:p>
                  </a:txBody>
                  <a:tcPr/>
                </a:tc>
                <a:extLst>
                  <a:ext uri="{0D108BD9-81ED-4DB2-BD59-A6C34878D82A}">
                    <a16:rowId xmlns:a16="http://schemas.microsoft.com/office/drawing/2014/main" val="1796247831"/>
                  </a:ext>
                </a:extLst>
              </a:tr>
            </a:tbl>
          </a:graphicData>
        </a:graphic>
      </p:graphicFrame>
    </p:spTree>
    <p:extLst>
      <p:ext uri="{BB962C8B-B14F-4D97-AF65-F5344CB8AC3E}">
        <p14:creationId xmlns:p14="http://schemas.microsoft.com/office/powerpoint/2010/main" val="1407932584"/>
      </p:ext>
    </p:extLst>
  </p:cSld>
  <p:clrMapOvr>
    <a:masterClrMapping/>
  </p:clrMapOvr>
  <mc:AlternateContent xmlns:mc="http://schemas.openxmlformats.org/markup-compatibility/2006" xmlns:p14="http://schemas.microsoft.com/office/powerpoint/2010/main">
    <mc:Choice Requires="p14">
      <p:transition spd="slow" p14:dur="2000" advTm="7530"/>
    </mc:Choice>
    <mc:Fallback xmlns="">
      <p:transition spd="slow" advTm="75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Virtual Memory</a:t>
            </a:r>
          </a:p>
        </p:txBody>
      </p:sp>
      <p:sp>
        <p:nvSpPr>
          <p:cNvPr id="3" name="Content Placeholder 2"/>
          <p:cNvSpPr>
            <a:spLocks noGrp="1"/>
          </p:cNvSpPr>
          <p:nvPr>
            <p:ph idx="1"/>
          </p:nvPr>
        </p:nvSpPr>
        <p:spPr/>
        <p:txBody>
          <a:bodyPr/>
          <a:lstStyle/>
          <a:p>
            <a:r>
              <a:rPr lang="en-US" dirty="0"/>
              <a:t>Virtual memory was developed to give programs a larger memory space than the system’s main memory. The appearance of larger address space is realized by using much slower disk storage.</a:t>
            </a:r>
          </a:p>
          <a:p>
            <a:r>
              <a:rPr lang="en-US" dirty="0"/>
              <a:t>The concepts and the principal implementation techniques are very similar to the cache systems discussed in the last chapter. In implementing virtual memory, the main memory and disk are divided into fixed size pages. A mapping table called a page table does the mapping of pages between the disk and main memory. </a:t>
            </a:r>
          </a:p>
        </p:txBody>
      </p:sp>
    </p:spTree>
    <p:extLst>
      <p:ext uri="{BB962C8B-B14F-4D97-AF65-F5344CB8AC3E}">
        <p14:creationId xmlns:p14="http://schemas.microsoft.com/office/powerpoint/2010/main" val="2463427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VIRTUAL MEMORY</a:t>
            </a:r>
          </a:p>
        </p:txBody>
      </p:sp>
      <p:sp>
        <p:nvSpPr>
          <p:cNvPr id="3" name="Content Placeholder 2"/>
          <p:cNvSpPr>
            <a:spLocks noGrp="1"/>
          </p:cNvSpPr>
          <p:nvPr>
            <p:ph idx="1"/>
          </p:nvPr>
        </p:nvSpPr>
        <p:spPr>
          <a:xfrm>
            <a:off x="1981200" y="990601"/>
            <a:ext cx="8229600" cy="5135563"/>
          </a:xfrm>
        </p:spPr>
        <p:txBody>
          <a:bodyPr/>
          <a:lstStyle/>
          <a:p>
            <a:r>
              <a:rPr lang="en-US" sz="2000" dirty="0"/>
              <a:t>In a memory hierarchy system, programs and data are first stored in auxiliary memory. Portions of a program or data are brought into main memory as they are needed by the CPU. </a:t>
            </a:r>
          </a:p>
          <a:p>
            <a:r>
              <a:rPr lang="en-US" sz="2000" dirty="0"/>
              <a:t>Virtual memory permits the user to construct programs as though a large memory space were available, equal to the totality of auxiliary memory.</a:t>
            </a:r>
          </a:p>
          <a:p>
            <a:r>
              <a:rPr lang="en-US" sz="2000" dirty="0"/>
              <a:t>Each address that is referenced by the CPU goes through an address </a:t>
            </a:r>
            <a:r>
              <a:rPr lang="en-US" sz="2000" dirty="0">
                <a:solidFill>
                  <a:srgbClr val="FF0000"/>
                </a:solidFill>
              </a:rPr>
              <a:t>mapping</a:t>
            </a:r>
            <a:r>
              <a:rPr lang="en-US" sz="2000" dirty="0"/>
              <a:t> from the so-called virtual address to a physical address in main memory. </a:t>
            </a:r>
          </a:p>
          <a:p>
            <a:r>
              <a:rPr lang="en-US" sz="2000" dirty="0"/>
              <a:t>Virtual memory is used to give programmers the illusion that they have a very large memory at their disposal, even though the computer actually has a relatively small main memory. </a:t>
            </a:r>
          </a:p>
          <a:p>
            <a:r>
              <a:rPr lang="en-US" sz="2000" dirty="0"/>
              <a:t>A virtual memory system provides a mechanism for translating program-generated addresses into correct main memory locations. This is done dynamically, while programs are being executed in the CPU. The translation or mapping is handled automatically by the hardware by means of </a:t>
            </a:r>
            <a:r>
              <a:rPr lang="en-US" sz="2000" dirty="0">
                <a:solidFill>
                  <a:srgbClr val="FF0000"/>
                </a:solidFill>
              </a:rPr>
              <a:t>a mapping table</a:t>
            </a:r>
            <a:r>
              <a:rPr lang="en-US" sz="2000" dirty="0"/>
              <a:t>. </a:t>
            </a:r>
          </a:p>
          <a:p>
            <a:endParaRPr lang="en-US" sz="2000" dirty="0"/>
          </a:p>
          <a:p>
            <a:endParaRPr lang="en-US" sz="2000" dirty="0"/>
          </a:p>
        </p:txBody>
      </p:sp>
    </p:spTree>
    <p:extLst>
      <p:ext uri="{BB962C8B-B14F-4D97-AF65-F5344CB8AC3E}">
        <p14:creationId xmlns:p14="http://schemas.microsoft.com/office/powerpoint/2010/main" val="724726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051051" y="273050"/>
            <a:ext cx="8151813" cy="469900"/>
          </a:xfrm>
          <a:noFill/>
          <a:ln/>
        </p:spPr>
        <p:txBody>
          <a:bodyPr anchor="ctr"/>
          <a:lstStyle/>
          <a:p>
            <a:pPr algn="ctr"/>
            <a:r>
              <a:rPr lang="en-US" altLang="ko-KR" sz="2400" dirty="0">
                <a:solidFill>
                  <a:srgbClr val="C00000"/>
                </a:solidFill>
              </a:rPr>
              <a:t>VIRTUAL  MEMORY</a:t>
            </a:r>
          </a:p>
        </p:txBody>
      </p:sp>
      <p:sp>
        <p:nvSpPr>
          <p:cNvPr id="21508" name="Rectangle 4"/>
          <p:cNvSpPr>
            <a:spLocks noChangeArrowheads="1"/>
          </p:cNvSpPr>
          <p:nvPr/>
        </p:nvSpPr>
        <p:spPr bwMode="auto">
          <a:xfrm>
            <a:off x="2332039" y="1041400"/>
            <a:ext cx="5066195" cy="324128"/>
          </a:xfrm>
          <a:prstGeom prst="rect">
            <a:avLst/>
          </a:prstGeom>
          <a:noFill/>
          <a:ln w="12700">
            <a:noFill/>
            <a:miter lim="800000"/>
            <a:headEnd/>
            <a:tailEnd/>
          </a:ln>
          <a:effectLst/>
        </p:spPr>
        <p:txBody>
          <a:bodyPr wrap="none" lIns="63500" tIns="25400" rIns="63500" bIns="25400">
            <a:spAutoFit/>
          </a:bodyPr>
          <a:lstStyle/>
          <a:p>
            <a:pPr defTabSz="762000">
              <a:lnSpc>
                <a:spcPct val="102000"/>
              </a:lnSpc>
            </a:pPr>
            <a:r>
              <a:rPr lang="en-US" altLang="ko-KR"/>
              <a:t>Address Space(Logical)  and Memory Space(Physical)</a:t>
            </a:r>
          </a:p>
        </p:txBody>
      </p:sp>
      <p:grpSp>
        <p:nvGrpSpPr>
          <p:cNvPr id="2" name="Group 58"/>
          <p:cNvGrpSpPr>
            <a:grpSpLocks/>
          </p:cNvGrpSpPr>
          <p:nvPr/>
        </p:nvGrpSpPr>
        <p:grpSpPr bwMode="auto">
          <a:xfrm>
            <a:off x="2838451" y="1350964"/>
            <a:ext cx="5286781" cy="1358484"/>
            <a:chOff x="366" y="1541"/>
            <a:chExt cx="4585" cy="635"/>
          </a:xfrm>
        </p:grpSpPr>
        <p:sp>
          <p:nvSpPr>
            <p:cNvPr id="21509" name="Rectangle 5"/>
            <p:cNvSpPr>
              <a:spLocks noChangeArrowheads="1"/>
            </p:cNvSpPr>
            <p:nvPr/>
          </p:nvSpPr>
          <p:spPr bwMode="auto">
            <a:xfrm>
              <a:off x="1097" y="1750"/>
              <a:ext cx="1135" cy="224"/>
            </a:xfrm>
            <a:prstGeom prst="rect">
              <a:avLst/>
            </a:prstGeom>
            <a:noFill/>
            <a:ln w="25400">
              <a:noFill/>
              <a:miter lim="800000"/>
              <a:headEnd/>
              <a:tailEnd/>
            </a:ln>
            <a:effectLst/>
          </p:spPr>
          <p:txBody>
            <a:bodyPr wrap="none" lIns="63500" tIns="25400" rIns="63500" bIns="25400">
              <a:spAutoFit/>
            </a:bodyPr>
            <a:lstStyle/>
            <a:p>
              <a:pPr defTabSz="762000">
                <a:lnSpc>
                  <a:spcPct val="101000"/>
                </a:lnSpc>
              </a:pPr>
              <a:r>
                <a:rPr lang="en-US" altLang="ko-KR" sz="1400" dirty="0"/>
                <a:t>virtual address</a:t>
              </a:r>
            </a:p>
            <a:p>
              <a:pPr defTabSz="762000">
                <a:lnSpc>
                  <a:spcPct val="101000"/>
                </a:lnSpc>
              </a:pPr>
              <a:r>
                <a:rPr lang="en-US" altLang="ko-KR" sz="1400" dirty="0"/>
                <a:t>(logical address)</a:t>
              </a:r>
            </a:p>
          </p:txBody>
        </p:sp>
        <p:sp>
          <p:nvSpPr>
            <p:cNvPr id="21510" name="Rectangle 6"/>
            <p:cNvSpPr>
              <a:spLocks noChangeArrowheads="1"/>
            </p:cNvSpPr>
            <p:nvPr/>
          </p:nvSpPr>
          <p:spPr bwMode="auto">
            <a:xfrm>
              <a:off x="3489" y="1812"/>
              <a:ext cx="1141" cy="125"/>
            </a:xfrm>
            <a:prstGeom prst="rect">
              <a:avLst/>
            </a:prstGeom>
            <a:noFill/>
            <a:ln w="25400">
              <a:noFill/>
              <a:miter lim="800000"/>
              <a:headEnd/>
              <a:tailEnd/>
            </a:ln>
            <a:effectLst/>
          </p:spPr>
          <p:txBody>
            <a:bodyPr wrap="none" lIns="63500" tIns="25400" rIns="63500" bIns="25400">
              <a:spAutoFit/>
            </a:bodyPr>
            <a:lstStyle/>
            <a:p>
              <a:pPr defTabSz="762000"/>
              <a:r>
                <a:rPr lang="en-US" altLang="ko-KR" sz="1400"/>
                <a:t>physical address</a:t>
              </a:r>
            </a:p>
          </p:txBody>
        </p:sp>
        <p:sp>
          <p:nvSpPr>
            <p:cNvPr id="21511" name="Oval 7"/>
            <p:cNvSpPr>
              <a:spLocks noChangeArrowheads="1"/>
            </p:cNvSpPr>
            <p:nvPr/>
          </p:nvSpPr>
          <p:spPr bwMode="auto">
            <a:xfrm>
              <a:off x="997" y="1662"/>
              <a:ext cx="1551" cy="382"/>
            </a:xfrm>
            <a:prstGeom prst="ellipse">
              <a:avLst/>
            </a:prstGeom>
            <a:noFill/>
            <a:ln w="25400">
              <a:solidFill>
                <a:schemeClr val="tx1"/>
              </a:solidFill>
              <a:round/>
              <a:headEnd/>
              <a:tailEnd/>
            </a:ln>
            <a:effectLst/>
          </p:spPr>
          <p:txBody>
            <a:bodyPr wrap="none" anchor="ctr"/>
            <a:lstStyle/>
            <a:p>
              <a:endParaRPr lang="en-US"/>
            </a:p>
          </p:txBody>
        </p:sp>
        <p:sp>
          <p:nvSpPr>
            <p:cNvPr id="21512" name="Oval 8"/>
            <p:cNvSpPr>
              <a:spLocks noChangeArrowheads="1"/>
            </p:cNvSpPr>
            <p:nvPr/>
          </p:nvSpPr>
          <p:spPr bwMode="auto">
            <a:xfrm>
              <a:off x="3401" y="1662"/>
              <a:ext cx="1550" cy="382"/>
            </a:xfrm>
            <a:prstGeom prst="ellipse">
              <a:avLst/>
            </a:prstGeom>
            <a:noFill/>
            <a:ln w="25400">
              <a:solidFill>
                <a:schemeClr val="tx1"/>
              </a:solidFill>
              <a:round/>
              <a:headEnd/>
              <a:tailEnd/>
            </a:ln>
            <a:effectLst/>
          </p:spPr>
          <p:txBody>
            <a:bodyPr wrap="none" anchor="ctr"/>
            <a:lstStyle/>
            <a:p>
              <a:endParaRPr lang="en-US"/>
            </a:p>
          </p:txBody>
        </p:sp>
        <p:sp>
          <p:nvSpPr>
            <p:cNvPr id="21513" name="Line 9"/>
            <p:cNvSpPr>
              <a:spLocks noChangeShapeType="1"/>
            </p:cNvSpPr>
            <p:nvPr/>
          </p:nvSpPr>
          <p:spPr bwMode="auto">
            <a:xfrm>
              <a:off x="2636" y="1855"/>
              <a:ext cx="687" cy="0"/>
            </a:xfrm>
            <a:prstGeom prst="line">
              <a:avLst/>
            </a:prstGeom>
            <a:noFill/>
            <a:ln w="25400">
              <a:solidFill>
                <a:schemeClr val="tx1"/>
              </a:solidFill>
              <a:round/>
              <a:headEnd/>
              <a:tailEnd type="triangle" w="med" len="med"/>
            </a:ln>
            <a:effectLst/>
          </p:spPr>
          <p:txBody>
            <a:bodyPr wrap="none" anchor="ctr"/>
            <a:lstStyle/>
            <a:p>
              <a:endParaRPr lang="en-US"/>
            </a:p>
          </p:txBody>
        </p:sp>
        <p:sp>
          <p:nvSpPr>
            <p:cNvPr id="21514" name="Rectangle 10"/>
            <p:cNvSpPr>
              <a:spLocks noChangeArrowheads="1"/>
            </p:cNvSpPr>
            <p:nvPr/>
          </p:nvSpPr>
          <p:spPr bwMode="auto">
            <a:xfrm>
              <a:off x="1152" y="1541"/>
              <a:ext cx="999" cy="125"/>
            </a:xfrm>
            <a:prstGeom prst="rect">
              <a:avLst/>
            </a:prstGeom>
            <a:noFill/>
            <a:ln w="25400">
              <a:noFill/>
              <a:miter lim="800000"/>
              <a:headEnd/>
              <a:tailEnd/>
            </a:ln>
            <a:effectLst/>
          </p:spPr>
          <p:txBody>
            <a:bodyPr wrap="none" lIns="63500" tIns="25400" rIns="63500" bIns="25400">
              <a:spAutoFit/>
            </a:bodyPr>
            <a:lstStyle/>
            <a:p>
              <a:pPr defTabSz="762000"/>
              <a:r>
                <a:rPr lang="en-US" altLang="ko-KR" sz="1400"/>
                <a:t>address space</a:t>
              </a:r>
            </a:p>
          </p:txBody>
        </p:sp>
        <p:sp>
          <p:nvSpPr>
            <p:cNvPr id="21515" name="Rectangle 11"/>
            <p:cNvSpPr>
              <a:spLocks noChangeArrowheads="1"/>
            </p:cNvSpPr>
            <p:nvPr/>
          </p:nvSpPr>
          <p:spPr bwMode="auto">
            <a:xfrm>
              <a:off x="3579" y="1552"/>
              <a:ext cx="1041" cy="125"/>
            </a:xfrm>
            <a:prstGeom prst="rect">
              <a:avLst/>
            </a:prstGeom>
            <a:noFill/>
            <a:ln w="25400">
              <a:noFill/>
              <a:miter lim="800000"/>
              <a:headEnd/>
              <a:tailEnd/>
            </a:ln>
            <a:effectLst/>
          </p:spPr>
          <p:txBody>
            <a:bodyPr wrap="none" lIns="63500" tIns="25400" rIns="63500" bIns="25400">
              <a:spAutoFit/>
            </a:bodyPr>
            <a:lstStyle/>
            <a:p>
              <a:pPr defTabSz="762000"/>
              <a:r>
                <a:rPr lang="en-US" altLang="ko-KR" sz="1400"/>
                <a:t>memory space</a:t>
              </a:r>
            </a:p>
          </p:txBody>
        </p:sp>
        <p:sp>
          <p:nvSpPr>
            <p:cNvPr id="21516" name="Rectangle 12"/>
            <p:cNvSpPr>
              <a:spLocks noChangeArrowheads="1"/>
            </p:cNvSpPr>
            <p:nvPr/>
          </p:nvSpPr>
          <p:spPr bwMode="auto">
            <a:xfrm>
              <a:off x="366" y="2051"/>
              <a:ext cx="4251" cy="125"/>
            </a:xfrm>
            <a:prstGeom prst="rect">
              <a:avLst/>
            </a:prstGeom>
            <a:noFill/>
            <a:ln w="25400">
              <a:noFill/>
              <a:miter lim="800000"/>
              <a:headEnd/>
              <a:tailEnd/>
            </a:ln>
            <a:effectLst/>
          </p:spPr>
          <p:txBody>
            <a:bodyPr wrap="none" lIns="63500" tIns="25400" rIns="63500" bIns="25400">
              <a:spAutoFit/>
            </a:bodyPr>
            <a:lstStyle/>
            <a:p>
              <a:pPr defTabSz="762000"/>
              <a:r>
                <a:rPr lang="en-US" altLang="ko-KR" sz="1400"/>
                <a:t> address generated by programs        actual main memory address</a:t>
              </a:r>
            </a:p>
          </p:txBody>
        </p:sp>
        <p:sp>
          <p:nvSpPr>
            <p:cNvPr id="21518" name="Rectangle 14"/>
            <p:cNvSpPr>
              <a:spLocks noChangeArrowheads="1"/>
            </p:cNvSpPr>
            <p:nvPr/>
          </p:nvSpPr>
          <p:spPr bwMode="auto">
            <a:xfrm>
              <a:off x="2625" y="1724"/>
              <a:ext cx="676" cy="125"/>
            </a:xfrm>
            <a:prstGeom prst="rect">
              <a:avLst/>
            </a:prstGeom>
            <a:noFill/>
            <a:ln w="25400">
              <a:noFill/>
              <a:miter lim="800000"/>
              <a:headEnd/>
              <a:tailEnd/>
            </a:ln>
            <a:effectLst/>
          </p:spPr>
          <p:txBody>
            <a:bodyPr wrap="none" lIns="63500" tIns="25400" rIns="63500" bIns="25400">
              <a:spAutoFit/>
            </a:bodyPr>
            <a:lstStyle/>
            <a:p>
              <a:pPr defTabSz="762000"/>
              <a:r>
                <a:rPr lang="en-US" altLang="ko-KR" sz="1400"/>
                <a:t>Mapping</a:t>
              </a:r>
            </a:p>
          </p:txBody>
        </p:sp>
      </p:grpSp>
      <p:sp>
        <p:nvSpPr>
          <p:cNvPr id="21561" name="Rectangle 57"/>
          <p:cNvSpPr>
            <a:spLocks noChangeArrowheads="1"/>
          </p:cNvSpPr>
          <p:nvPr/>
        </p:nvSpPr>
        <p:spPr bwMode="auto">
          <a:xfrm>
            <a:off x="9222244" y="1"/>
            <a:ext cx="1331456" cy="283667"/>
          </a:xfrm>
          <a:prstGeom prst="rect">
            <a:avLst/>
          </a:prstGeom>
          <a:noFill/>
          <a:ln w="12700">
            <a:noFill/>
            <a:miter lim="800000"/>
            <a:headEnd/>
            <a:tailEnd/>
          </a:ln>
          <a:effectLst/>
        </p:spPr>
        <p:txBody>
          <a:bodyPr wrap="none" lIns="90488" tIns="44450" rIns="90488" bIns="44450">
            <a:spAutoFit/>
          </a:bodyPr>
          <a:lstStyle/>
          <a:p>
            <a:pPr algn="r" defTabSz="762000">
              <a:lnSpc>
                <a:spcPct val="90000"/>
              </a:lnSpc>
            </a:pPr>
            <a:r>
              <a:rPr lang="en-US" altLang="ko-KR" sz="1400" i="1"/>
              <a:t>Virtual Memory</a:t>
            </a:r>
          </a:p>
        </p:txBody>
      </p:sp>
      <p:pic>
        <p:nvPicPr>
          <p:cNvPr id="18" name="Picture 1"/>
          <p:cNvPicPr>
            <a:picLocks noChangeAspect="1" noChangeArrowheads="1"/>
          </p:cNvPicPr>
          <p:nvPr/>
        </p:nvPicPr>
        <p:blipFill>
          <a:blip r:embed="rId2" cstate="print"/>
          <a:srcRect/>
          <a:stretch>
            <a:fillRect/>
          </a:stretch>
        </p:blipFill>
        <p:spPr bwMode="auto">
          <a:xfrm>
            <a:off x="1758380" y="2675049"/>
            <a:ext cx="3768219" cy="3732073"/>
          </a:xfrm>
          <a:prstGeom prst="rect">
            <a:avLst/>
          </a:prstGeom>
          <a:noFill/>
          <a:ln w="9525">
            <a:noFill/>
            <a:miter lim="800000"/>
            <a:headEnd/>
            <a:tailEnd/>
          </a:ln>
          <a:effectLst/>
        </p:spPr>
      </p:pic>
      <p:sp>
        <p:nvSpPr>
          <p:cNvPr id="19" name="TextBox 18"/>
          <p:cNvSpPr txBox="1"/>
          <p:nvPr/>
        </p:nvSpPr>
        <p:spPr>
          <a:xfrm>
            <a:off x="3396277" y="3104140"/>
            <a:ext cx="1870839" cy="338554"/>
          </a:xfrm>
          <a:prstGeom prst="rect">
            <a:avLst/>
          </a:prstGeom>
          <a:noFill/>
        </p:spPr>
        <p:txBody>
          <a:bodyPr wrap="square" rtlCol="0">
            <a:spAutoFit/>
          </a:bodyPr>
          <a:lstStyle/>
          <a:p>
            <a:r>
              <a:rPr lang="en-US" sz="1600" dirty="0"/>
              <a:t>Address Space</a:t>
            </a:r>
          </a:p>
        </p:txBody>
      </p:sp>
      <p:sp>
        <p:nvSpPr>
          <p:cNvPr id="20" name="TextBox 19"/>
          <p:cNvSpPr txBox="1"/>
          <p:nvPr/>
        </p:nvSpPr>
        <p:spPr>
          <a:xfrm>
            <a:off x="4304088" y="4541084"/>
            <a:ext cx="1821638" cy="338554"/>
          </a:xfrm>
          <a:prstGeom prst="rect">
            <a:avLst/>
          </a:prstGeom>
          <a:noFill/>
        </p:spPr>
        <p:txBody>
          <a:bodyPr wrap="square" rtlCol="0">
            <a:spAutoFit/>
          </a:bodyPr>
          <a:lstStyle/>
          <a:p>
            <a:r>
              <a:rPr lang="en-US" sz="1600" dirty="0"/>
              <a:t>Memory Space</a:t>
            </a:r>
          </a:p>
        </p:txBody>
      </p:sp>
      <p:sp>
        <p:nvSpPr>
          <p:cNvPr id="3" name="Rectangle 2"/>
          <p:cNvSpPr/>
          <p:nvPr/>
        </p:nvSpPr>
        <p:spPr>
          <a:xfrm>
            <a:off x="5870422" y="2966778"/>
            <a:ext cx="4418585" cy="3139321"/>
          </a:xfrm>
          <a:prstGeom prst="rect">
            <a:avLst/>
          </a:prstGeom>
        </p:spPr>
        <p:txBody>
          <a:bodyPr wrap="square">
            <a:spAutoFit/>
          </a:bodyPr>
          <a:lstStyle/>
          <a:p>
            <a:pPr marL="285750" indent="-285750">
              <a:buFont typeface="Arial" pitchFamily="34" charset="0"/>
              <a:buChar char="•"/>
            </a:pPr>
            <a:r>
              <a:rPr lang="en-US" dirty="0"/>
              <a:t>Thus the address space is the set of addresses generated by programs as they reference instructions and data; </a:t>
            </a:r>
          </a:p>
          <a:p>
            <a:pPr marL="285750" indent="-285750">
              <a:buFont typeface="Arial" pitchFamily="34" charset="0"/>
              <a:buChar char="•"/>
            </a:pPr>
            <a:r>
              <a:rPr lang="en-US" dirty="0"/>
              <a:t>the memory space consists of the actual main memory locations directly addressable for processing.</a:t>
            </a:r>
          </a:p>
          <a:p>
            <a:pPr marL="285750" indent="-285750">
              <a:buFont typeface="Arial" pitchFamily="34" charset="0"/>
              <a:buChar char="•"/>
            </a:pPr>
            <a:r>
              <a:rPr lang="en-US" dirty="0"/>
              <a:t>In most computers the address and memory spaces are identical. </a:t>
            </a:r>
          </a:p>
          <a:p>
            <a:pPr marL="285750" indent="-285750">
              <a:buFont typeface="Arial" pitchFamily="34" charset="0"/>
              <a:buChar char="•"/>
            </a:pPr>
            <a:r>
              <a:rPr lang="en-US" dirty="0"/>
              <a:t>The address space is allowed to be  larger than the memory space in computers with virtual memory. </a:t>
            </a:r>
          </a:p>
        </p:txBody>
      </p:sp>
    </p:spTree>
    <p:extLst>
      <p:ext uri="{BB962C8B-B14F-4D97-AF65-F5344CB8AC3E}">
        <p14:creationId xmlns:p14="http://schemas.microsoft.com/office/powerpoint/2010/main" val="313338615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Example</a:t>
            </a:r>
          </a:p>
        </p:txBody>
      </p:sp>
      <p:sp>
        <p:nvSpPr>
          <p:cNvPr id="4" name="TextBox 3"/>
          <p:cNvSpPr txBox="1"/>
          <p:nvPr/>
        </p:nvSpPr>
        <p:spPr>
          <a:xfrm>
            <a:off x="1828800" y="914400"/>
            <a:ext cx="8477250" cy="1077218"/>
          </a:xfrm>
          <a:prstGeom prst="rect">
            <a:avLst/>
          </a:prstGeom>
          <a:noFill/>
        </p:spPr>
        <p:txBody>
          <a:bodyPr wrap="square" rtlCol="0">
            <a:spAutoFit/>
          </a:bodyPr>
          <a:lstStyle/>
          <a:p>
            <a:endParaRPr lang="en-US" sz="1600" dirty="0"/>
          </a:p>
          <a:p>
            <a:r>
              <a:rPr lang="en-US" sz="1600" dirty="0"/>
              <a:t>Main Memory Capacity = 4K words  </a:t>
            </a:r>
            <a:r>
              <a:rPr lang="en-US" sz="1600" dirty="0">
                <a:sym typeface="Wingdings" pitchFamily="2" charset="2"/>
              </a:rPr>
              <a:t> </a:t>
            </a:r>
            <a:r>
              <a:rPr lang="en-US" sz="1600" dirty="0"/>
              <a:t> needs 12 bits to specify a physical address</a:t>
            </a:r>
          </a:p>
          <a:p>
            <a:endParaRPr lang="en-US" sz="1600" dirty="0"/>
          </a:p>
          <a:p>
            <a:r>
              <a:rPr lang="en-US" sz="1600" dirty="0"/>
              <a:t>Auxiliary Memory = 1024K words  </a:t>
            </a:r>
            <a:r>
              <a:rPr lang="en-US" sz="1600" dirty="0">
                <a:sym typeface="Wingdings" pitchFamily="2" charset="2"/>
              </a:rPr>
              <a:t> can support 20 bit addresses.</a:t>
            </a:r>
            <a:endParaRPr lang="en-US" sz="1600"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4275" y="2190724"/>
            <a:ext cx="5133975" cy="4092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ADDRESS MAPPING</a:t>
            </a:r>
          </a:p>
        </p:txBody>
      </p:sp>
      <p:pic>
        <p:nvPicPr>
          <p:cNvPr id="81922" name="Picture 2"/>
          <p:cNvPicPr>
            <a:picLocks noChangeAspect="1" noChangeArrowheads="1"/>
          </p:cNvPicPr>
          <p:nvPr/>
        </p:nvPicPr>
        <p:blipFill>
          <a:blip r:embed="rId2"/>
          <a:srcRect/>
          <a:stretch>
            <a:fillRect/>
          </a:stretch>
        </p:blipFill>
        <p:spPr bwMode="auto">
          <a:xfrm>
            <a:off x="1962150" y="1071564"/>
            <a:ext cx="7810500" cy="5369719"/>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051051" y="273051"/>
            <a:ext cx="8151813" cy="383695"/>
          </a:xfrm>
          <a:noFill/>
          <a:ln/>
        </p:spPr>
        <p:txBody>
          <a:bodyPr anchor="ctr">
            <a:normAutofit fontScale="90000"/>
          </a:bodyPr>
          <a:lstStyle/>
          <a:p>
            <a:pPr algn="ctr"/>
            <a:r>
              <a:rPr lang="en-US" altLang="ko-KR" sz="2400" dirty="0">
                <a:solidFill>
                  <a:srgbClr val="C00000"/>
                </a:solidFill>
              </a:rPr>
              <a:t>MEMORY MAPPING TABLE</a:t>
            </a:r>
          </a:p>
        </p:txBody>
      </p:sp>
      <p:sp>
        <p:nvSpPr>
          <p:cNvPr id="21561" name="Rectangle 57"/>
          <p:cNvSpPr>
            <a:spLocks noChangeArrowheads="1"/>
          </p:cNvSpPr>
          <p:nvPr/>
        </p:nvSpPr>
        <p:spPr bwMode="auto">
          <a:xfrm>
            <a:off x="9222244" y="1"/>
            <a:ext cx="1331456" cy="283667"/>
          </a:xfrm>
          <a:prstGeom prst="rect">
            <a:avLst/>
          </a:prstGeom>
          <a:noFill/>
          <a:ln w="12700">
            <a:noFill/>
            <a:miter lim="800000"/>
            <a:headEnd/>
            <a:tailEnd/>
          </a:ln>
          <a:effectLst/>
        </p:spPr>
        <p:txBody>
          <a:bodyPr wrap="none" lIns="90488" tIns="44450" rIns="90488" bIns="44450">
            <a:spAutoFit/>
          </a:bodyPr>
          <a:lstStyle/>
          <a:p>
            <a:pPr algn="r" defTabSz="762000">
              <a:lnSpc>
                <a:spcPct val="90000"/>
              </a:lnSpc>
            </a:pPr>
            <a:r>
              <a:rPr lang="en-US" altLang="ko-KR" sz="1400" i="1"/>
              <a:t>Virtual Memory</a:t>
            </a:r>
          </a:p>
        </p:txBody>
      </p:sp>
      <p:pic>
        <p:nvPicPr>
          <p:cNvPr id="174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7714" y="1255594"/>
            <a:ext cx="8215884" cy="424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Pages and Blocks</a:t>
            </a:r>
          </a:p>
        </p:txBody>
      </p:sp>
      <p:sp>
        <p:nvSpPr>
          <p:cNvPr id="3" name="Content Placeholder 2"/>
          <p:cNvSpPr>
            <a:spLocks noGrp="1"/>
          </p:cNvSpPr>
          <p:nvPr>
            <p:ph idx="1"/>
          </p:nvPr>
        </p:nvSpPr>
        <p:spPr>
          <a:xfrm>
            <a:off x="1981200" y="1074058"/>
            <a:ext cx="8229600" cy="5052106"/>
          </a:xfrm>
        </p:spPr>
        <p:txBody>
          <a:bodyPr>
            <a:normAutofit lnSpcReduction="10000"/>
          </a:bodyPr>
          <a:lstStyle/>
          <a:p>
            <a:r>
              <a:rPr lang="en-US" dirty="0"/>
              <a:t>Physical memory is broken down into groups of equal size called BLOCKS</a:t>
            </a:r>
          </a:p>
          <a:p>
            <a:r>
              <a:rPr lang="en-US" dirty="0"/>
              <a:t>The groups of address space of same size are called PAGES.</a:t>
            </a:r>
          </a:p>
          <a:p>
            <a:r>
              <a:rPr lang="en-US" dirty="0"/>
              <a:t>a page refers to the organization of address space, while a block refers to the organization of memory space. </a:t>
            </a:r>
          </a:p>
          <a:p>
            <a:pPr lvl="1"/>
            <a:r>
              <a:rPr lang="en-US" dirty="0"/>
              <a:t>In previous example address space is divided into 1024 pages and main memory is divided into 4 blocks. </a:t>
            </a:r>
          </a:p>
          <a:p>
            <a:r>
              <a:rPr lang="en-US" dirty="0"/>
              <a:t>The programs are also split into pages. </a:t>
            </a:r>
          </a:p>
          <a:p>
            <a:r>
              <a:rPr lang="en-US" dirty="0"/>
              <a:t>Portions of programs are moved from auxiliary memory to main memory in records equal to the size of a page.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EXAMPLE</a:t>
            </a:r>
          </a:p>
        </p:txBody>
      </p:sp>
      <p:pic>
        <p:nvPicPr>
          <p:cNvPr id="82946" name="Picture 2"/>
          <p:cNvPicPr>
            <a:picLocks noChangeAspect="1" noChangeArrowheads="1"/>
          </p:cNvPicPr>
          <p:nvPr/>
        </p:nvPicPr>
        <p:blipFill>
          <a:blip r:embed="rId2"/>
          <a:srcRect/>
          <a:stretch>
            <a:fillRect/>
          </a:stretch>
        </p:blipFill>
        <p:spPr bwMode="auto">
          <a:xfrm>
            <a:off x="1709738" y="933450"/>
            <a:ext cx="8253412" cy="5144403"/>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EXAMPLE</a:t>
            </a:r>
          </a:p>
        </p:txBody>
      </p:sp>
      <p:pic>
        <p:nvPicPr>
          <p:cNvPr id="4" name="Picture 3"/>
          <p:cNvPicPr>
            <a:picLocks noChangeAspect="1" noChangeArrowheads="1"/>
          </p:cNvPicPr>
          <p:nvPr/>
        </p:nvPicPr>
        <p:blipFill>
          <a:blip r:embed="rId2"/>
          <a:srcRect/>
          <a:stretch>
            <a:fillRect/>
          </a:stretch>
        </p:blipFill>
        <p:spPr bwMode="auto">
          <a:xfrm>
            <a:off x="2057400" y="1063538"/>
            <a:ext cx="7372350" cy="5403024"/>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altLang="ko-KR" dirty="0">
                <a:solidFill>
                  <a:srgbClr val="C00000"/>
                </a:solidFill>
              </a:rPr>
              <a:t>Memory Table in a paged system</a:t>
            </a:r>
            <a:endParaRPr lang="en-US" dirty="0">
              <a:solidFill>
                <a:srgbClr val="C00000"/>
              </a:solidFill>
            </a:endParaRPr>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5600" y="914401"/>
            <a:ext cx="6867525" cy="5217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EXAMPLE</a:t>
            </a:r>
          </a:p>
        </p:txBody>
      </p:sp>
      <p:pic>
        <p:nvPicPr>
          <p:cNvPr id="83970" name="Picture 2"/>
          <p:cNvPicPr>
            <a:picLocks noChangeAspect="1" noChangeArrowheads="1"/>
          </p:cNvPicPr>
          <p:nvPr/>
        </p:nvPicPr>
        <p:blipFill>
          <a:blip r:embed="rId2"/>
          <a:srcRect/>
          <a:stretch>
            <a:fillRect/>
          </a:stretch>
        </p:blipFill>
        <p:spPr bwMode="auto">
          <a:xfrm>
            <a:off x="2328864" y="914400"/>
            <a:ext cx="6777037" cy="547461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thank you pic for ppt">
            <a:extLst>
              <a:ext uri="{FF2B5EF4-FFF2-40B4-BE49-F238E27FC236}">
                <a16:creationId xmlns:a16="http://schemas.microsoft.com/office/drawing/2014/main" id="{1D5CBD28-F489-4298-BC2F-4254CD77B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860" y="1690688"/>
            <a:ext cx="3882887" cy="2786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80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TotalTime>
  <Words>531</Words>
  <Application>Microsoft Office PowerPoint</Application>
  <PresentationFormat>Widescreen</PresentationFormat>
  <Paragraphs>50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 </vt:lpstr>
      <vt:lpstr>Virtual Memory</vt:lpstr>
      <vt:lpstr>VIRTUAL MEMORY</vt:lpstr>
      <vt:lpstr>VIRTUAL  MEMORY</vt:lpstr>
      <vt:lpstr>Example</vt:lpstr>
      <vt:lpstr>ADDRESS MAPPING</vt:lpstr>
      <vt:lpstr>MEMORY MAPPING TABLE</vt:lpstr>
      <vt:lpstr>Pages and Blocks</vt:lpstr>
      <vt:lpstr>EXAMPLE</vt:lpstr>
      <vt:lpstr>EXAMPLE</vt:lpstr>
      <vt:lpstr>Memory Table in a paged system</vt:lpstr>
      <vt:lpstr>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by Dr. Rizwan Khan</dc:title>
  <dc:creator>arun pandey</dc:creator>
  <cp:lastModifiedBy>admin</cp:lastModifiedBy>
  <cp:revision>38</cp:revision>
  <dcterms:created xsi:type="dcterms:W3CDTF">2020-06-18T04:00:41Z</dcterms:created>
  <dcterms:modified xsi:type="dcterms:W3CDTF">2020-08-13T06:54:37Z</dcterms:modified>
</cp:coreProperties>
</file>