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38" r:id="rId3"/>
    <p:sldId id="339" r:id="rId4"/>
    <p:sldId id="340" r:id="rId5"/>
    <p:sldId id="341" r:id="rId6"/>
    <p:sldId id="372" r:id="rId7"/>
    <p:sldId id="387" r:id="rId8"/>
    <p:sldId id="388" r:id="rId9"/>
    <p:sldId id="390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Cache Read Operation</a:t>
            </a: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14550" y="1119189"/>
            <a:ext cx="7962900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Cache Read Operation</a:t>
            </a: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4075" y="981075"/>
            <a:ext cx="794385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Cache Write Operation</a:t>
            </a:r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09789" y="1062039"/>
            <a:ext cx="7972425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Cache Write Operation</a:t>
            </a:r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3139" y="1023939"/>
            <a:ext cx="7705725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3550" y="933450"/>
            <a:ext cx="8686800" cy="1847850"/>
          </a:xfrm>
        </p:spPr>
        <p:txBody>
          <a:bodyPr/>
          <a:lstStyle/>
          <a:p>
            <a:r>
              <a:rPr lang="en-US" sz="2000" dirty="0"/>
              <a:t>The access time of a cache memory is 50ns and that of main memory is 500 ns. It is estimated that 80% of the main memory requests are for read and the remaining are for write. The hit ratio for read access only is 0.9 and a write through policy is used</a:t>
            </a:r>
          </a:p>
          <a:p>
            <a:pPr lvl="1"/>
            <a:r>
              <a:rPr lang="en-US" sz="1600" dirty="0"/>
              <a:t>Determine the average access time  considering only read cycles</a:t>
            </a:r>
          </a:p>
          <a:p>
            <a:pPr lvl="1"/>
            <a:r>
              <a:rPr lang="en-US" sz="1600" dirty="0"/>
              <a:t>What is the average time if write requests are also considered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809750" y="2838450"/>
            <a:ext cx="8686800" cy="1847850"/>
          </a:xfrm>
          <a:prstGeom prst="rect">
            <a:avLst/>
          </a:prstGeom>
        </p:spPr>
        <p:txBody>
          <a:bodyPr/>
          <a:lstStyle/>
          <a:p>
            <a:pPr marL="285750" indent="-285750" defTabSz="7620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defRPr/>
            </a:pPr>
            <a:r>
              <a:rPr kumimoji="1" lang="en-US" sz="1600" b="1" kern="0" dirty="0"/>
              <a:t>T = </a:t>
            </a:r>
            <a:r>
              <a:rPr kumimoji="1" lang="en-US" sz="1600" b="1" kern="0" dirty="0" err="1"/>
              <a:t>ht</a:t>
            </a:r>
            <a:r>
              <a:rPr kumimoji="1" lang="en-US" sz="1600" b="1" kern="0" baseline="-25000" dirty="0" err="1"/>
              <a:t>c</a:t>
            </a:r>
            <a:r>
              <a:rPr kumimoji="1" lang="en-US" sz="1600" b="1" kern="0" dirty="0"/>
              <a:t> + (1-h)t</a:t>
            </a:r>
            <a:r>
              <a:rPr kumimoji="1" lang="en-US" sz="1600" b="1" kern="0" baseline="-25000" dirty="0"/>
              <a:t>m</a:t>
            </a:r>
          </a:p>
          <a:p>
            <a:pPr marL="285750" indent="-285750" defTabSz="7620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defRPr/>
            </a:pPr>
            <a:r>
              <a:rPr kumimoji="1" lang="en-US" sz="1600" b="1" kern="0" dirty="0"/>
              <a:t>= 0.9 x 50 + 0.1 x 500</a:t>
            </a:r>
          </a:p>
          <a:p>
            <a:pPr marL="285750" indent="-285750" defTabSz="7620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defRPr/>
            </a:pPr>
            <a:r>
              <a:rPr lang="en-US" sz="1600" kern="0" dirty="0"/>
              <a:t>= 45 + 50 = 95 ns</a:t>
            </a:r>
          </a:p>
          <a:p>
            <a:pPr marL="285750" indent="-285750" defTabSz="7620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defRPr/>
            </a:pPr>
            <a:endParaRPr kumimoji="1" lang="en-US" sz="1600" b="1" kern="0" dirty="0"/>
          </a:p>
          <a:p>
            <a:pPr marL="285750" indent="-285750" defTabSz="762000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sz="1600" kern="0" dirty="0"/>
              <a:t>T </a:t>
            </a:r>
            <a:r>
              <a:rPr lang="en-US" sz="1600" kern="0" baseline="-25000" dirty="0"/>
              <a:t>r/w</a:t>
            </a:r>
            <a:r>
              <a:rPr lang="en-US" sz="1600" kern="0" dirty="0"/>
              <a:t> = read </a:t>
            </a:r>
            <a:r>
              <a:rPr lang="en-US" sz="1600" kern="0" dirty="0" err="1"/>
              <a:t>prob</a:t>
            </a:r>
            <a:r>
              <a:rPr lang="en-US" sz="1600" kern="0" dirty="0"/>
              <a:t> x t</a:t>
            </a:r>
            <a:r>
              <a:rPr lang="en-US" sz="1600" kern="0" baseline="-25000" dirty="0"/>
              <a:t>read</a:t>
            </a:r>
            <a:r>
              <a:rPr lang="en-US" sz="1600" kern="0" dirty="0"/>
              <a:t> + (1- read </a:t>
            </a:r>
            <a:r>
              <a:rPr lang="en-US" sz="1600" kern="0" dirty="0" err="1"/>
              <a:t>prob</a:t>
            </a:r>
            <a:r>
              <a:rPr lang="en-US" sz="1600" kern="0" dirty="0"/>
              <a:t>)x </a:t>
            </a:r>
            <a:r>
              <a:rPr lang="en-US" sz="1600" kern="0" dirty="0" err="1"/>
              <a:t>t</a:t>
            </a:r>
            <a:r>
              <a:rPr lang="en-US" sz="1600" kern="0" baseline="-25000" dirty="0" err="1"/>
              <a:t>write</a:t>
            </a:r>
            <a:endParaRPr lang="en-US" sz="1600" kern="0" baseline="-25000" dirty="0"/>
          </a:p>
          <a:p>
            <a:pPr marL="285750" indent="-285750" defTabSz="7620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defRPr/>
            </a:pPr>
            <a:r>
              <a:rPr kumimoji="1" lang="en-US" sz="1600" b="1" kern="0" dirty="0"/>
              <a:t>Read request </a:t>
            </a:r>
            <a:r>
              <a:rPr kumimoji="1" lang="en-US" sz="1600" b="1" kern="0" dirty="0" err="1"/>
              <a:t>prob</a:t>
            </a:r>
            <a:r>
              <a:rPr kumimoji="1" lang="en-US" sz="1600" b="1" kern="0" dirty="0"/>
              <a:t> = 0.8</a:t>
            </a:r>
          </a:p>
          <a:p>
            <a:pPr marL="285750" indent="-285750" defTabSz="7620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defRPr/>
            </a:pPr>
            <a:r>
              <a:rPr lang="en-US" sz="1600" kern="0" dirty="0"/>
              <a:t>Write request </a:t>
            </a:r>
            <a:r>
              <a:rPr lang="en-US" sz="1600" kern="0" dirty="0" err="1"/>
              <a:t>prob</a:t>
            </a:r>
            <a:r>
              <a:rPr lang="en-US" sz="1600" kern="0" dirty="0"/>
              <a:t> = 0.2</a:t>
            </a:r>
          </a:p>
          <a:p>
            <a:pPr marL="285750" indent="-285750" defTabSz="7620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defRPr/>
            </a:pPr>
            <a:r>
              <a:rPr kumimoji="1" lang="en-US" sz="1600" b="1" kern="0" dirty="0"/>
              <a:t>t</a:t>
            </a:r>
            <a:r>
              <a:rPr kumimoji="1" lang="en-US" sz="1600" b="1" kern="0" baseline="-25000" dirty="0"/>
              <a:t>read</a:t>
            </a:r>
            <a:r>
              <a:rPr kumimoji="1" lang="en-US" sz="1600" b="1" kern="0" dirty="0"/>
              <a:t> = 95ns</a:t>
            </a:r>
          </a:p>
          <a:p>
            <a:pPr marL="285750" indent="-285750" defTabSz="7620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defRPr/>
            </a:pPr>
            <a:r>
              <a:rPr lang="en-US" sz="1600" kern="0" dirty="0" err="1"/>
              <a:t>t</a:t>
            </a:r>
            <a:r>
              <a:rPr lang="en-US" sz="1600" kern="0" baseline="-25000" dirty="0" err="1"/>
              <a:t>write</a:t>
            </a:r>
            <a:r>
              <a:rPr lang="en-US" sz="1600" kern="0" dirty="0"/>
              <a:t> = 500ns (because both memories are updated at the same time)</a:t>
            </a:r>
          </a:p>
          <a:p>
            <a:pPr marL="285750" indent="-285750" defTabSz="7620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defRPr/>
            </a:pPr>
            <a:r>
              <a:rPr kumimoji="1" lang="en-US" sz="1600" b="1" kern="0" dirty="0" err="1"/>
              <a:t>t</a:t>
            </a:r>
            <a:r>
              <a:rPr kumimoji="1" lang="en-US" sz="1600" b="1" kern="0" baseline="-25000" dirty="0" err="1"/>
              <a:t>r</a:t>
            </a:r>
            <a:r>
              <a:rPr kumimoji="1" lang="en-US" sz="1600" b="1" kern="0" baseline="-25000" dirty="0"/>
              <a:t>/w</a:t>
            </a:r>
            <a:r>
              <a:rPr kumimoji="1" lang="en-US" sz="1600" b="1" kern="0" dirty="0"/>
              <a:t> = 0.8 x 95  + 0.2 x 500 </a:t>
            </a:r>
          </a:p>
          <a:p>
            <a:pPr marL="285750" indent="-285750" defTabSz="7620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defRPr/>
            </a:pPr>
            <a:r>
              <a:rPr lang="en-US" sz="1600" kern="0" dirty="0"/>
              <a:t>= 76 + 100 =  176 ns</a:t>
            </a:r>
            <a:endParaRPr kumimoji="1" lang="en-US" sz="1600" b="1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82757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Cache Performance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31235"/>
            <a:ext cx="10515600" cy="4745728"/>
          </a:xfrm>
        </p:spPr>
        <p:txBody>
          <a:bodyPr/>
          <a:lstStyle/>
          <a:p>
            <a:r>
              <a:rPr lang="en-US" dirty="0"/>
              <a:t>Cache read and write policies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80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057400"/>
            <a:ext cx="80772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744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1" y="269876"/>
            <a:ext cx="8861425" cy="481013"/>
          </a:xfrm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pPr algn="ctr"/>
            <a:r>
              <a:rPr lang="en-US" altLang="ko-KR" sz="2400" dirty="0">
                <a:solidFill>
                  <a:srgbClr val="C00000"/>
                </a:solidFill>
              </a:rPr>
              <a:t>CACHE  WRITE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1838325" y="887414"/>
            <a:ext cx="6861944" cy="56352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80000"/>
              </a:lnSpc>
            </a:pPr>
            <a:r>
              <a:rPr lang="en-US" altLang="ko-KR" u="sng"/>
              <a:t>Write Through</a:t>
            </a:r>
            <a:endParaRPr lang="en-US" altLang="ko-KR"/>
          </a:p>
          <a:p>
            <a:pPr defTabSz="762000">
              <a:lnSpc>
                <a:spcPct val="80000"/>
              </a:lnSpc>
            </a:pPr>
            <a:endParaRPr lang="en-US" altLang="ko-KR"/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When writing into memory</a:t>
            </a:r>
          </a:p>
          <a:p>
            <a:pPr defTabSz="762000">
              <a:lnSpc>
                <a:spcPct val="80000"/>
              </a:lnSpc>
            </a:pPr>
            <a:endParaRPr lang="en-US" altLang="ko-KR"/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       If Hit, both Cache and memory is written in parallel</a:t>
            </a:r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       If Miss, Memory is written</a:t>
            </a:r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           For a read miss, missing block may be</a:t>
            </a:r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           overloaded onto a cache block</a:t>
            </a:r>
          </a:p>
          <a:p>
            <a:pPr defTabSz="762000">
              <a:lnSpc>
                <a:spcPct val="80000"/>
              </a:lnSpc>
            </a:pPr>
            <a:endParaRPr lang="en-US" altLang="ko-KR"/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Memory is always updated</a:t>
            </a:r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-&gt; Important when CPU and DMA I/O are both executing</a:t>
            </a:r>
          </a:p>
          <a:p>
            <a:pPr defTabSz="762000">
              <a:lnSpc>
                <a:spcPct val="80000"/>
              </a:lnSpc>
            </a:pPr>
            <a:endParaRPr lang="en-US" altLang="ko-KR"/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Slow, due to the memory access time</a:t>
            </a:r>
          </a:p>
          <a:p>
            <a:pPr defTabSz="762000">
              <a:lnSpc>
                <a:spcPct val="80000"/>
              </a:lnSpc>
            </a:pPr>
            <a:endParaRPr lang="en-US" altLang="ko-KR"/>
          </a:p>
          <a:p>
            <a:pPr defTabSz="762000">
              <a:lnSpc>
                <a:spcPct val="80000"/>
              </a:lnSpc>
            </a:pPr>
            <a:r>
              <a:rPr lang="en-US" altLang="ko-KR" u="sng"/>
              <a:t>Write-Back (Copy-Back)</a:t>
            </a:r>
            <a:endParaRPr lang="en-US" altLang="ko-KR"/>
          </a:p>
          <a:p>
            <a:pPr defTabSz="762000">
              <a:lnSpc>
                <a:spcPct val="80000"/>
              </a:lnSpc>
            </a:pPr>
            <a:endParaRPr lang="en-US" altLang="ko-KR"/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When writing into memory</a:t>
            </a:r>
          </a:p>
          <a:p>
            <a:pPr defTabSz="762000">
              <a:lnSpc>
                <a:spcPct val="80000"/>
              </a:lnSpc>
            </a:pPr>
            <a:endParaRPr lang="en-US" altLang="ko-KR"/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       If Hit, only Cache is written</a:t>
            </a:r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       If Miss, missing block is brought to Cache and write into Cache</a:t>
            </a:r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             For a read miss, candidate block must be</a:t>
            </a:r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             written back to the memory   </a:t>
            </a:r>
          </a:p>
          <a:p>
            <a:pPr defTabSz="762000">
              <a:lnSpc>
                <a:spcPct val="80000"/>
              </a:lnSpc>
            </a:pPr>
            <a:endParaRPr lang="en-US" altLang="ko-KR"/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Memory is not up-to-date, i.e., the same item in</a:t>
            </a:r>
          </a:p>
          <a:p>
            <a:pPr defTabSz="762000">
              <a:lnSpc>
                <a:spcPct val="80000"/>
              </a:lnSpc>
            </a:pPr>
            <a:r>
              <a:rPr lang="en-US" altLang="ko-KR"/>
              <a:t>                Cache and memory may have different value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9389444" y="1"/>
            <a:ext cx="1278556" cy="2836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>
              <a:lnSpc>
                <a:spcPct val="90000"/>
              </a:lnSpc>
            </a:pPr>
            <a:r>
              <a:rPr lang="en-US" altLang="ko-KR" sz="1400" i="1"/>
              <a:t>Cache Memory</a:t>
            </a:r>
          </a:p>
        </p:txBody>
      </p:sp>
    </p:spTree>
    <p:extLst>
      <p:ext uri="{BB962C8B-B14F-4D97-AF65-F5344CB8AC3E}">
        <p14:creationId xmlns:p14="http://schemas.microsoft.com/office/powerpoint/2010/main" val="238370944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Write Back Policy</a:t>
            </a:r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2164" y="1014414"/>
            <a:ext cx="8067675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 bwMode="auto">
          <a:xfrm>
            <a:off x="3178629" y="5384800"/>
            <a:ext cx="1524000" cy="391886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</a:pPr>
            <a:endParaRPr kumimoji="1" lang="en-US" sz="1100" b="1">
              <a:latin typeface="Arial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5685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354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 </vt:lpstr>
      <vt:lpstr>Cache Read Operation</vt:lpstr>
      <vt:lpstr>Cache Read Operation</vt:lpstr>
      <vt:lpstr>Cache Write Operation</vt:lpstr>
      <vt:lpstr>Cache Write Operation</vt:lpstr>
      <vt:lpstr>Example</vt:lpstr>
      <vt:lpstr>Cache Performance</vt:lpstr>
      <vt:lpstr>CACHE  WRITE</vt:lpstr>
      <vt:lpstr>Write Back Policy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admin</cp:lastModifiedBy>
  <cp:revision>38</cp:revision>
  <dcterms:created xsi:type="dcterms:W3CDTF">2020-06-18T04:00:41Z</dcterms:created>
  <dcterms:modified xsi:type="dcterms:W3CDTF">2020-08-13T06:48:39Z</dcterms:modified>
</cp:coreProperties>
</file>