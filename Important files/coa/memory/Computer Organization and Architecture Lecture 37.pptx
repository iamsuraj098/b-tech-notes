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9" r:id="rId3"/>
    <p:sldId id="257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295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27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3793C-9F6E-4CE1-B94E-78F167BB0663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AF78A-2270-4721-AA5A-1B675F5A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19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3032" y="9408981"/>
            <a:ext cx="2955290" cy="4953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8370F26-32D7-4416-9FC2-60E0F779D588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1990" y="4705351"/>
            <a:ext cx="5455920" cy="4457700"/>
          </a:xfrm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3032" y="9408981"/>
            <a:ext cx="2955290" cy="4953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FCDE2B4-8AF9-432A-87BF-F7A5B9C1167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1990" y="4705351"/>
            <a:ext cx="5455920" cy="4457700"/>
          </a:xfrm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3032" y="9408981"/>
            <a:ext cx="2955290" cy="4953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F5E9953-ECC9-46DD-82AE-F773E50794C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1990" y="4705351"/>
            <a:ext cx="5455920" cy="4457700"/>
          </a:xfrm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3032" y="9408981"/>
            <a:ext cx="2955290" cy="4953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03C64DF-6B07-4C56-AD19-136EA5D3EEB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1990" y="4705351"/>
            <a:ext cx="5455920" cy="4457700"/>
          </a:xfrm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3032" y="9408981"/>
            <a:ext cx="2955290" cy="4953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40FC6AF-58C4-4592-83A3-126C27809ED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1990" y="4705351"/>
            <a:ext cx="5455920" cy="4457700"/>
          </a:xfrm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3032" y="9408981"/>
            <a:ext cx="2955290" cy="4953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2CDDC63-CF02-4243-A428-233507613F4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1990" y="4705351"/>
            <a:ext cx="5455920" cy="4457700"/>
          </a:xfrm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3032" y="9408981"/>
            <a:ext cx="2955290" cy="4953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413557B-F545-44BC-B5D1-78B36D89F78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1990" y="4705351"/>
            <a:ext cx="5455920" cy="4457700"/>
          </a:xfrm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3032" y="9408981"/>
            <a:ext cx="2955290" cy="4953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00E02CC-270A-48F1-8B49-0B9AAEFB0F2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1990" y="4705351"/>
            <a:ext cx="5455920" cy="4457700"/>
          </a:xfrm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3032" y="9408981"/>
            <a:ext cx="2955290" cy="4953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44546C2-C68E-45A5-B213-41A09BAC482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/>
          </a:p>
        </p:txBody>
      </p:sp>
      <p:sp>
        <p:nvSpPr>
          <p:cNvPr id="5734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8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1990" y="4705351"/>
            <a:ext cx="5455920" cy="4457700"/>
          </a:xfrm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3032" y="9408981"/>
            <a:ext cx="2955290" cy="4953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90E80A0-14B8-4032-902B-F74DC87C20B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1990" y="4705351"/>
            <a:ext cx="5455920" cy="4457700"/>
          </a:xfrm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3032" y="9408981"/>
            <a:ext cx="2955290" cy="4953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CEAA82F-5D52-4520-84AC-6A7F025BC00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1990" y="4705351"/>
            <a:ext cx="5455920" cy="4457700"/>
          </a:xfrm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3032" y="9408981"/>
            <a:ext cx="2955290" cy="4953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A700922-A13B-4A34-BCAF-A01A2B24C15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1990" y="4705351"/>
            <a:ext cx="5455920" cy="4457700"/>
          </a:xfrm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3032" y="9408981"/>
            <a:ext cx="2955290" cy="4953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1815702-C9DA-41F6-9F2F-8AB9CE4E877B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1990" y="4705351"/>
            <a:ext cx="5455920" cy="4457700"/>
          </a:xfrm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4A7E-81F0-4134-BD15-5C170C069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CD674-A3BA-4C42-9005-763EDB025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A7EDD-DFA4-4A1A-83E3-25AA585B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DDD35-3124-45BE-8281-89DADE36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DDAB-06E4-4EA3-94AC-1B24D066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9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C73F-1D55-4331-B6FC-3AA2B609F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E085-C58E-496B-98D7-1B99D1C33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2F368-288E-4BA1-BE87-29FB8F83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50FE-6DBD-4289-9511-5D05D19C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0A08E-4AE5-4672-8C44-34B86EEC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47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2352-8481-41AD-8AC0-D532E19E6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68B2E-6852-4395-B254-EEA800955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FC224-D401-4126-8A4C-A88089EB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A6F80-1254-4085-9631-EF3BFB215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5BEC7-7EFD-4172-A6EB-324F550B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76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B8EF-7756-480B-8AC4-884B456A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0B1B-47A0-4232-BAF8-F717551F6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A325D-5F45-4CA3-ABCC-3A07EE07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3B7B7-5A8B-48EE-8F45-38809D0A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7EE25-F5A8-40CF-AED4-6A8B4153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EF098-D06A-4D79-A934-F11F1217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07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17B3-8B64-4F56-9165-9D1F1B699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2F572-116B-4FBC-80A1-B160E910E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DAA3B-BF40-498F-910E-D6FE62C72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7089C-079C-4C6E-9481-3975BCB5D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D0D08-DF36-4271-880D-5E9F0DBDE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17495-0CEE-4E07-B1EE-B6519BFE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416FD-C3A3-4B77-9678-C5082E62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E038-F659-4CEC-893C-EE00681F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EC38-A637-413A-ADAE-BE0CFC8B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9CF607-1E75-4E3B-9910-AF15505B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C001C-1627-4AD3-A0D3-B3339FC1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3E4DC-41E9-49A6-9047-6E1F7BF3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CCE46B-A1F2-4FE7-BE62-EA0E275D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188AA1-14B3-435D-88D6-94512D0E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83966-455F-4672-A770-38992392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9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7F8D-EF09-4BE8-A8AA-A3E2AB642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B90AC-FF6F-4700-8FDC-3A3EC0FF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19B4C-AF9F-4A5E-9702-FB58A7B26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8C2B0-1797-4CA4-91C5-DF4B4A45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09123-8FCE-4335-90FF-B38FF427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15DF9-1BB0-4D73-8CE7-BE42FC1A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6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0001E-159E-4C6B-904E-108CE8ECF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E07AB-277F-44EB-9550-9E948F6ED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C6601-2A79-4B56-9BD2-9FFCD85C1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6FD8E-BD42-4380-A704-79AD7BEB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04562-B91A-4A31-B18F-2CE9197E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97E42-70ED-44AC-8D83-F71879FFE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2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92E7-DD2D-4D70-82F6-D9725B371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7CEF2-37E8-4EA3-895A-13883A216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F8EF2-460E-4E7D-A56E-13C49CA0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DE7C8-D345-4CEE-B7B9-E056DB78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00CDD-B8DE-434D-8CD1-8D73E046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4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BF484-8DF8-4359-A45F-3550A7C91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12163-A279-4DFE-9D2D-E78F9BB20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9479B-855F-41CF-8B9D-86AEE460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E8C7C-204E-4E9D-B2DF-712E4B42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7DAE8-C3F7-47A0-ACCB-36C329E6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0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63EC23-EE39-4728-B8BB-EAA61850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CCE27-E475-4C15-9FE6-8CAEA1D4E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445BA-1B4C-44B9-8E59-F3B0BDD73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64072-6A20-4DBD-9873-382B57A9CEBC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75FA0-C085-4441-B672-E2C970C43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23047-2BBF-4763-A0EE-1941F70D5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2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0700D48D-C9AA-4000-A912-29A4FEA98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5138" y="394887"/>
            <a:ext cx="5720862" cy="606822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DA4F3-9EF8-4369-8046-62460F132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604" y="1053042"/>
            <a:ext cx="4458424" cy="3068357"/>
          </a:xfrm>
        </p:spPr>
        <p:txBody>
          <a:bodyPr>
            <a:normAutofit/>
          </a:bodyPr>
          <a:lstStyle/>
          <a:p>
            <a:pPr algn="l"/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F6E6A-CA2C-4D7C-95F1-0463554CE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604" y="4292070"/>
            <a:ext cx="4458424" cy="1512888"/>
          </a:xfrm>
        </p:spPr>
        <p:txBody>
          <a:bodyPr>
            <a:normAutofit/>
          </a:bodyPr>
          <a:lstStyle/>
          <a:p>
            <a:pPr algn="l"/>
            <a:r>
              <a:rPr lang="en-US" sz="1500">
                <a:solidFill>
                  <a:srgbClr val="ABCD81"/>
                </a:solidFill>
              </a:rPr>
              <a:t>Dr. Rizwan Khan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Head – Department of Computer Science and Engineering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(An NBA Accredited Program)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ABES Institute of Technology, Ghaziabad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05E69BC-D844-4AB5-9E35-ED458EE29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184178" y="1874520"/>
            <a:ext cx="0" cy="310896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312C673-8179-457E-AD2A-D1FAE4CC9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14009" y="4201833"/>
            <a:ext cx="3400425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6B5078-279F-496A-B100-835C91465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047617"/>
              </p:ext>
            </p:extLst>
          </p:nvPr>
        </p:nvGraphicFramePr>
        <p:xfrm>
          <a:off x="7517296" y="1053042"/>
          <a:ext cx="39991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9192">
                  <a:extLst>
                    <a:ext uri="{9D8B030D-6E8A-4147-A177-3AD203B41FA5}">
                      <a16:colId xmlns:a16="http://schemas.microsoft.com/office/drawing/2014/main" val="3518561318"/>
                    </a:ext>
                  </a:extLst>
                </a:gridCol>
              </a:tblGrid>
              <a:tr h="1474163">
                <a:tc>
                  <a:txBody>
                    <a:bodyPr/>
                    <a:lstStyle/>
                    <a:p>
                      <a:r>
                        <a:rPr lang="en-US" sz="3200" dirty="0"/>
                        <a:t>COMPUTER ORGANIZATION AND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24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93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30"/>
    </mc:Choice>
    <mc:Fallback xmlns="">
      <p:transition spd="slow" advTm="75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3633789" y="1617663"/>
            <a:ext cx="4061881" cy="38226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85000"/>
              </a:lnSpc>
              <a:buFontTx/>
              <a:buChar char="•"/>
            </a:pPr>
            <a:r>
              <a:rPr lang="en-US" altLang="ko-KR" sz="3600" dirty="0"/>
              <a:t> Memory Hierarchy </a:t>
            </a:r>
          </a:p>
          <a:p>
            <a:pPr defTabSz="762000">
              <a:lnSpc>
                <a:spcPct val="85000"/>
              </a:lnSpc>
            </a:pPr>
            <a:endParaRPr lang="en-US" altLang="ko-KR" sz="3600" dirty="0"/>
          </a:p>
          <a:p>
            <a:pPr defTabSz="762000">
              <a:lnSpc>
                <a:spcPct val="85000"/>
              </a:lnSpc>
              <a:buFontTx/>
              <a:buChar char="•"/>
            </a:pPr>
            <a:r>
              <a:rPr lang="en-US" altLang="ko-KR" sz="3600" dirty="0"/>
              <a:t> Main Memory</a:t>
            </a:r>
          </a:p>
          <a:p>
            <a:pPr defTabSz="762000">
              <a:lnSpc>
                <a:spcPct val="85000"/>
              </a:lnSpc>
            </a:pPr>
            <a:endParaRPr lang="en-US" altLang="ko-KR" sz="3600" dirty="0"/>
          </a:p>
          <a:p>
            <a:pPr defTabSz="762000">
              <a:lnSpc>
                <a:spcPct val="85000"/>
              </a:lnSpc>
              <a:buFontTx/>
              <a:buChar char="•"/>
            </a:pPr>
            <a:r>
              <a:rPr lang="en-US" altLang="ko-KR" sz="3600" dirty="0"/>
              <a:t> Cache Memory</a:t>
            </a:r>
          </a:p>
          <a:p>
            <a:pPr defTabSz="762000">
              <a:lnSpc>
                <a:spcPct val="85000"/>
              </a:lnSpc>
            </a:pPr>
            <a:endParaRPr lang="en-US" altLang="ko-KR" sz="3600" dirty="0"/>
          </a:p>
          <a:p>
            <a:pPr defTabSz="762000">
              <a:lnSpc>
                <a:spcPct val="85000"/>
              </a:lnSpc>
              <a:buFontTx/>
              <a:buChar char="•"/>
            </a:pPr>
            <a:r>
              <a:rPr lang="en-US" altLang="ko-KR" sz="3600" dirty="0"/>
              <a:t> Virtual Memory</a:t>
            </a:r>
          </a:p>
          <a:p>
            <a:pPr defTabSz="762000">
              <a:lnSpc>
                <a:spcPct val="85000"/>
              </a:lnSpc>
            </a:pPr>
            <a:endParaRPr lang="en-US" altLang="ko-KR" sz="36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>
          <a:xfrm>
            <a:off x="1854200" y="234951"/>
            <a:ext cx="8813800" cy="506413"/>
          </a:xfrm>
          <a:noFill/>
          <a:ln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ko-KR" sz="2400">
                <a:solidFill>
                  <a:srgbClr val="000000"/>
                </a:solidFill>
              </a:rPr>
              <a:t>MEMORY  ORGANIZATION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46313" y="254001"/>
            <a:ext cx="7721600" cy="498475"/>
          </a:xfrm>
          <a:noFill/>
          <a:ln/>
        </p:spPr>
        <p:txBody>
          <a:bodyPr anchor="ctr"/>
          <a:lstStyle/>
          <a:p>
            <a:r>
              <a:rPr lang="en-US" altLang="ko-KR" sz="2400"/>
              <a:t>MEMORY  HIERARCHY</a:t>
            </a: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2927351" y="1917701"/>
            <a:ext cx="768609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Magnetic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3074989" y="2081213"/>
            <a:ext cx="523927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tapes</a:t>
            </a: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2928939" y="2417764"/>
            <a:ext cx="768609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Magnetic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3101976" y="2571750"/>
            <a:ext cx="489109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disks</a:t>
            </a: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5148263" y="2071688"/>
            <a:ext cx="385762" cy="41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I/O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4835526" y="2235200"/>
            <a:ext cx="794193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processor</a:t>
            </a:r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5016501" y="3022600"/>
            <a:ext cx="444033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CPU</a:t>
            </a:r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7124700" y="2071689"/>
            <a:ext cx="503344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Main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5131" name="Rectangle 11"/>
          <p:cNvSpPr>
            <a:spLocks noChangeArrowheads="1"/>
          </p:cNvSpPr>
          <p:nvPr/>
        </p:nvSpPr>
        <p:spPr bwMode="auto">
          <a:xfrm>
            <a:off x="7034214" y="2225675"/>
            <a:ext cx="710901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memory</a:t>
            </a:r>
          </a:p>
        </p:txBody>
      </p:sp>
      <p:sp>
        <p:nvSpPr>
          <p:cNvPr id="5132" name="Rectangle 12"/>
          <p:cNvSpPr>
            <a:spLocks noChangeArrowheads="1"/>
          </p:cNvSpPr>
          <p:nvPr/>
        </p:nvSpPr>
        <p:spPr bwMode="auto">
          <a:xfrm>
            <a:off x="7102475" y="2986089"/>
            <a:ext cx="561052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Cache</a:t>
            </a:r>
          </a:p>
          <a:p>
            <a:pPr defTabSz="762000">
              <a:lnSpc>
                <a:spcPct val="90000"/>
              </a:lnSpc>
            </a:pPr>
            <a:endParaRPr lang="en-US" altLang="ko-KR" sz="1200">
              <a:solidFill>
                <a:srgbClr val="000000"/>
              </a:solidFill>
            </a:endParaRPr>
          </a:p>
        </p:txBody>
      </p:sp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7043739" y="3128963"/>
            <a:ext cx="710901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memory</a:t>
            </a:r>
          </a:p>
        </p:txBody>
      </p:sp>
      <p:sp>
        <p:nvSpPr>
          <p:cNvPr id="5134" name="Rectangle 14"/>
          <p:cNvSpPr>
            <a:spLocks noChangeArrowheads="1"/>
          </p:cNvSpPr>
          <p:nvPr/>
        </p:nvSpPr>
        <p:spPr bwMode="auto">
          <a:xfrm>
            <a:off x="2628900" y="1706563"/>
            <a:ext cx="128554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Auxiliary memory</a:t>
            </a:r>
          </a:p>
        </p:txBody>
      </p:sp>
      <p:sp>
        <p:nvSpPr>
          <p:cNvPr id="5135" name="Rectangle 15"/>
          <p:cNvSpPr>
            <a:spLocks noChangeArrowheads="1"/>
          </p:cNvSpPr>
          <p:nvPr/>
        </p:nvSpPr>
        <p:spPr bwMode="auto">
          <a:xfrm>
            <a:off x="2811464" y="1920876"/>
            <a:ext cx="1150937" cy="3651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36" name="Rectangle 16"/>
          <p:cNvSpPr>
            <a:spLocks noChangeArrowheads="1"/>
          </p:cNvSpPr>
          <p:nvPr/>
        </p:nvSpPr>
        <p:spPr bwMode="auto">
          <a:xfrm>
            <a:off x="2811464" y="2420938"/>
            <a:ext cx="1150937" cy="355600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37" name="Rectangle 17"/>
          <p:cNvSpPr>
            <a:spLocks noChangeArrowheads="1"/>
          </p:cNvSpPr>
          <p:nvPr/>
        </p:nvSpPr>
        <p:spPr bwMode="auto">
          <a:xfrm>
            <a:off x="4768850" y="1949450"/>
            <a:ext cx="1150938" cy="635000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38" name="Rectangle 18"/>
          <p:cNvSpPr>
            <a:spLocks noChangeArrowheads="1"/>
          </p:cNvSpPr>
          <p:nvPr/>
        </p:nvSpPr>
        <p:spPr bwMode="auto">
          <a:xfrm>
            <a:off x="4768850" y="2765426"/>
            <a:ext cx="1150938" cy="6445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39" name="Arc 19"/>
          <p:cNvSpPr>
            <a:spLocks/>
          </p:cNvSpPr>
          <p:nvPr/>
        </p:nvSpPr>
        <p:spPr bwMode="auto">
          <a:xfrm>
            <a:off x="4630738" y="2149475"/>
            <a:ext cx="133350" cy="71438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40" name="Arc 20"/>
          <p:cNvSpPr>
            <a:spLocks/>
          </p:cNvSpPr>
          <p:nvPr/>
        </p:nvSpPr>
        <p:spPr bwMode="auto">
          <a:xfrm>
            <a:off x="3984626" y="2149475"/>
            <a:ext cx="131763" cy="71438"/>
          </a:xfrm>
          <a:custGeom>
            <a:avLst/>
            <a:gdLst>
              <a:gd name="G0" fmla="+- 0 0 0"/>
              <a:gd name="G1" fmla="+- 8852 0 0"/>
              <a:gd name="G2" fmla="+- 21600 0 0"/>
              <a:gd name="T0" fmla="*/ 19703 w 21600"/>
              <a:gd name="T1" fmla="*/ 0 h 17464"/>
              <a:gd name="T2" fmla="*/ 19809 w 21600"/>
              <a:gd name="T3" fmla="*/ 17464 h 17464"/>
              <a:gd name="T4" fmla="*/ 0 w 21600"/>
              <a:gd name="T5" fmla="*/ 8852 h 17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464" fill="none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</a:path>
              <a:path w="21600" h="17464" stroke="0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  <a:lnTo>
                  <a:pt x="0" y="8852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41" name="Line 21"/>
          <p:cNvSpPr>
            <a:spLocks noChangeShapeType="1"/>
          </p:cNvSpPr>
          <p:nvPr/>
        </p:nvSpPr>
        <p:spPr bwMode="auto">
          <a:xfrm>
            <a:off x="4097339" y="2182813"/>
            <a:ext cx="5683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42" name="Arc 22"/>
          <p:cNvSpPr>
            <a:spLocks/>
          </p:cNvSpPr>
          <p:nvPr/>
        </p:nvSpPr>
        <p:spPr bwMode="auto">
          <a:xfrm>
            <a:off x="4630738" y="2474913"/>
            <a:ext cx="133350" cy="74612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43" name="Arc 23"/>
          <p:cNvSpPr>
            <a:spLocks/>
          </p:cNvSpPr>
          <p:nvPr/>
        </p:nvSpPr>
        <p:spPr bwMode="auto">
          <a:xfrm>
            <a:off x="3984626" y="2474913"/>
            <a:ext cx="131763" cy="74612"/>
          </a:xfrm>
          <a:custGeom>
            <a:avLst/>
            <a:gdLst>
              <a:gd name="G0" fmla="+- 0 0 0"/>
              <a:gd name="G1" fmla="+- 8852 0 0"/>
              <a:gd name="G2" fmla="+- 21600 0 0"/>
              <a:gd name="T0" fmla="*/ 19703 w 21600"/>
              <a:gd name="T1" fmla="*/ 0 h 17464"/>
              <a:gd name="T2" fmla="*/ 19809 w 21600"/>
              <a:gd name="T3" fmla="*/ 17464 h 17464"/>
              <a:gd name="T4" fmla="*/ 0 w 21600"/>
              <a:gd name="T5" fmla="*/ 8852 h 17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464" fill="none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</a:path>
              <a:path w="21600" h="17464" stroke="0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  <a:lnTo>
                  <a:pt x="0" y="8852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44" name="Line 24"/>
          <p:cNvSpPr>
            <a:spLocks noChangeShapeType="1"/>
          </p:cNvSpPr>
          <p:nvPr/>
        </p:nvSpPr>
        <p:spPr bwMode="auto">
          <a:xfrm>
            <a:off x="4087813" y="2509838"/>
            <a:ext cx="582612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45" name="Rectangle 25"/>
          <p:cNvSpPr>
            <a:spLocks noChangeArrowheads="1"/>
          </p:cNvSpPr>
          <p:nvPr/>
        </p:nvSpPr>
        <p:spPr bwMode="auto">
          <a:xfrm>
            <a:off x="6889751" y="1949450"/>
            <a:ext cx="1082675" cy="635000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46" name="Rectangle 26"/>
          <p:cNvSpPr>
            <a:spLocks noChangeArrowheads="1"/>
          </p:cNvSpPr>
          <p:nvPr/>
        </p:nvSpPr>
        <p:spPr bwMode="auto">
          <a:xfrm>
            <a:off x="7056439" y="2986088"/>
            <a:ext cx="765175" cy="366712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47" name="Arc 27"/>
          <p:cNvSpPr>
            <a:spLocks/>
          </p:cNvSpPr>
          <p:nvPr/>
        </p:nvSpPr>
        <p:spPr bwMode="auto">
          <a:xfrm>
            <a:off x="6753226" y="2120901"/>
            <a:ext cx="131763" cy="73025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48" name="Arc 28"/>
          <p:cNvSpPr>
            <a:spLocks/>
          </p:cNvSpPr>
          <p:nvPr/>
        </p:nvSpPr>
        <p:spPr bwMode="auto">
          <a:xfrm>
            <a:off x="5940426" y="2120901"/>
            <a:ext cx="131763" cy="73025"/>
          </a:xfrm>
          <a:custGeom>
            <a:avLst/>
            <a:gdLst>
              <a:gd name="G0" fmla="+- 0 0 0"/>
              <a:gd name="G1" fmla="+- 8852 0 0"/>
              <a:gd name="G2" fmla="+- 21600 0 0"/>
              <a:gd name="T0" fmla="*/ 19703 w 21600"/>
              <a:gd name="T1" fmla="*/ 0 h 17464"/>
              <a:gd name="T2" fmla="*/ 19809 w 21600"/>
              <a:gd name="T3" fmla="*/ 17464 h 17464"/>
              <a:gd name="T4" fmla="*/ 0 w 21600"/>
              <a:gd name="T5" fmla="*/ 8852 h 17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464" fill="none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</a:path>
              <a:path w="21600" h="17464" stroke="0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  <a:lnTo>
                  <a:pt x="0" y="8852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49" name="Line 29"/>
          <p:cNvSpPr>
            <a:spLocks noChangeShapeType="1"/>
          </p:cNvSpPr>
          <p:nvPr/>
        </p:nvSpPr>
        <p:spPr bwMode="auto">
          <a:xfrm>
            <a:off x="6057900" y="2155825"/>
            <a:ext cx="69373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50" name="Arc 30"/>
          <p:cNvSpPr>
            <a:spLocks/>
          </p:cNvSpPr>
          <p:nvPr/>
        </p:nvSpPr>
        <p:spPr bwMode="auto">
          <a:xfrm>
            <a:off x="6748463" y="2400301"/>
            <a:ext cx="131762" cy="73025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51" name="Line 31"/>
          <p:cNvSpPr>
            <a:spLocks noChangeShapeType="1"/>
          </p:cNvSpPr>
          <p:nvPr/>
        </p:nvSpPr>
        <p:spPr bwMode="auto">
          <a:xfrm>
            <a:off x="6491288" y="2435225"/>
            <a:ext cx="2667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52" name="Line 32"/>
          <p:cNvSpPr>
            <a:spLocks noChangeShapeType="1"/>
          </p:cNvSpPr>
          <p:nvPr/>
        </p:nvSpPr>
        <p:spPr bwMode="auto">
          <a:xfrm>
            <a:off x="6496050" y="2439988"/>
            <a:ext cx="0" cy="5270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53" name="Arc 33"/>
          <p:cNvSpPr>
            <a:spLocks/>
          </p:cNvSpPr>
          <p:nvPr/>
        </p:nvSpPr>
        <p:spPr bwMode="auto">
          <a:xfrm>
            <a:off x="5940426" y="2943226"/>
            <a:ext cx="131763" cy="74613"/>
          </a:xfrm>
          <a:custGeom>
            <a:avLst/>
            <a:gdLst>
              <a:gd name="G0" fmla="+- 0 0 0"/>
              <a:gd name="G1" fmla="+- 8852 0 0"/>
              <a:gd name="G2" fmla="+- 21600 0 0"/>
              <a:gd name="T0" fmla="*/ 19703 w 21600"/>
              <a:gd name="T1" fmla="*/ 0 h 17464"/>
              <a:gd name="T2" fmla="*/ 19809 w 21600"/>
              <a:gd name="T3" fmla="*/ 17464 h 17464"/>
              <a:gd name="T4" fmla="*/ 0 w 21600"/>
              <a:gd name="T5" fmla="*/ 8852 h 17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464" fill="none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</a:path>
              <a:path w="21600" h="17464" stroke="0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  <a:lnTo>
                  <a:pt x="0" y="8852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54" name="Line 34"/>
          <p:cNvSpPr>
            <a:spLocks noChangeShapeType="1"/>
          </p:cNvSpPr>
          <p:nvPr/>
        </p:nvSpPr>
        <p:spPr bwMode="auto">
          <a:xfrm flipH="1">
            <a:off x="6040439" y="2973388"/>
            <a:ext cx="4730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55" name="Arc 35"/>
          <p:cNvSpPr>
            <a:spLocks/>
          </p:cNvSpPr>
          <p:nvPr/>
        </p:nvSpPr>
        <p:spPr bwMode="auto">
          <a:xfrm>
            <a:off x="6919913" y="3157539"/>
            <a:ext cx="131762" cy="73025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56" name="Arc 36"/>
          <p:cNvSpPr>
            <a:spLocks/>
          </p:cNvSpPr>
          <p:nvPr/>
        </p:nvSpPr>
        <p:spPr bwMode="auto">
          <a:xfrm>
            <a:off x="5940426" y="3157539"/>
            <a:ext cx="131763" cy="73025"/>
          </a:xfrm>
          <a:custGeom>
            <a:avLst/>
            <a:gdLst>
              <a:gd name="G0" fmla="+- 0 0 0"/>
              <a:gd name="G1" fmla="+- 8852 0 0"/>
              <a:gd name="G2" fmla="+- 21600 0 0"/>
              <a:gd name="T0" fmla="*/ 19703 w 21600"/>
              <a:gd name="T1" fmla="*/ 0 h 17464"/>
              <a:gd name="T2" fmla="*/ 19809 w 21600"/>
              <a:gd name="T3" fmla="*/ 17464 h 17464"/>
              <a:gd name="T4" fmla="*/ 0 w 21600"/>
              <a:gd name="T5" fmla="*/ 8852 h 17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464" fill="none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</a:path>
              <a:path w="21600" h="17464" stroke="0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  <a:lnTo>
                  <a:pt x="0" y="8852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57" name="Line 37"/>
          <p:cNvSpPr>
            <a:spLocks noChangeShapeType="1"/>
          </p:cNvSpPr>
          <p:nvPr/>
        </p:nvSpPr>
        <p:spPr bwMode="auto">
          <a:xfrm>
            <a:off x="6059488" y="3192463"/>
            <a:ext cx="8763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58" name="Arc 38"/>
          <p:cNvSpPr>
            <a:spLocks/>
          </p:cNvSpPr>
          <p:nvPr/>
        </p:nvSpPr>
        <p:spPr bwMode="auto">
          <a:xfrm>
            <a:off x="7386638" y="2882900"/>
            <a:ext cx="106362" cy="90488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59" name="Arc 39"/>
          <p:cNvSpPr>
            <a:spLocks/>
          </p:cNvSpPr>
          <p:nvPr/>
        </p:nvSpPr>
        <p:spPr bwMode="auto">
          <a:xfrm>
            <a:off x="7386638" y="2589214"/>
            <a:ext cx="106362" cy="90487"/>
          </a:xfrm>
          <a:custGeom>
            <a:avLst/>
            <a:gdLst>
              <a:gd name="G0" fmla="+- 8852 0 0"/>
              <a:gd name="G1" fmla="+- 0 0 0"/>
              <a:gd name="G2" fmla="+- 21600 0 0"/>
              <a:gd name="T0" fmla="*/ 17464 w 17464"/>
              <a:gd name="T1" fmla="*/ 19809 h 21600"/>
              <a:gd name="T2" fmla="*/ 0 w 17464"/>
              <a:gd name="T3" fmla="*/ 19703 h 21600"/>
              <a:gd name="T4" fmla="*/ 8852 w 17464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464" h="21600" fill="none" extrusionOk="0">
                <a:moveTo>
                  <a:pt x="17463" y="19808"/>
                </a:moveTo>
                <a:cubicBezTo>
                  <a:pt x="14746" y="20990"/>
                  <a:pt x="11815" y="21599"/>
                  <a:pt x="8852" y="21600"/>
                </a:cubicBezTo>
                <a:cubicBezTo>
                  <a:pt x="5800" y="21600"/>
                  <a:pt x="2783" y="20953"/>
                  <a:pt x="0" y="19702"/>
                </a:cubicBezTo>
              </a:path>
              <a:path w="17464" h="21600" stroke="0" extrusionOk="0">
                <a:moveTo>
                  <a:pt x="17463" y="19808"/>
                </a:moveTo>
                <a:cubicBezTo>
                  <a:pt x="14746" y="20990"/>
                  <a:pt x="11815" y="21599"/>
                  <a:pt x="8852" y="21600"/>
                </a:cubicBezTo>
                <a:cubicBezTo>
                  <a:pt x="5800" y="21600"/>
                  <a:pt x="2783" y="20953"/>
                  <a:pt x="0" y="19702"/>
                </a:cubicBezTo>
                <a:lnTo>
                  <a:pt x="8852" y="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0" name="Line 40"/>
          <p:cNvSpPr>
            <a:spLocks noChangeShapeType="1"/>
          </p:cNvSpPr>
          <p:nvPr/>
        </p:nvSpPr>
        <p:spPr bwMode="auto">
          <a:xfrm>
            <a:off x="7439025" y="2679700"/>
            <a:ext cx="0" cy="2111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2" name="Rectangle 42"/>
          <p:cNvSpPr>
            <a:spLocks noChangeArrowheads="1"/>
          </p:cNvSpPr>
          <p:nvPr/>
        </p:nvSpPr>
        <p:spPr bwMode="auto">
          <a:xfrm>
            <a:off x="4730751" y="4230689"/>
            <a:ext cx="1489075" cy="211137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3" name="Rectangle 43"/>
          <p:cNvSpPr>
            <a:spLocks noChangeArrowheads="1"/>
          </p:cNvSpPr>
          <p:nvPr/>
        </p:nvSpPr>
        <p:spPr bwMode="auto">
          <a:xfrm>
            <a:off x="4884738" y="3698875"/>
            <a:ext cx="1166812" cy="21113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4" name="Rectangle 44"/>
          <p:cNvSpPr>
            <a:spLocks noChangeArrowheads="1"/>
          </p:cNvSpPr>
          <p:nvPr/>
        </p:nvSpPr>
        <p:spPr bwMode="auto">
          <a:xfrm>
            <a:off x="5072064" y="3686175"/>
            <a:ext cx="686407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Register</a:t>
            </a:r>
          </a:p>
        </p:txBody>
      </p:sp>
      <p:sp>
        <p:nvSpPr>
          <p:cNvPr id="5165" name="Rectangle 45"/>
          <p:cNvSpPr>
            <a:spLocks noChangeArrowheads="1"/>
          </p:cNvSpPr>
          <p:nvPr/>
        </p:nvSpPr>
        <p:spPr bwMode="auto">
          <a:xfrm>
            <a:off x="5164138" y="4211638"/>
            <a:ext cx="561052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Cache</a:t>
            </a:r>
          </a:p>
        </p:txBody>
      </p:sp>
      <p:sp>
        <p:nvSpPr>
          <p:cNvPr id="5166" name="Arc 46"/>
          <p:cNvSpPr>
            <a:spLocks/>
          </p:cNvSpPr>
          <p:nvPr/>
        </p:nvSpPr>
        <p:spPr bwMode="auto">
          <a:xfrm>
            <a:off x="5232400" y="4122738"/>
            <a:ext cx="107950" cy="95250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7" name="Arc 47"/>
          <p:cNvSpPr>
            <a:spLocks/>
          </p:cNvSpPr>
          <p:nvPr/>
        </p:nvSpPr>
        <p:spPr bwMode="auto">
          <a:xfrm>
            <a:off x="5232400" y="3914775"/>
            <a:ext cx="107950" cy="95250"/>
          </a:xfrm>
          <a:custGeom>
            <a:avLst/>
            <a:gdLst>
              <a:gd name="G0" fmla="+- 8852 0 0"/>
              <a:gd name="G1" fmla="+- 0 0 0"/>
              <a:gd name="G2" fmla="+- 21600 0 0"/>
              <a:gd name="T0" fmla="*/ 17464 w 17464"/>
              <a:gd name="T1" fmla="*/ 19809 h 21600"/>
              <a:gd name="T2" fmla="*/ 0 w 17464"/>
              <a:gd name="T3" fmla="*/ 19703 h 21600"/>
              <a:gd name="T4" fmla="*/ 8852 w 17464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464" h="21600" fill="none" extrusionOk="0">
                <a:moveTo>
                  <a:pt x="17463" y="19808"/>
                </a:moveTo>
                <a:cubicBezTo>
                  <a:pt x="14746" y="20990"/>
                  <a:pt x="11815" y="21599"/>
                  <a:pt x="8852" y="21600"/>
                </a:cubicBezTo>
                <a:cubicBezTo>
                  <a:pt x="5800" y="21600"/>
                  <a:pt x="2783" y="20953"/>
                  <a:pt x="0" y="19702"/>
                </a:cubicBezTo>
              </a:path>
              <a:path w="17464" h="21600" stroke="0" extrusionOk="0">
                <a:moveTo>
                  <a:pt x="17463" y="19808"/>
                </a:moveTo>
                <a:cubicBezTo>
                  <a:pt x="14746" y="20990"/>
                  <a:pt x="11815" y="21599"/>
                  <a:pt x="8852" y="21600"/>
                </a:cubicBezTo>
                <a:cubicBezTo>
                  <a:pt x="5800" y="21600"/>
                  <a:pt x="2783" y="20953"/>
                  <a:pt x="0" y="19702"/>
                </a:cubicBezTo>
                <a:lnTo>
                  <a:pt x="8852" y="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8" name="Line 48"/>
          <p:cNvSpPr>
            <a:spLocks noChangeShapeType="1"/>
          </p:cNvSpPr>
          <p:nvPr/>
        </p:nvSpPr>
        <p:spPr bwMode="auto">
          <a:xfrm>
            <a:off x="5284788" y="4010025"/>
            <a:ext cx="0" cy="1206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9" name="Arc 49"/>
          <p:cNvSpPr>
            <a:spLocks/>
          </p:cNvSpPr>
          <p:nvPr/>
        </p:nvSpPr>
        <p:spPr bwMode="auto">
          <a:xfrm>
            <a:off x="5626100" y="4122738"/>
            <a:ext cx="107950" cy="95250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70" name="Arc 50"/>
          <p:cNvSpPr>
            <a:spLocks/>
          </p:cNvSpPr>
          <p:nvPr/>
        </p:nvSpPr>
        <p:spPr bwMode="auto">
          <a:xfrm>
            <a:off x="5626100" y="3914775"/>
            <a:ext cx="107950" cy="95250"/>
          </a:xfrm>
          <a:custGeom>
            <a:avLst/>
            <a:gdLst>
              <a:gd name="G0" fmla="+- 8852 0 0"/>
              <a:gd name="G1" fmla="+- 0 0 0"/>
              <a:gd name="G2" fmla="+- 21600 0 0"/>
              <a:gd name="T0" fmla="*/ 17464 w 17464"/>
              <a:gd name="T1" fmla="*/ 19809 h 21600"/>
              <a:gd name="T2" fmla="*/ 0 w 17464"/>
              <a:gd name="T3" fmla="*/ 19703 h 21600"/>
              <a:gd name="T4" fmla="*/ 8852 w 17464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464" h="21600" fill="none" extrusionOk="0">
                <a:moveTo>
                  <a:pt x="17463" y="19808"/>
                </a:moveTo>
                <a:cubicBezTo>
                  <a:pt x="14746" y="20990"/>
                  <a:pt x="11815" y="21599"/>
                  <a:pt x="8852" y="21600"/>
                </a:cubicBezTo>
                <a:cubicBezTo>
                  <a:pt x="5800" y="21600"/>
                  <a:pt x="2783" y="20953"/>
                  <a:pt x="0" y="19702"/>
                </a:cubicBezTo>
              </a:path>
              <a:path w="17464" h="21600" stroke="0" extrusionOk="0">
                <a:moveTo>
                  <a:pt x="17463" y="19808"/>
                </a:moveTo>
                <a:cubicBezTo>
                  <a:pt x="14746" y="20990"/>
                  <a:pt x="11815" y="21599"/>
                  <a:pt x="8852" y="21600"/>
                </a:cubicBezTo>
                <a:cubicBezTo>
                  <a:pt x="5800" y="21600"/>
                  <a:pt x="2783" y="20953"/>
                  <a:pt x="0" y="19702"/>
                </a:cubicBezTo>
                <a:lnTo>
                  <a:pt x="8852" y="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71" name="Line 51"/>
          <p:cNvSpPr>
            <a:spLocks noChangeShapeType="1"/>
          </p:cNvSpPr>
          <p:nvPr/>
        </p:nvSpPr>
        <p:spPr bwMode="auto">
          <a:xfrm>
            <a:off x="5678488" y="4010025"/>
            <a:ext cx="0" cy="1206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72" name="Arc 52"/>
          <p:cNvSpPr>
            <a:spLocks/>
          </p:cNvSpPr>
          <p:nvPr/>
        </p:nvSpPr>
        <p:spPr bwMode="auto">
          <a:xfrm>
            <a:off x="5232400" y="4654550"/>
            <a:ext cx="107950" cy="95250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73" name="Arc 53"/>
          <p:cNvSpPr>
            <a:spLocks/>
          </p:cNvSpPr>
          <p:nvPr/>
        </p:nvSpPr>
        <p:spPr bwMode="auto">
          <a:xfrm>
            <a:off x="5232400" y="4446588"/>
            <a:ext cx="107950" cy="95250"/>
          </a:xfrm>
          <a:custGeom>
            <a:avLst/>
            <a:gdLst>
              <a:gd name="G0" fmla="+- 8852 0 0"/>
              <a:gd name="G1" fmla="+- 0 0 0"/>
              <a:gd name="G2" fmla="+- 21600 0 0"/>
              <a:gd name="T0" fmla="*/ 17464 w 17464"/>
              <a:gd name="T1" fmla="*/ 19809 h 21600"/>
              <a:gd name="T2" fmla="*/ 0 w 17464"/>
              <a:gd name="T3" fmla="*/ 19703 h 21600"/>
              <a:gd name="T4" fmla="*/ 8852 w 17464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464" h="21600" fill="none" extrusionOk="0">
                <a:moveTo>
                  <a:pt x="17463" y="19808"/>
                </a:moveTo>
                <a:cubicBezTo>
                  <a:pt x="14746" y="20990"/>
                  <a:pt x="11815" y="21599"/>
                  <a:pt x="8852" y="21600"/>
                </a:cubicBezTo>
                <a:cubicBezTo>
                  <a:pt x="5800" y="21600"/>
                  <a:pt x="2783" y="20953"/>
                  <a:pt x="0" y="19702"/>
                </a:cubicBezTo>
              </a:path>
              <a:path w="17464" h="21600" stroke="0" extrusionOk="0">
                <a:moveTo>
                  <a:pt x="17463" y="19808"/>
                </a:moveTo>
                <a:cubicBezTo>
                  <a:pt x="14746" y="20990"/>
                  <a:pt x="11815" y="21599"/>
                  <a:pt x="8852" y="21600"/>
                </a:cubicBezTo>
                <a:cubicBezTo>
                  <a:pt x="5800" y="21600"/>
                  <a:pt x="2783" y="20953"/>
                  <a:pt x="0" y="19702"/>
                </a:cubicBezTo>
                <a:lnTo>
                  <a:pt x="8852" y="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74" name="Line 54"/>
          <p:cNvSpPr>
            <a:spLocks noChangeShapeType="1"/>
          </p:cNvSpPr>
          <p:nvPr/>
        </p:nvSpPr>
        <p:spPr bwMode="auto">
          <a:xfrm>
            <a:off x="5284788" y="4541838"/>
            <a:ext cx="0" cy="1206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75" name="Arc 55"/>
          <p:cNvSpPr>
            <a:spLocks/>
          </p:cNvSpPr>
          <p:nvPr/>
        </p:nvSpPr>
        <p:spPr bwMode="auto">
          <a:xfrm>
            <a:off x="5626100" y="4654550"/>
            <a:ext cx="107950" cy="95250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76" name="Arc 56"/>
          <p:cNvSpPr>
            <a:spLocks/>
          </p:cNvSpPr>
          <p:nvPr/>
        </p:nvSpPr>
        <p:spPr bwMode="auto">
          <a:xfrm>
            <a:off x="5626100" y="4446588"/>
            <a:ext cx="107950" cy="95250"/>
          </a:xfrm>
          <a:custGeom>
            <a:avLst/>
            <a:gdLst>
              <a:gd name="G0" fmla="+- 8852 0 0"/>
              <a:gd name="G1" fmla="+- 0 0 0"/>
              <a:gd name="G2" fmla="+- 21600 0 0"/>
              <a:gd name="T0" fmla="*/ 17464 w 17464"/>
              <a:gd name="T1" fmla="*/ 19809 h 21600"/>
              <a:gd name="T2" fmla="*/ 0 w 17464"/>
              <a:gd name="T3" fmla="*/ 19703 h 21600"/>
              <a:gd name="T4" fmla="*/ 8852 w 17464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464" h="21600" fill="none" extrusionOk="0">
                <a:moveTo>
                  <a:pt x="17463" y="19808"/>
                </a:moveTo>
                <a:cubicBezTo>
                  <a:pt x="14746" y="20990"/>
                  <a:pt x="11815" y="21599"/>
                  <a:pt x="8852" y="21600"/>
                </a:cubicBezTo>
                <a:cubicBezTo>
                  <a:pt x="5800" y="21600"/>
                  <a:pt x="2783" y="20953"/>
                  <a:pt x="0" y="19702"/>
                </a:cubicBezTo>
              </a:path>
              <a:path w="17464" h="21600" stroke="0" extrusionOk="0">
                <a:moveTo>
                  <a:pt x="17463" y="19808"/>
                </a:moveTo>
                <a:cubicBezTo>
                  <a:pt x="14746" y="20990"/>
                  <a:pt x="11815" y="21599"/>
                  <a:pt x="8852" y="21600"/>
                </a:cubicBezTo>
                <a:cubicBezTo>
                  <a:pt x="5800" y="21600"/>
                  <a:pt x="2783" y="20953"/>
                  <a:pt x="0" y="19702"/>
                </a:cubicBezTo>
                <a:lnTo>
                  <a:pt x="8852" y="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77" name="Line 57"/>
          <p:cNvSpPr>
            <a:spLocks noChangeShapeType="1"/>
          </p:cNvSpPr>
          <p:nvPr/>
        </p:nvSpPr>
        <p:spPr bwMode="auto">
          <a:xfrm>
            <a:off x="5678488" y="4541838"/>
            <a:ext cx="0" cy="1206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78" name="Rectangle 58"/>
          <p:cNvSpPr>
            <a:spLocks noChangeArrowheads="1"/>
          </p:cNvSpPr>
          <p:nvPr/>
        </p:nvSpPr>
        <p:spPr bwMode="auto">
          <a:xfrm>
            <a:off x="4911725" y="4783138"/>
            <a:ext cx="1074782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Main Memory</a:t>
            </a:r>
          </a:p>
        </p:txBody>
      </p:sp>
      <p:sp>
        <p:nvSpPr>
          <p:cNvPr id="5179" name="Rectangle 59"/>
          <p:cNvSpPr>
            <a:spLocks noChangeArrowheads="1"/>
          </p:cNvSpPr>
          <p:nvPr/>
        </p:nvSpPr>
        <p:spPr bwMode="auto">
          <a:xfrm>
            <a:off x="4491038" y="4764089"/>
            <a:ext cx="1968500" cy="3016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0" name="Arc 60"/>
          <p:cNvSpPr>
            <a:spLocks/>
          </p:cNvSpPr>
          <p:nvPr/>
        </p:nvSpPr>
        <p:spPr bwMode="auto">
          <a:xfrm>
            <a:off x="5232400" y="5276850"/>
            <a:ext cx="107950" cy="95250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1" name="Arc 61"/>
          <p:cNvSpPr>
            <a:spLocks/>
          </p:cNvSpPr>
          <p:nvPr/>
        </p:nvSpPr>
        <p:spPr bwMode="auto">
          <a:xfrm>
            <a:off x="5232400" y="5070475"/>
            <a:ext cx="107950" cy="95250"/>
          </a:xfrm>
          <a:custGeom>
            <a:avLst/>
            <a:gdLst>
              <a:gd name="G0" fmla="+- 8852 0 0"/>
              <a:gd name="G1" fmla="+- 0 0 0"/>
              <a:gd name="G2" fmla="+- 21600 0 0"/>
              <a:gd name="T0" fmla="*/ 17464 w 17464"/>
              <a:gd name="T1" fmla="*/ 19809 h 21600"/>
              <a:gd name="T2" fmla="*/ 0 w 17464"/>
              <a:gd name="T3" fmla="*/ 19703 h 21600"/>
              <a:gd name="T4" fmla="*/ 8852 w 17464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464" h="21600" fill="none" extrusionOk="0">
                <a:moveTo>
                  <a:pt x="17463" y="19808"/>
                </a:moveTo>
                <a:cubicBezTo>
                  <a:pt x="14746" y="20990"/>
                  <a:pt x="11815" y="21599"/>
                  <a:pt x="8852" y="21600"/>
                </a:cubicBezTo>
                <a:cubicBezTo>
                  <a:pt x="5800" y="21600"/>
                  <a:pt x="2783" y="20953"/>
                  <a:pt x="0" y="19702"/>
                </a:cubicBezTo>
              </a:path>
              <a:path w="17464" h="21600" stroke="0" extrusionOk="0">
                <a:moveTo>
                  <a:pt x="17463" y="19808"/>
                </a:moveTo>
                <a:cubicBezTo>
                  <a:pt x="14746" y="20990"/>
                  <a:pt x="11815" y="21599"/>
                  <a:pt x="8852" y="21600"/>
                </a:cubicBezTo>
                <a:cubicBezTo>
                  <a:pt x="5800" y="21600"/>
                  <a:pt x="2783" y="20953"/>
                  <a:pt x="0" y="19702"/>
                </a:cubicBezTo>
                <a:lnTo>
                  <a:pt x="8852" y="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2" name="Line 62"/>
          <p:cNvSpPr>
            <a:spLocks noChangeShapeType="1"/>
          </p:cNvSpPr>
          <p:nvPr/>
        </p:nvSpPr>
        <p:spPr bwMode="auto">
          <a:xfrm>
            <a:off x="5284788" y="5165725"/>
            <a:ext cx="0" cy="1206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3" name="Arc 63"/>
          <p:cNvSpPr>
            <a:spLocks/>
          </p:cNvSpPr>
          <p:nvPr/>
        </p:nvSpPr>
        <p:spPr bwMode="auto">
          <a:xfrm>
            <a:off x="5626100" y="5276850"/>
            <a:ext cx="107950" cy="95250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4" name="Arc 64"/>
          <p:cNvSpPr>
            <a:spLocks/>
          </p:cNvSpPr>
          <p:nvPr/>
        </p:nvSpPr>
        <p:spPr bwMode="auto">
          <a:xfrm>
            <a:off x="5626100" y="5070475"/>
            <a:ext cx="107950" cy="95250"/>
          </a:xfrm>
          <a:custGeom>
            <a:avLst/>
            <a:gdLst>
              <a:gd name="G0" fmla="+- 8852 0 0"/>
              <a:gd name="G1" fmla="+- 0 0 0"/>
              <a:gd name="G2" fmla="+- 21600 0 0"/>
              <a:gd name="T0" fmla="*/ 17464 w 17464"/>
              <a:gd name="T1" fmla="*/ 19809 h 21600"/>
              <a:gd name="T2" fmla="*/ 0 w 17464"/>
              <a:gd name="T3" fmla="*/ 19703 h 21600"/>
              <a:gd name="T4" fmla="*/ 8852 w 17464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464" h="21600" fill="none" extrusionOk="0">
                <a:moveTo>
                  <a:pt x="17463" y="19808"/>
                </a:moveTo>
                <a:cubicBezTo>
                  <a:pt x="14746" y="20990"/>
                  <a:pt x="11815" y="21599"/>
                  <a:pt x="8852" y="21600"/>
                </a:cubicBezTo>
                <a:cubicBezTo>
                  <a:pt x="5800" y="21600"/>
                  <a:pt x="2783" y="20953"/>
                  <a:pt x="0" y="19702"/>
                </a:cubicBezTo>
              </a:path>
              <a:path w="17464" h="21600" stroke="0" extrusionOk="0">
                <a:moveTo>
                  <a:pt x="17463" y="19808"/>
                </a:moveTo>
                <a:cubicBezTo>
                  <a:pt x="14746" y="20990"/>
                  <a:pt x="11815" y="21599"/>
                  <a:pt x="8852" y="21600"/>
                </a:cubicBezTo>
                <a:cubicBezTo>
                  <a:pt x="5800" y="21600"/>
                  <a:pt x="2783" y="20953"/>
                  <a:pt x="0" y="19702"/>
                </a:cubicBezTo>
                <a:lnTo>
                  <a:pt x="8852" y="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5" name="Line 65"/>
          <p:cNvSpPr>
            <a:spLocks noChangeShapeType="1"/>
          </p:cNvSpPr>
          <p:nvPr/>
        </p:nvSpPr>
        <p:spPr bwMode="auto">
          <a:xfrm>
            <a:off x="5678488" y="5165725"/>
            <a:ext cx="0" cy="1206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6" name="Rectangle 66"/>
          <p:cNvSpPr>
            <a:spLocks noChangeArrowheads="1"/>
          </p:cNvSpPr>
          <p:nvPr/>
        </p:nvSpPr>
        <p:spPr bwMode="auto">
          <a:xfrm>
            <a:off x="4252913" y="5386388"/>
            <a:ext cx="2444750" cy="381000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7" name="Arc 67"/>
          <p:cNvSpPr>
            <a:spLocks/>
          </p:cNvSpPr>
          <p:nvPr/>
        </p:nvSpPr>
        <p:spPr bwMode="auto">
          <a:xfrm>
            <a:off x="5232400" y="5980113"/>
            <a:ext cx="107950" cy="95250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8" name="Arc 68"/>
          <p:cNvSpPr>
            <a:spLocks/>
          </p:cNvSpPr>
          <p:nvPr/>
        </p:nvSpPr>
        <p:spPr bwMode="auto">
          <a:xfrm>
            <a:off x="5232400" y="5773738"/>
            <a:ext cx="107950" cy="95250"/>
          </a:xfrm>
          <a:custGeom>
            <a:avLst/>
            <a:gdLst>
              <a:gd name="G0" fmla="+- 8852 0 0"/>
              <a:gd name="G1" fmla="+- 0 0 0"/>
              <a:gd name="G2" fmla="+- 21600 0 0"/>
              <a:gd name="T0" fmla="*/ 17464 w 17464"/>
              <a:gd name="T1" fmla="*/ 19809 h 21600"/>
              <a:gd name="T2" fmla="*/ 0 w 17464"/>
              <a:gd name="T3" fmla="*/ 19703 h 21600"/>
              <a:gd name="T4" fmla="*/ 8852 w 17464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464" h="21600" fill="none" extrusionOk="0">
                <a:moveTo>
                  <a:pt x="17463" y="19808"/>
                </a:moveTo>
                <a:cubicBezTo>
                  <a:pt x="14746" y="20990"/>
                  <a:pt x="11815" y="21599"/>
                  <a:pt x="8852" y="21600"/>
                </a:cubicBezTo>
                <a:cubicBezTo>
                  <a:pt x="5800" y="21600"/>
                  <a:pt x="2783" y="20953"/>
                  <a:pt x="0" y="19702"/>
                </a:cubicBezTo>
              </a:path>
              <a:path w="17464" h="21600" stroke="0" extrusionOk="0">
                <a:moveTo>
                  <a:pt x="17463" y="19808"/>
                </a:moveTo>
                <a:cubicBezTo>
                  <a:pt x="14746" y="20990"/>
                  <a:pt x="11815" y="21599"/>
                  <a:pt x="8852" y="21600"/>
                </a:cubicBezTo>
                <a:cubicBezTo>
                  <a:pt x="5800" y="21600"/>
                  <a:pt x="2783" y="20953"/>
                  <a:pt x="0" y="19702"/>
                </a:cubicBezTo>
                <a:lnTo>
                  <a:pt x="8852" y="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89" name="Line 69"/>
          <p:cNvSpPr>
            <a:spLocks noChangeShapeType="1"/>
          </p:cNvSpPr>
          <p:nvPr/>
        </p:nvSpPr>
        <p:spPr bwMode="auto">
          <a:xfrm>
            <a:off x="5284788" y="5868988"/>
            <a:ext cx="0" cy="1206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90" name="Arc 70"/>
          <p:cNvSpPr>
            <a:spLocks/>
          </p:cNvSpPr>
          <p:nvPr/>
        </p:nvSpPr>
        <p:spPr bwMode="auto">
          <a:xfrm>
            <a:off x="5626100" y="5980113"/>
            <a:ext cx="107950" cy="95250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91" name="Arc 71"/>
          <p:cNvSpPr>
            <a:spLocks/>
          </p:cNvSpPr>
          <p:nvPr/>
        </p:nvSpPr>
        <p:spPr bwMode="auto">
          <a:xfrm>
            <a:off x="5626100" y="5773738"/>
            <a:ext cx="107950" cy="95250"/>
          </a:xfrm>
          <a:custGeom>
            <a:avLst/>
            <a:gdLst>
              <a:gd name="G0" fmla="+- 8852 0 0"/>
              <a:gd name="G1" fmla="+- 0 0 0"/>
              <a:gd name="G2" fmla="+- 21600 0 0"/>
              <a:gd name="T0" fmla="*/ 17464 w 17464"/>
              <a:gd name="T1" fmla="*/ 19809 h 21600"/>
              <a:gd name="T2" fmla="*/ 0 w 17464"/>
              <a:gd name="T3" fmla="*/ 19703 h 21600"/>
              <a:gd name="T4" fmla="*/ 8852 w 17464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464" h="21600" fill="none" extrusionOk="0">
                <a:moveTo>
                  <a:pt x="17463" y="19808"/>
                </a:moveTo>
                <a:cubicBezTo>
                  <a:pt x="14746" y="20990"/>
                  <a:pt x="11815" y="21599"/>
                  <a:pt x="8852" y="21600"/>
                </a:cubicBezTo>
                <a:cubicBezTo>
                  <a:pt x="5800" y="21600"/>
                  <a:pt x="2783" y="20953"/>
                  <a:pt x="0" y="19702"/>
                </a:cubicBezTo>
              </a:path>
              <a:path w="17464" h="21600" stroke="0" extrusionOk="0">
                <a:moveTo>
                  <a:pt x="17463" y="19808"/>
                </a:moveTo>
                <a:cubicBezTo>
                  <a:pt x="14746" y="20990"/>
                  <a:pt x="11815" y="21599"/>
                  <a:pt x="8852" y="21600"/>
                </a:cubicBezTo>
                <a:cubicBezTo>
                  <a:pt x="5800" y="21600"/>
                  <a:pt x="2783" y="20953"/>
                  <a:pt x="0" y="19702"/>
                </a:cubicBezTo>
                <a:lnTo>
                  <a:pt x="8852" y="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92" name="Line 72"/>
          <p:cNvSpPr>
            <a:spLocks noChangeShapeType="1"/>
          </p:cNvSpPr>
          <p:nvPr/>
        </p:nvSpPr>
        <p:spPr bwMode="auto">
          <a:xfrm>
            <a:off x="5678488" y="5868988"/>
            <a:ext cx="0" cy="1206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93" name="Rectangle 73"/>
          <p:cNvSpPr>
            <a:spLocks noChangeArrowheads="1"/>
          </p:cNvSpPr>
          <p:nvPr/>
        </p:nvSpPr>
        <p:spPr bwMode="auto">
          <a:xfrm>
            <a:off x="4889500" y="5440363"/>
            <a:ext cx="106516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Magnetic Disk</a:t>
            </a:r>
          </a:p>
        </p:txBody>
      </p:sp>
      <p:sp>
        <p:nvSpPr>
          <p:cNvPr id="5194" name="Rectangle 74"/>
          <p:cNvSpPr>
            <a:spLocks noChangeArrowheads="1"/>
          </p:cNvSpPr>
          <p:nvPr/>
        </p:nvSpPr>
        <p:spPr bwMode="auto">
          <a:xfrm>
            <a:off x="4013201" y="6089650"/>
            <a:ext cx="2924175" cy="40163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95" name="Rectangle 75"/>
          <p:cNvSpPr>
            <a:spLocks noChangeArrowheads="1"/>
          </p:cNvSpPr>
          <p:nvPr/>
        </p:nvSpPr>
        <p:spPr bwMode="auto">
          <a:xfrm>
            <a:off x="4846638" y="6148388"/>
            <a:ext cx="109799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</a:rPr>
              <a:t>Magnetic Tape</a:t>
            </a:r>
          </a:p>
        </p:txBody>
      </p:sp>
      <p:sp>
        <p:nvSpPr>
          <p:cNvPr id="5197" name="Rectangle 77"/>
          <p:cNvSpPr>
            <a:spLocks noChangeArrowheads="1"/>
          </p:cNvSpPr>
          <p:nvPr/>
        </p:nvSpPr>
        <p:spPr bwMode="auto">
          <a:xfrm>
            <a:off x="2171701" y="1036638"/>
            <a:ext cx="6486841" cy="5883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/>
              <a:t>Memory Hierarchy is to obtain the highest possible</a:t>
            </a:r>
          </a:p>
          <a:p>
            <a:pPr defTabSz="762000">
              <a:lnSpc>
                <a:spcPct val="90000"/>
              </a:lnSpc>
            </a:pPr>
            <a:r>
              <a:rPr lang="en-US" altLang="ko-KR"/>
              <a:t>access speed while minimizing the total cost of the memory system</a:t>
            </a:r>
          </a:p>
        </p:txBody>
      </p:sp>
      <p:sp>
        <p:nvSpPr>
          <p:cNvPr id="5198" name="Rectangle 78"/>
          <p:cNvSpPr>
            <a:spLocks noChangeArrowheads="1"/>
          </p:cNvSpPr>
          <p:nvPr/>
        </p:nvSpPr>
        <p:spPr bwMode="auto">
          <a:xfrm>
            <a:off x="2063750" y="1001714"/>
            <a:ext cx="7670800" cy="62388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99" name="Rectangle 79"/>
          <p:cNvSpPr>
            <a:spLocks noChangeArrowheads="1"/>
          </p:cNvSpPr>
          <p:nvPr/>
        </p:nvSpPr>
        <p:spPr bwMode="auto">
          <a:xfrm>
            <a:off x="9131426" y="1"/>
            <a:ext cx="1536575" cy="2836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defTabSz="762000">
              <a:lnSpc>
                <a:spcPct val="90000"/>
              </a:lnSpc>
            </a:pPr>
            <a:r>
              <a:rPr lang="en-US" altLang="ko-KR" sz="1400" i="1"/>
              <a:t>Memory Hierarchy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Characteristics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981200" y="1600201"/>
            <a:ext cx="7467600" cy="4873625"/>
          </a:xfrm>
        </p:spPr>
        <p:txBody>
          <a:bodyPr/>
          <a:lstStyle/>
          <a:p>
            <a:pPr eaLnBrk="1" hangingPunct="1"/>
            <a:r>
              <a:rPr lang="en-GB"/>
              <a:t>Location</a:t>
            </a:r>
          </a:p>
          <a:p>
            <a:pPr eaLnBrk="1" hangingPunct="1"/>
            <a:r>
              <a:rPr lang="en-GB"/>
              <a:t>Capacity</a:t>
            </a:r>
          </a:p>
          <a:p>
            <a:pPr eaLnBrk="1" hangingPunct="1"/>
            <a:r>
              <a:rPr lang="en-GB"/>
              <a:t>Unit of transfer</a:t>
            </a:r>
          </a:p>
          <a:p>
            <a:pPr eaLnBrk="1" hangingPunct="1"/>
            <a:r>
              <a:rPr lang="en-GB"/>
              <a:t>Access method</a:t>
            </a:r>
          </a:p>
          <a:p>
            <a:pPr eaLnBrk="1" hangingPunct="1"/>
            <a:r>
              <a:rPr lang="en-GB"/>
              <a:t>Performance</a:t>
            </a:r>
          </a:p>
          <a:p>
            <a:pPr eaLnBrk="1" hangingPunct="1"/>
            <a:r>
              <a:rPr lang="en-GB"/>
              <a:t>Physical type</a:t>
            </a:r>
          </a:p>
          <a:p>
            <a:pPr eaLnBrk="1" hangingPunct="1"/>
            <a:r>
              <a:rPr lang="en-GB"/>
              <a:t>Physical characteristics</a:t>
            </a:r>
          </a:p>
          <a:p>
            <a:pPr eaLnBrk="1" hangingPunct="1"/>
            <a:r>
              <a:rPr lang="en-GB"/>
              <a:t>Organisation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Location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7467600" cy="4873625"/>
          </a:xfrm>
        </p:spPr>
        <p:txBody>
          <a:bodyPr/>
          <a:lstStyle/>
          <a:p>
            <a:pPr eaLnBrk="1" hangingPunct="1"/>
            <a:r>
              <a:rPr lang="en-GB"/>
              <a:t>CPU</a:t>
            </a:r>
          </a:p>
          <a:p>
            <a:pPr eaLnBrk="1" hangingPunct="1"/>
            <a:r>
              <a:rPr lang="en-GB"/>
              <a:t>Internal</a:t>
            </a:r>
          </a:p>
          <a:p>
            <a:pPr eaLnBrk="1" hangingPunct="1"/>
            <a:r>
              <a:rPr lang="en-GB"/>
              <a:t>External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Capacity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7467600" cy="4873625"/>
          </a:xfrm>
        </p:spPr>
        <p:txBody>
          <a:bodyPr/>
          <a:lstStyle/>
          <a:p>
            <a:pPr eaLnBrk="1" hangingPunct="1"/>
            <a:r>
              <a:rPr lang="en-GB"/>
              <a:t>Word size</a:t>
            </a:r>
          </a:p>
          <a:p>
            <a:pPr lvl="1" eaLnBrk="1" hangingPunct="1"/>
            <a:r>
              <a:rPr lang="en-GB"/>
              <a:t>The natural unit of organisation</a:t>
            </a:r>
          </a:p>
          <a:p>
            <a:pPr eaLnBrk="1" hangingPunct="1"/>
            <a:r>
              <a:rPr lang="en-GB"/>
              <a:t>Number of words</a:t>
            </a:r>
          </a:p>
          <a:p>
            <a:pPr lvl="1" eaLnBrk="1" hangingPunct="1"/>
            <a:r>
              <a:rPr lang="en-GB"/>
              <a:t>or Bytes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Unit of Transfer</a:t>
            </a:r>
          </a:p>
        </p:txBody>
      </p:sp>
      <p:sp>
        <p:nvSpPr>
          <p:cNvPr id="1229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7467600" cy="4873625"/>
          </a:xfrm>
        </p:spPr>
        <p:txBody>
          <a:bodyPr/>
          <a:lstStyle/>
          <a:p>
            <a:pPr eaLnBrk="1" hangingPunct="1"/>
            <a:r>
              <a:rPr lang="en-GB"/>
              <a:t>Internal</a:t>
            </a:r>
          </a:p>
          <a:p>
            <a:pPr lvl="1" eaLnBrk="1" hangingPunct="1"/>
            <a:r>
              <a:rPr lang="en-GB"/>
              <a:t>Usually governed by data bus width</a:t>
            </a:r>
          </a:p>
          <a:p>
            <a:pPr eaLnBrk="1" hangingPunct="1"/>
            <a:r>
              <a:rPr lang="en-GB"/>
              <a:t>External</a:t>
            </a:r>
          </a:p>
          <a:p>
            <a:pPr lvl="1" eaLnBrk="1" hangingPunct="1"/>
            <a:r>
              <a:rPr lang="en-GB"/>
              <a:t>Usually a block which is much larger than a word</a:t>
            </a:r>
          </a:p>
          <a:p>
            <a:pPr eaLnBrk="1" hangingPunct="1"/>
            <a:r>
              <a:rPr lang="en-GB"/>
              <a:t>Addressable unit</a:t>
            </a:r>
          </a:p>
          <a:p>
            <a:pPr lvl="1" eaLnBrk="1" hangingPunct="1"/>
            <a:r>
              <a:rPr lang="en-GB"/>
              <a:t>Smallest location which can be uniquely addressed</a:t>
            </a:r>
          </a:p>
          <a:p>
            <a:pPr lvl="1" eaLnBrk="1" hangingPunct="1"/>
            <a:r>
              <a:rPr lang="en-GB"/>
              <a:t>Word internally</a:t>
            </a:r>
          </a:p>
          <a:p>
            <a:pPr lvl="1" eaLnBrk="1" hangingPunct="1"/>
            <a:r>
              <a:rPr lang="en-GB"/>
              <a:t>Cluster on M$ disks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Access Methods (1)</a:t>
            </a:r>
          </a:p>
        </p:txBody>
      </p:sp>
      <p:sp>
        <p:nvSpPr>
          <p:cNvPr id="13315" name="Rectangle 1029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7467600" cy="4873625"/>
          </a:xfrm>
        </p:spPr>
        <p:txBody>
          <a:bodyPr/>
          <a:lstStyle/>
          <a:p>
            <a:pPr eaLnBrk="1" hangingPunct="1"/>
            <a:r>
              <a:rPr lang="en-GB"/>
              <a:t>Sequential</a:t>
            </a:r>
          </a:p>
          <a:p>
            <a:pPr lvl="1" eaLnBrk="1" hangingPunct="1"/>
            <a:r>
              <a:rPr lang="en-GB"/>
              <a:t>Start at the beginning and read through in order</a:t>
            </a:r>
          </a:p>
          <a:p>
            <a:pPr lvl="1" eaLnBrk="1" hangingPunct="1"/>
            <a:r>
              <a:rPr lang="en-GB"/>
              <a:t>Access time depends on location of data and previous location</a:t>
            </a:r>
          </a:p>
          <a:p>
            <a:pPr lvl="1" eaLnBrk="1" hangingPunct="1"/>
            <a:r>
              <a:rPr lang="en-GB"/>
              <a:t>e.g. tape</a:t>
            </a:r>
          </a:p>
          <a:p>
            <a:pPr eaLnBrk="1" hangingPunct="1"/>
            <a:r>
              <a:rPr lang="en-GB"/>
              <a:t>Direct</a:t>
            </a:r>
          </a:p>
          <a:p>
            <a:pPr lvl="1" eaLnBrk="1" hangingPunct="1"/>
            <a:r>
              <a:rPr lang="en-GB"/>
              <a:t>Individual blocks have unique address</a:t>
            </a:r>
          </a:p>
          <a:p>
            <a:pPr lvl="1" eaLnBrk="1" hangingPunct="1"/>
            <a:r>
              <a:rPr lang="en-GB"/>
              <a:t>Access is by jumping to vicinity plus sequential search</a:t>
            </a:r>
          </a:p>
          <a:p>
            <a:pPr lvl="1" eaLnBrk="1" hangingPunct="1"/>
            <a:r>
              <a:rPr lang="en-GB"/>
              <a:t>Access time depends on location and previous location</a:t>
            </a:r>
          </a:p>
          <a:p>
            <a:pPr lvl="1" eaLnBrk="1" hangingPunct="1"/>
            <a:r>
              <a:rPr lang="en-GB"/>
              <a:t>e.g. disk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Access Methods (2)</a:t>
            </a:r>
          </a:p>
        </p:txBody>
      </p:sp>
      <p:sp>
        <p:nvSpPr>
          <p:cNvPr id="14339" name="Rectangle 1029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7467600" cy="4873625"/>
          </a:xfrm>
        </p:spPr>
        <p:txBody>
          <a:bodyPr/>
          <a:lstStyle/>
          <a:p>
            <a:pPr eaLnBrk="1" hangingPunct="1"/>
            <a:r>
              <a:rPr lang="en-GB"/>
              <a:t>Random</a:t>
            </a:r>
          </a:p>
          <a:p>
            <a:pPr lvl="1" eaLnBrk="1" hangingPunct="1"/>
            <a:r>
              <a:rPr lang="en-GB"/>
              <a:t>Individual addresses identify locations exactly</a:t>
            </a:r>
          </a:p>
          <a:p>
            <a:pPr lvl="1" eaLnBrk="1" hangingPunct="1"/>
            <a:r>
              <a:rPr lang="en-GB"/>
              <a:t>Access time is independent of location or previous access</a:t>
            </a:r>
          </a:p>
          <a:p>
            <a:pPr lvl="1" eaLnBrk="1" hangingPunct="1"/>
            <a:r>
              <a:rPr lang="en-GB"/>
              <a:t>e.g. RAM</a:t>
            </a:r>
          </a:p>
          <a:p>
            <a:pPr eaLnBrk="1" hangingPunct="1"/>
            <a:r>
              <a:rPr lang="en-GB"/>
              <a:t>Associative</a:t>
            </a:r>
          </a:p>
          <a:p>
            <a:pPr lvl="1" eaLnBrk="1" hangingPunct="1"/>
            <a:r>
              <a:rPr lang="en-GB"/>
              <a:t>Data is located by a comparison with contents of a portion of the store</a:t>
            </a:r>
          </a:p>
          <a:p>
            <a:pPr lvl="1" eaLnBrk="1" hangingPunct="1"/>
            <a:r>
              <a:rPr lang="en-GB"/>
              <a:t>Access time is independent of location or previous access</a:t>
            </a:r>
          </a:p>
          <a:p>
            <a:pPr lvl="1" eaLnBrk="1" hangingPunct="1"/>
            <a:r>
              <a:rPr lang="en-GB"/>
              <a:t>e.g. cache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Memory Hierarchy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7467600" cy="4873625"/>
          </a:xfrm>
        </p:spPr>
        <p:txBody>
          <a:bodyPr/>
          <a:lstStyle/>
          <a:p>
            <a:pPr eaLnBrk="1" hangingPunct="1"/>
            <a:r>
              <a:rPr lang="en-GB"/>
              <a:t>Registers</a:t>
            </a:r>
          </a:p>
          <a:p>
            <a:pPr lvl="1" eaLnBrk="1" hangingPunct="1"/>
            <a:r>
              <a:rPr lang="en-GB"/>
              <a:t>In CPU</a:t>
            </a:r>
          </a:p>
          <a:p>
            <a:pPr eaLnBrk="1" hangingPunct="1"/>
            <a:r>
              <a:rPr lang="en-GB"/>
              <a:t>Internal or Main memory</a:t>
            </a:r>
          </a:p>
          <a:p>
            <a:pPr lvl="1" eaLnBrk="1" hangingPunct="1"/>
            <a:r>
              <a:rPr lang="en-GB"/>
              <a:t>May include one or more levels of cache</a:t>
            </a:r>
          </a:p>
          <a:p>
            <a:pPr lvl="1" eaLnBrk="1" hangingPunct="1"/>
            <a:r>
              <a:rPr lang="en-GB"/>
              <a:t>“RAM”</a:t>
            </a:r>
          </a:p>
          <a:p>
            <a:pPr eaLnBrk="1" hangingPunct="1"/>
            <a:r>
              <a:rPr lang="en-GB"/>
              <a:t>External memory</a:t>
            </a:r>
          </a:p>
          <a:p>
            <a:pPr lvl="1" eaLnBrk="1" hangingPunct="1"/>
            <a:r>
              <a:rPr lang="en-GB"/>
              <a:t>Backing store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225" y="220663"/>
            <a:ext cx="8809038" cy="549894"/>
          </a:xfrm>
        </p:spPr>
        <p:txBody>
          <a:bodyPr>
            <a:normAutofit fontScale="90000"/>
          </a:bodyPr>
          <a:lstStyle/>
          <a:p>
            <a:r>
              <a:rPr lang="en-US" dirty="0"/>
              <a:t>Memory Hierarchy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5130" y="1386342"/>
            <a:ext cx="8715675" cy="4898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Performance</a:t>
            </a:r>
          </a:p>
        </p:txBody>
      </p:sp>
      <p:sp>
        <p:nvSpPr>
          <p:cNvPr id="1741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7467600" cy="4873625"/>
          </a:xfrm>
        </p:spPr>
        <p:txBody>
          <a:bodyPr/>
          <a:lstStyle/>
          <a:p>
            <a:pPr eaLnBrk="1" hangingPunct="1"/>
            <a:r>
              <a:rPr lang="en-GB"/>
              <a:t>Access time</a:t>
            </a:r>
          </a:p>
          <a:p>
            <a:pPr lvl="1" eaLnBrk="1" hangingPunct="1"/>
            <a:r>
              <a:rPr lang="en-GB"/>
              <a:t>Time between presenting the address and getting the valid data</a:t>
            </a:r>
          </a:p>
          <a:p>
            <a:pPr eaLnBrk="1" hangingPunct="1"/>
            <a:r>
              <a:rPr lang="en-GB"/>
              <a:t>Memory Cycle time</a:t>
            </a:r>
          </a:p>
          <a:p>
            <a:pPr lvl="1" eaLnBrk="1" hangingPunct="1"/>
            <a:r>
              <a:rPr lang="en-GB"/>
              <a:t>Time may be required for the memory to “recover” before next access</a:t>
            </a:r>
          </a:p>
          <a:p>
            <a:pPr lvl="1" eaLnBrk="1" hangingPunct="1"/>
            <a:r>
              <a:rPr lang="en-GB"/>
              <a:t>Cycle time is access + recovery</a:t>
            </a:r>
          </a:p>
          <a:p>
            <a:pPr eaLnBrk="1" hangingPunct="1"/>
            <a:r>
              <a:rPr lang="en-GB"/>
              <a:t>Transfer Rate</a:t>
            </a:r>
          </a:p>
          <a:p>
            <a:pPr lvl="1" eaLnBrk="1" hangingPunct="1"/>
            <a:r>
              <a:rPr lang="en-GB"/>
              <a:t>Rate at which data can be moved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Physical Types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7467600" cy="4873625"/>
          </a:xfrm>
        </p:spPr>
        <p:txBody>
          <a:bodyPr/>
          <a:lstStyle/>
          <a:p>
            <a:pPr eaLnBrk="1" hangingPunct="1"/>
            <a:r>
              <a:rPr lang="en-GB"/>
              <a:t>Semiconductor</a:t>
            </a:r>
          </a:p>
          <a:p>
            <a:pPr lvl="1" eaLnBrk="1" hangingPunct="1"/>
            <a:r>
              <a:rPr lang="en-GB"/>
              <a:t>RAM</a:t>
            </a:r>
          </a:p>
          <a:p>
            <a:pPr eaLnBrk="1" hangingPunct="1"/>
            <a:r>
              <a:rPr lang="en-GB"/>
              <a:t>Magnetic</a:t>
            </a:r>
          </a:p>
          <a:p>
            <a:pPr lvl="1" eaLnBrk="1" hangingPunct="1"/>
            <a:r>
              <a:rPr lang="en-GB"/>
              <a:t>Disk &amp; Tape</a:t>
            </a:r>
          </a:p>
          <a:p>
            <a:pPr eaLnBrk="1" hangingPunct="1"/>
            <a:r>
              <a:rPr lang="en-GB"/>
              <a:t>Optical</a:t>
            </a:r>
          </a:p>
          <a:p>
            <a:pPr lvl="1" eaLnBrk="1" hangingPunct="1"/>
            <a:r>
              <a:rPr lang="en-GB"/>
              <a:t>CD &amp; DVD</a:t>
            </a:r>
          </a:p>
          <a:p>
            <a:pPr eaLnBrk="1" hangingPunct="1"/>
            <a:r>
              <a:rPr lang="en-GB"/>
              <a:t>Others</a:t>
            </a:r>
          </a:p>
          <a:p>
            <a:pPr lvl="1" eaLnBrk="1" hangingPunct="1"/>
            <a:r>
              <a:rPr lang="en-GB"/>
              <a:t>Bubble</a:t>
            </a:r>
          </a:p>
          <a:p>
            <a:pPr lvl="1" eaLnBrk="1" hangingPunct="1"/>
            <a:r>
              <a:rPr lang="en-GB"/>
              <a:t>Hologram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Physical Characteristics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7467600" cy="4873625"/>
          </a:xfrm>
        </p:spPr>
        <p:txBody>
          <a:bodyPr/>
          <a:lstStyle/>
          <a:p>
            <a:pPr eaLnBrk="1" hangingPunct="1"/>
            <a:r>
              <a:rPr lang="en-GB"/>
              <a:t>Decay</a:t>
            </a:r>
          </a:p>
          <a:p>
            <a:pPr eaLnBrk="1" hangingPunct="1"/>
            <a:r>
              <a:rPr lang="en-GB"/>
              <a:t>Volatility</a:t>
            </a:r>
          </a:p>
          <a:p>
            <a:pPr eaLnBrk="1" hangingPunct="1"/>
            <a:r>
              <a:rPr lang="en-GB"/>
              <a:t>Erasable</a:t>
            </a:r>
          </a:p>
          <a:p>
            <a:pPr eaLnBrk="1" hangingPunct="1"/>
            <a:r>
              <a:rPr lang="en-GB"/>
              <a:t>Power consumption</a:t>
            </a:r>
          </a:p>
          <a:p>
            <a:pPr eaLnBrk="1" hangingPunct="1"/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Organisation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7467600" cy="4873625"/>
          </a:xfrm>
        </p:spPr>
        <p:txBody>
          <a:bodyPr/>
          <a:lstStyle/>
          <a:p>
            <a:pPr eaLnBrk="1" hangingPunct="1"/>
            <a:r>
              <a:rPr lang="en-GB"/>
              <a:t>Physical arrangement of bits into words</a:t>
            </a:r>
          </a:p>
          <a:p>
            <a:pPr eaLnBrk="1" hangingPunct="1"/>
            <a:r>
              <a:rPr lang="en-GB"/>
              <a:t>Not always obvious</a:t>
            </a:r>
          </a:p>
          <a:p>
            <a:pPr eaLnBrk="1" hangingPunct="1"/>
            <a:r>
              <a:rPr lang="en-GB"/>
              <a:t>e.g. interleaved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Semiconductor Memory Types</a:t>
            </a:r>
          </a:p>
        </p:txBody>
      </p:sp>
      <p:pic>
        <p:nvPicPr>
          <p:cNvPr id="21507" name="Picture 4"/>
          <p:cNvPicPr>
            <a:picLocks noChangeAspect="1" noChangeArrowheads="1"/>
          </p:cNvPicPr>
          <p:nvPr/>
        </p:nvPicPr>
        <p:blipFill>
          <a:blip r:embed="rId2" cstate="print"/>
          <a:srcRect l="7599" t="18279" r="6648" b="38136"/>
          <a:stretch>
            <a:fillRect/>
          </a:stretch>
        </p:blipFill>
        <p:spPr bwMode="auto">
          <a:xfrm>
            <a:off x="1614906" y="1527628"/>
            <a:ext cx="9053094" cy="3552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Semiconductor Memory</a:t>
            </a:r>
          </a:p>
        </p:txBody>
      </p:sp>
      <p:sp>
        <p:nvSpPr>
          <p:cNvPr id="2253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7467600" cy="4873625"/>
          </a:xfrm>
        </p:spPr>
        <p:txBody>
          <a:bodyPr/>
          <a:lstStyle/>
          <a:p>
            <a:pPr eaLnBrk="1" hangingPunct="1"/>
            <a:r>
              <a:rPr lang="en-GB"/>
              <a:t>RAM </a:t>
            </a:r>
          </a:p>
          <a:p>
            <a:pPr lvl="1" eaLnBrk="1" hangingPunct="1"/>
            <a:r>
              <a:rPr lang="en-GB"/>
              <a:t>Misnamed as all semiconductor memory is random access</a:t>
            </a:r>
          </a:p>
          <a:p>
            <a:pPr lvl="1" eaLnBrk="1" hangingPunct="1"/>
            <a:r>
              <a:rPr lang="en-GB"/>
              <a:t>Read/Write</a:t>
            </a:r>
          </a:p>
          <a:p>
            <a:pPr lvl="1" eaLnBrk="1" hangingPunct="1"/>
            <a:r>
              <a:rPr lang="en-GB"/>
              <a:t>Volatile</a:t>
            </a:r>
          </a:p>
          <a:p>
            <a:pPr lvl="1" eaLnBrk="1" hangingPunct="1"/>
            <a:r>
              <a:rPr lang="en-GB"/>
              <a:t>Temporary storage</a:t>
            </a:r>
          </a:p>
          <a:p>
            <a:pPr lvl="1" eaLnBrk="1" hangingPunct="1"/>
            <a:r>
              <a:rPr lang="en-GB"/>
              <a:t>Static or dynamic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Read Only Memory (ROM)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7467600" cy="4873625"/>
          </a:xfrm>
        </p:spPr>
        <p:txBody>
          <a:bodyPr/>
          <a:lstStyle/>
          <a:p>
            <a:pPr eaLnBrk="1" hangingPunct="1"/>
            <a:r>
              <a:rPr lang="en-US"/>
              <a:t>Permanent storage</a:t>
            </a:r>
          </a:p>
          <a:p>
            <a:pPr lvl="1" eaLnBrk="1" hangingPunct="1"/>
            <a:r>
              <a:rPr lang="en-US"/>
              <a:t>Nonvolatile</a:t>
            </a:r>
          </a:p>
          <a:p>
            <a:pPr eaLnBrk="1" hangingPunct="1"/>
            <a:r>
              <a:rPr lang="en-US"/>
              <a:t>Microprogramming (see later)</a:t>
            </a:r>
          </a:p>
          <a:p>
            <a:pPr eaLnBrk="1" hangingPunct="1"/>
            <a:r>
              <a:rPr lang="en-US"/>
              <a:t>Library subroutines</a:t>
            </a:r>
          </a:p>
          <a:p>
            <a:pPr eaLnBrk="1" hangingPunct="1"/>
            <a:r>
              <a:rPr lang="en-US"/>
              <a:t>Systems programs (BIOS)</a:t>
            </a:r>
          </a:p>
          <a:p>
            <a:pPr eaLnBrk="1" hangingPunct="1"/>
            <a:r>
              <a:rPr lang="en-US"/>
              <a:t>Function tables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Image result for thank you pic for ppt">
            <a:extLst>
              <a:ext uri="{FF2B5EF4-FFF2-40B4-BE49-F238E27FC236}">
                <a16:creationId xmlns:a16="http://schemas.microsoft.com/office/drawing/2014/main" id="{1D5CBD28-F489-4298-BC2F-4254CD77B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0" y="1690688"/>
            <a:ext cx="3882887" cy="278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800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436</Words>
  <Application>Microsoft Office PowerPoint</Application>
  <PresentationFormat>Widescreen</PresentationFormat>
  <Paragraphs>145</Paragraphs>
  <Slides>19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 </vt:lpstr>
      <vt:lpstr>MEMORY  ORGANIZATION</vt:lpstr>
      <vt:lpstr>MEMORY  HIERARCHY</vt:lpstr>
      <vt:lpstr>Characteristics</vt:lpstr>
      <vt:lpstr>Location</vt:lpstr>
      <vt:lpstr>Capacity</vt:lpstr>
      <vt:lpstr>Unit of Transfer</vt:lpstr>
      <vt:lpstr>Access Methods (1)</vt:lpstr>
      <vt:lpstr>Access Methods (2)</vt:lpstr>
      <vt:lpstr>Memory Hierarchy</vt:lpstr>
      <vt:lpstr>Memory Hierarchy</vt:lpstr>
      <vt:lpstr>Performance</vt:lpstr>
      <vt:lpstr>Physical Types</vt:lpstr>
      <vt:lpstr>Physical Characteristics</vt:lpstr>
      <vt:lpstr>Organisation</vt:lpstr>
      <vt:lpstr>Semiconductor Memory Types</vt:lpstr>
      <vt:lpstr>Semiconductor Memory</vt:lpstr>
      <vt:lpstr>Read Only Memory (ROM)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by Dr. Rizwan Khan</dc:title>
  <dc:creator>arun pandey</dc:creator>
  <cp:lastModifiedBy>admin</cp:lastModifiedBy>
  <cp:revision>35</cp:revision>
  <dcterms:created xsi:type="dcterms:W3CDTF">2020-06-18T04:00:41Z</dcterms:created>
  <dcterms:modified xsi:type="dcterms:W3CDTF">2020-07-21T13:50:26Z</dcterms:modified>
</cp:coreProperties>
</file>