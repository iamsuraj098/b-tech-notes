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365" r:id="rId3"/>
    <p:sldId id="366" r:id="rId4"/>
    <p:sldId id="408" r:id="rId5"/>
    <p:sldId id="409" r:id="rId6"/>
    <p:sldId id="410" r:id="rId7"/>
    <p:sldId id="411" r:id="rId8"/>
    <p:sldId id="413" r:id="rId9"/>
    <p:sldId id="414" r:id="rId10"/>
    <p:sldId id="415" r:id="rId11"/>
    <p:sldId id="416" r:id="rId12"/>
    <p:sldId id="417" r:id="rId13"/>
    <p:sldId id="418" r:id="rId14"/>
    <p:sldId id="419" r:id="rId15"/>
    <p:sldId id="420" r:id="rId16"/>
    <p:sldId id="421" r:id="rId17"/>
    <p:sldId id="27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8/13/2020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noChangeArrowheads="1"/>
          </p:cNvSpPr>
          <p:nvPr>
            <p:ph type="sldNum" sz="quarter" idx="5"/>
          </p:nvPr>
        </p:nvSpPr>
        <p:spPr>
          <a:xfrm>
            <a:off x="3863032" y="9408981"/>
            <a:ext cx="2955290" cy="495300"/>
          </a:xfrm>
          <a:prstGeom prst="rect">
            <a:avLst/>
          </a:prstGeom>
          <a:ln/>
        </p:spPr>
        <p:txBody>
          <a:bodyPr/>
          <a:lstStyle/>
          <a:p>
            <a:fld id="{59035A2A-2D1B-4656-8F26-D3E901EA659A}" type="slidenum">
              <a:rPr lang="en-US"/>
              <a:pPr/>
              <a:t>4</a:t>
            </a:fld>
            <a:endParaRPr lang="en-US"/>
          </a:p>
        </p:txBody>
      </p:sp>
      <p:sp>
        <p:nvSpPr>
          <p:cNvPr id="116738" name="Rectangle 7"/>
          <p:cNvSpPr txBox="1">
            <a:spLocks noGrp="1" noChangeArrowheads="1"/>
          </p:cNvSpPr>
          <p:nvPr/>
        </p:nvSpPr>
        <p:spPr bwMode="auto">
          <a:xfrm>
            <a:off x="3863032" y="9408981"/>
            <a:ext cx="295529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CEBC1F69-5B9B-4E2C-B609-71BE00DCE95A}" type="slidenum">
              <a:rPr lang="en-US" sz="1200"/>
              <a:pPr algn="r"/>
              <a:t>4</a:t>
            </a:fld>
            <a:endParaRPr 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xfrm>
            <a:off x="681990" y="4705350"/>
            <a:ext cx="5455920" cy="4457700"/>
          </a:xfrm>
          <a:prstGeom prst="rect">
            <a:avLst/>
          </a:pr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noChangeArrowheads="1"/>
          </p:cNvSpPr>
          <p:nvPr>
            <p:ph type="sldNum" sz="quarter" idx="5"/>
          </p:nvPr>
        </p:nvSpPr>
        <p:spPr>
          <a:xfrm>
            <a:off x="3863032" y="9408981"/>
            <a:ext cx="2955290" cy="495300"/>
          </a:xfrm>
          <a:prstGeom prst="rect">
            <a:avLst/>
          </a:prstGeom>
          <a:ln/>
        </p:spPr>
        <p:txBody>
          <a:bodyPr/>
          <a:lstStyle/>
          <a:p>
            <a:fld id="{658665FF-11BB-4FB0-92D4-39A5F5B2E529}" type="slidenum">
              <a:rPr lang="en-US"/>
              <a:pPr/>
              <a:t>5</a:t>
            </a:fld>
            <a:endParaRPr lang="en-US"/>
          </a:p>
        </p:txBody>
      </p:sp>
      <p:sp>
        <p:nvSpPr>
          <p:cNvPr id="118786" name="Rectangle 7"/>
          <p:cNvSpPr txBox="1">
            <a:spLocks noGrp="1" noChangeArrowheads="1"/>
          </p:cNvSpPr>
          <p:nvPr/>
        </p:nvSpPr>
        <p:spPr bwMode="auto">
          <a:xfrm>
            <a:off x="3863032" y="9408981"/>
            <a:ext cx="295529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algn="r"/>
            <a:fld id="{F32DDF21-0269-4644-B8B6-6B57A473511D}" type="slidenum">
              <a:rPr lang="en-US" sz="1200"/>
              <a:pPr algn="r"/>
              <a:t>5</a:t>
            </a:fld>
            <a:endParaRPr 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xfrm>
            <a:off x="681990" y="4705350"/>
            <a:ext cx="5455920" cy="4457700"/>
          </a:xfrm>
          <a:prstGeom prst="rect">
            <a:avLst/>
          </a:pr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8/13/2020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Page Fault and Page Replacement</a:t>
            </a:r>
          </a:p>
        </p:txBody>
      </p:sp>
      <p:sp>
        <p:nvSpPr>
          <p:cNvPr id="3" name="Content Placeholder 2"/>
          <p:cNvSpPr>
            <a:spLocks noGrp="1"/>
          </p:cNvSpPr>
          <p:nvPr>
            <p:ph idx="1"/>
          </p:nvPr>
        </p:nvSpPr>
        <p:spPr>
          <a:xfrm>
            <a:off x="1981200" y="1143001"/>
            <a:ext cx="8229600" cy="4792663"/>
          </a:xfrm>
        </p:spPr>
        <p:txBody>
          <a:bodyPr>
            <a:normAutofit fontScale="92500" lnSpcReduction="20000"/>
          </a:bodyPr>
          <a:lstStyle/>
          <a:p>
            <a:r>
              <a:rPr lang="en-US" dirty="0"/>
              <a:t>The VM system decides</a:t>
            </a:r>
          </a:p>
          <a:p>
            <a:pPr lvl="1"/>
            <a:r>
              <a:rPr lang="en-US" dirty="0"/>
              <a:t>Which page in the main memory ought to be removed to make room for a new page</a:t>
            </a:r>
          </a:p>
          <a:p>
            <a:pPr lvl="1"/>
            <a:r>
              <a:rPr lang="en-US" dirty="0"/>
              <a:t>When a new page is to be transferred from auxiliary memory to main memory</a:t>
            </a:r>
          </a:p>
          <a:p>
            <a:pPr lvl="1"/>
            <a:r>
              <a:rPr lang="en-US" dirty="0"/>
              <a:t>Where the page is to be placed in the main memory.</a:t>
            </a:r>
          </a:p>
          <a:p>
            <a:r>
              <a:rPr lang="en-US" dirty="0"/>
              <a:t>When a program starts execution, one or more pages are transferred into main memory and the page table is set to indicate their position. The program is executed from  main memory until it attempts to reference a page that is still in auxiliary memory. This condition is called PAGE FAULT. </a:t>
            </a:r>
          </a:p>
          <a:p>
            <a:r>
              <a:rPr lang="en-US" dirty="0"/>
              <a:t>When </a:t>
            </a:r>
            <a:r>
              <a:rPr lang="en-US" i="1" dirty="0"/>
              <a:t>page fault</a:t>
            </a:r>
            <a:r>
              <a:rPr lang="en-US" dirty="0"/>
              <a:t> occurs, the execution of the present program is suspended until the required page is brought into main memory.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225" y="220663"/>
            <a:ext cx="8809038" cy="549894"/>
          </a:xfrm>
        </p:spPr>
        <p:txBody>
          <a:bodyPr>
            <a:normAutofit fontScale="90000"/>
          </a:bodyPr>
          <a:lstStyle/>
          <a:p>
            <a:pPr algn="ctr"/>
            <a:r>
              <a:rPr lang="en-US" dirty="0">
                <a:solidFill>
                  <a:srgbClr val="C00000"/>
                </a:solidFill>
              </a:rPr>
              <a:t>Page Replacement Policies</a:t>
            </a:r>
          </a:p>
        </p:txBody>
      </p:sp>
      <p:sp>
        <p:nvSpPr>
          <p:cNvPr id="3" name="Content Placeholder 2"/>
          <p:cNvSpPr>
            <a:spLocks noGrp="1"/>
          </p:cNvSpPr>
          <p:nvPr>
            <p:ph idx="1"/>
          </p:nvPr>
        </p:nvSpPr>
        <p:spPr>
          <a:xfrm>
            <a:off x="1981200" y="1162051"/>
            <a:ext cx="8229600" cy="4964113"/>
          </a:xfrm>
        </p:spPr>
        <p:txBody>
          <a:bodyPr/>
          <a:lstStyle/>
          <a:p>
            <a:r>
              <a:rPr lang="en-US" dirty="0"/>
              <a:t>First In First Out (FIFO) – selects for replacement the page that has been in memory the longest time.</a:t>
            </a:r>
          </a:p>
          <a:p>
            <a:pPr lvl="1"/>
            <a:r>
              <a:rPr lang="en-US" dirty="0"/>
              <a:t>Easy to implement.</a:t>
            </a:r>
          </a:p>
          <a:p>
            <a:pPr lvl="1"/>
            <a:r>
              <a:rPr lang="en-US" dirty="0"/>
              <a:t>Under certain circumstances, pages are removed and loaded into main memory too frequently.</a:t>
            </a:r>
          </a:p>
          <a:p>
            <a:r>
              <a:rPr lang="en-US" dirty="0"/>
              <a:t>Least Recently Used (LRU) – </a:t>
            </a:r>
          </a:p>
          <a:p>
            <a:pPr lvl="1"/>
            <a:r>
              <a:rPr lang="en-US" dirty="0"/>
              <a:t>Uses ageing registers to calculate age of pages.</a:t>
            </a:r>
          </a:p>
          <a:p>
            <a:pPr lvl="2"/>
            <a:r>
              <a:rPr lang="en-US" dirty="0"/>
              <a:t>At certain intervals these registers are incremented</a:t>
            </a:r>
          </a:p>
          <a:p>
            <a:pPr lvl="2"/>
            <a:r>
              <a:rPr lang="en-US" dirty="0"/>
              <a:t>When a page is referenced, its counter is set to zero.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idx="4294967295"/>
          </p:nvPr>
        </p:nvSpPr>
        <p:spPr>
          <a:xfrm>
            <a:off x="838200" y="365126"/>
            <a:ext cx="10515600" cy="751836"/>
          </a:xfrm>
        </p:spPr>
        <p:txBody>
          <a:bodyPr/>
          <a:lstStyle/>
          <a:p>
            <a:pPr algn="ctr"/>
            <a:r>
              <a:rPr lang="en-US" dirty="0">
                <a:solidFill>
                  <a:srgbClr val="C00000"/>
                </a:solidFill>
              </a:rPr>
              <a:t>FIFO</a:t>
            </a:r>
          </a:p>
        </p:txBody>
      </p:sp>
      <p:sp>
        <p:nvSpPr>
          <p:cNvPr id="115715" name="Rectangle 3"/>
          <p:cNvSpPr>
            <a:spLocks noGrp="1" noChangeArrowheads="1"/>
          </p:cNvSpPr>
          <p:nvPr>
            <p:ph type="body" idx="4294967295"/>
          </p:nvPr>
        </p:nvSpPr>
        <p:spPr>
          <a:xfrm>
            <a:off x="2051596" y="1116961"/>
            <a:ext cx="7772400" cy="4114800"/>
          </a:xfrm>
          <a:prstGeom prst="rect">
            <a:avLst/>
          </a:prstGeom>
        </p:spPr>
        <p:txBody>
          <a:bodyPr/>
          <a:lstStyle/>
          <a:p>
            <a:r>
              <a:rPr lang="en-US" dirty="0"/>
              <a:t>When a page must be replaced, the oldest page is chosen</a:t>
            </a:r>
          </a:p>
          <a:p>
            <a:endParaRPr lang="en-US" dirty="0"/>
          </a:p>
        </p:txBody>
      </p:sp>
      <p:pic>
        <p:nvPicPr>
          <p:cNvPr id="115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042" y="2704651"/>
            <a:ext cx="8381881" cy="338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8901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idx="4294967295"/>
          </p:nvPr>
        </p:nvSpPr>
        <p:spPr>
          <a:xfrm>
            <a:off x="838200" y="365125"/>
            <a:ext cx="10515600" cy="880579"/>
          </a:xfrm>
        </p:spPr>
        <p:txBody>
          <a:bodyPr/>
          <a:lstStyle/>
          <a:p>
            <a:pPr algn="ctr"/>
            <a:r>
              <a:rPr lang="en-US" dirty="0">
                <a:solidFill>
                  <a:srgbClr val="C00000"/>
                </a:solidFill>
              </a:rPr>
              <a:t>FIFO</a:t>
            </a:r>
          </a:p>
        </p:txBody>
      </p:sp>
      <p:sp>
        <p:nvSpPr>
          <p:cNvPr id="117763" name="Rectangle 3"/>
          <p:cNvSpPr>
            <a:spLocks noGrp="1" noChangeArrowheads="1"/>
          </p:cNvSpPr>
          <p:nvPr>
            <p:ph type="body" idx="4294967295"/>
          </p:nvPr>
        </p:nvSpPr>
        <p:spPr>
          <a:xfrm>
            <a:off x="1701422" y="996287"/>
            <a:ext cx="8777667" cy="5136226"/>
          </a:xfrm>
          <a:prstGeom prst="rect">
            <a:avLst/>
          </a:prstGeom>
        </p:spPr>
        <p:txBody>
          <a:bodyPr/>
          <a:lstStyle/>
          <a:p>
            <a:pPr>
              <a:lnSpc>
                <a:spcPct val="80000"/>
              </a:lnSpc>
            </a:pPr>
            <a:r>
              <a:rPr lang="en-US" sz="2400" dirty="0"/>
              <a:t>When a page must be replaced, the oldest page is chosen</a:t>
            </a:r>
          </a:p>
          <a:p>
            <a:pPr>
              <a:lnSpc>
                <a:spcPct val="80000"/>
              </a:lnSpc>
            </a:pPr>
            <a:endParaRPr lang="en-US" sz="2400" dirty="0"/>
          </a:p>
          <a:p>
            <a:pPr>
              <a:lnSpc>
                <a:spcPct val="80000"/>
              </a:lnSpc>
            </a:pPr>
            <a:r>
              <a:rPr lang="en-US" sz="2000" dirty="0"/>
              <a:t>In all our examples, the reference string is </a:t>
            </a:r>
          </a:p>
          <a:p>
            <a:pPr>
              <a:lnSpc>
                <a:spcPct val="80000"/>
              </a:lnSpc>
              <a:buFont typeface="Wingdings" pitchFamily="2" charset="2"/>
              <a:buNone/>
            </a:pPr>
            <a:r>
              <a:rPr lang="en-US" sz="2400" b="1" dirty="0">
                <a:solidFill>
                  <a:schemeClr val="hlink"/>
                </a:solidFill>
              </a:rPr>
              <a:t>    1, 2, 3, 4, 1, 2, 5, 1, 2, 3, 4, 5</a:t>
            </a:r>
            <a:endParaRPr lang="en-US" sz="2400" dirty="0">
              <a:solidFill>
                <a:schemeClr val="hlink"/>
              </a:solidFill>
            </a:endParaRPr>
          </a:p>
          <a:p>
            <a:pPr>
              <a:lnSpc>
                <a:spcPct val="80000"/>
              </a:lnSpc>
            </a:pPr>
            <a:r>
              <a:rPr lang="en-US" sz="2400" dirty="0"/>
              <a:t>3 frame  (9 page faults)</a:t>
            </a:r>
          </a:p>
          <a:p>
            <a:pPr>
              <a:lnSpc>
                <a:spcPct val="80000"/>
              </a:lnSpc>
            </a:pPr>
            <a:r>
              <a:rPr lang="en-US" sz="2400" dirty="0"/>
              <a:t>4 frame  (10 page faults)</a:t>
            </a:r>
          </a:p>
          <a:p>
            <a:pPr>
              <a:lnSpc>
                <a:spcPct val="80000"/>
              </a:lnSpc>
            </a:pPr>
            <a:endParaRPr lang="en-US" sz="2400" dirty="0"/>
          </a:p>
          <a:p>
            <a:pPr>
              <a:lnSpc>
                <a:spcPct val="80000"/>
              </a:lnSpc>
            </a:pPr>
            <a:r>
              <a:rPr lang="en-US" sz="2400" dirty="0"/>
              <a:t>Notice that the number of faults for 4 frames is greater than the umber of faults for 3 frames!! This unexpected result is known as </a:t>
            </a:r>
            <a:r>
              <a:rPr lang="en-US" sz="2400" b="1" dirty="0"/>
              <a:t> </a:t>
            </a:r>
            <a:r>
              <a:rPr lang="en-US" sz="2400" b="1" dirty="0" err="1"/>
              <a:t>Belady’s</a:t>
            </a:r>
            <a:r>
              <a:rPr lang="en-US" sz="2400" b="1" dirty="0"/>
              <a:t> anomaly</a:t>
            </a:r>
            <a:endParaRPr lang="en-US" sz="2400" dirty="0"/>
          </a:p>
          <a:p>
            <a:pPr>
              <a:lnSpc>
                <a:spcPct val="80000"/>
              </a:lnSpc>
            </a:pPr>
            <a:endParaRPr lang="en-US" sz="2400" dirty="0"/>
          </a:p>
        </p:txBody>
      </p:sp>
    </p:spTree>
    <p:extLst>
      <p:ext uri="{BB962C8B-B14F-4D97-AF65-F5344CB8AC3E}">
        <p14:creationId xmlns:p14="http://schemas.microsoft.com/office/powerpoint/2010/main" val="2524387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idx="4294967295"/>
          </p:nvPr>
        </p:nvSpPr>
        <p:spPr/>
        <p:txBody>
          <a:bodyPr/>
          <a:lstStyle/>
          <a:p>
            <a:pPr algn="ctr"/>
            <a:r>
              <a:rPr lang="en-US" dirty="0">
                <a:solidFill>
                  <a:srgbClr val="C00000"/>
                </a:solidFill>
              </a:rPr>
              <a:t>FIFO 3 frame </a:t>
            </a:r>
          </a:p>
        </p:txBody>
      </p:sp>
      <p:sp>
        <p:nvSpPr>
          <p:cNvPr id="119811" name="Rectangle 3"/>
          <p:cNvSpPr>
            <a:spLocks noGrp="1" noChangeArrowheads="1"/>
          </p:cNvSpPr>
          <p:nvPr>
            <p:ph type="body" sz="half" idx="4294967295"/>
          </p:nvPr>
        </p:nvSpPr>
        <p:spPr>
          <a:xfrm>
            <a:off x="2706688" y="2017713"/>
            <a:ext cx="3810000" cy="4114800"/>
          </a:xfrm>
          <a:prstGeom prst="rect">
            <a:avLst/>
          </a:prstGeom>
        </p:spPr>
        <p:txBody>
          <a:bodyPr/>
          <a:lstStyle/>
          <a:p>
            <a:pPr>
              <a:buFont typeface="Wingdings" pitchFamily="2" charset="2"/>
              <a:buNone/>
            </a:pPr>
            <a:r>
              <a:rPr lang="en-US" altLang="zh-TW">
                <a:ea typeface="新細明體" charset="-120"/>
              </a:rPr>
              <a:t> </a:t>
            </a:r>
            <a:endParaRPr lang="en-US"/>
          </a:p>
        </p:txBody>
      </p:sp>
      <p:graphicFrame>
        <p:nvGraphicFramePr>
          <p:cNvPr id="119812" name="Group 4"/>
          <p:cNvGraphicFramePr>
            <a:graphicFrameLocks noGrp="1"/>
          </p:cNvGraphicFramePr>
          <p:nvPr>
            <p:ph sz="half" idx="4294967295"/>
          </p:nvPr>
        </p:nvGraphicFramePr>
        <p:xfrm>
          <a:off x="1981200" y="2017713"/>
          <a:ext cx="8497888" cy="4114800"/>
        </p:xfrm>
        <a:graphic>
          <a:graphicData uri="http://schemas.openxmlformats.org/drawingml/2006/table">
            <a:tbl>
              <a:tblPr/>
              <a:tblGrid>
                <a:gridCol w="652463">
                  <a:extLst>
                    <a:ext uri="{9D8B030D-6E8A-4147-A177-3AD203B41FA5}">
                      <a16:colId xmlns:a16="http://schemas.microsoft.com/office/drawing/2014/main" val="20000"/>
                    </a:ext>
                  </a:extLst>
                </a:gridCol>
                <a:gridCol w="655637">
                  <a:extLst>
                    <a:ext uri="{9D8B030D-6E8A-4147-A177-3AD203B41FA5}">
                      <a16:colId xmlns:a16="http://schemas.microsoft.com/office/drawing/2014/main" val="20001"/>
                    </a:ext>
                  </a:extLst>
                </a:gridCol>
                <a:gridCol w="652463">
                  <a:extLst>
                    <a:ext uri="{9D8B030D-6E8A-4147-A177-3AD203B41FA5}">
                      <a16:colId xmlns:a16="http://schemas.microsoft.com/office/drawing/2014/main" val="20002"/>
                    </a:ext>
                  </a:extLst>
                </a:gridCol>
                <a:gridCol w="655637">
                  <a:extLst>
                    <a:ext uri="{9D8B030D-6E8A-4147-A177-3AD203B41FA5}">
                      <a16:colId xmlns:a16="http://schemas.microsoft.com/office/drawing/2014/main" val="20003"/>
                    </a:ext>
                  </a:extLst>
                </a:gridCol>
                <a:gridCol w="652463">
                  <a:extLst>
                    <a:ext uri="{9D8B030D-6E8A-4147-A177-3AD203B41FA5}">
                      <a16:colId xmlns:a16="http://schemas.microsoft.com/office/drawing/2014/main" val="20004"/>
                    </a:ext>
                  </a:extLst>
                </a:gridCol>
                <a:gridCol w="652462">
                  <a:extLst>
                    <a:ext uri="{9D8B030D-6E8A-4147-A177-3AD203B41FA5}">
                      <a16:colId xmlns:a16="http://schemas.microsoft.com/office/drawing/2014/main" val="20005"/>
                    </a:ext>
                  </a:extLst>
                </a:gridCol>
                <a:gridCol w="655638">
                  <a:extLst>
                    <a:ext uri="{9D8B030D-6E8A-4147-A177-3AD203B41FA5}">
                      <a16:colId xmlns:a16="http://schemas.microsoft.com/office/drawing/2014/main" val="20006"/>
                    </a:ext>
                  </a:extLst>
                </a:gridCol>
                <a:gridCol w="652462">
                  <a:extLst>
                    <a:ext uri="{9D8B030D-6E8A-4147-A177-3AD203B41FA5}">
                      <a16:colId xmlns:a16="http://schemas.microsoft.com/office/drawing/2014/main" val="20007"/>
                    </a:ext>
                  </a:extLst>
                </a:gridCol>
                <a:gridCol w="652463">
                  <a:extLst>
                    <a:ext uri="{9D8B030D-6E8A-4147-A177-3AD203B41FA5}">
                      <a16:colId xmlns:a16="http://schemas.microsoft.com/office/drawing/2014/main" val="20008"/>
                    </a:ext>
                  </a:extLst>
                </a:gridCol>
                <a:gridCol w="655637">
                  <a:extLst>
                    <a:ext uri="{9D8B030D-6E8A-4147-A177-3AD203B41FA5}">
                      <a16:colId xmlns:a16="http://schemas.microsoft.com/office/drawing/2014/main" val="20009"/>
                    </a:ext>
                  </a:extLst>
                </a:gridCol>
                <a:gridCol w="652463">
                  <a:extLst>
                    <a:ext uri="{9D8B030D-6E8A-4147-A177-3AD203B41FA5}">
                      <a16:colId xmlns:a16="http://schemas.microsoft.com/office/drawing/2014/main" val="20010"/>
                    </a:ext>
                  </a:extLst>
                </a:gridCol>
                <a:gridCol w="655637">
                  <a:extLst>
                    <a:ext uri="{9D8B030D-6E8A-4147-A177-3AD203B41FA5}">
                      <a16:colId xmlns:a16="http://schemas.microsoft.com/office/drawing/2014/main" val="20011"/>
                    </a:ext>
                  </a:extLst>
                </a:gridCol>
                <a:gridCol w="652463">
                  <a:extLst>
                    <a:ext uri="{9D8B030D-6E8A-4147-A177-3AD203B41FA5}">
                      <a16:colId xmlns:a16="http://schemas.microsoft.com/office/drawing/2014/main" val="20012"/>
                    </a:ext>
                  </a:extLst>
                </a:gridCol>
              </a:tblGrid>
              <a:tr h="10287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600" b="0" i="0" u="none" strike="noStrike" cap="none" normalizeH="0" baseline="0" dirty="0">
                          <a:ln>
                            <a:noFill/>
                          </a:ln>
                          <a:solidFill>
                            <a:srgbClr val="FF0000"/>
                          </a:solidFill>
                          <a:effectLst/>
                          <a:latin typeface="Tahoma" pitchFamily="34" charset="0"/>
                          <a:ea typeface="新細明體" charset="-120"/>
                          <a:cs typeface="Arial" charset="0"/>
                        </a:rPr>
                        <a:t>Page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600" b="0" i="0" u="none" strike="noStrike" cap="none" normalizeH="0" baseline="0" dirty="0">
                          <a:ln>
                            <a:noFill/>
                          </a:ln>
                          <a:solidFill>
                            <a:srgbClr val="FF0000"/>
                          </a:solidFill>
                          <a:effectLst/>
                          <a:latin typeface="Tahoma" pitchFamily="34" charset="0"/>
                          <a:ea typeface="新細明體" charset="-120"/>
                          <a:cs typeface="Arial" charset="0"/>
                        </a:rPr>
                        <a:t>#</a:t>
                      </a:r>
                      <a:endParaRPr kumimoji="0" lang="en-US" sz="1600" b="0" i="0" u="none" strike="noStrike" cap="none" normalizeH="0" baseline="0" dirty="0">
                        <a:ln>
                          <a:noFill/>
                        </a:ln>
                        <a:solidFill>
                          <a:srgbClr val="FF0000"/>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3</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4</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5</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3</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4</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5</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287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287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87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59779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p:txBody>
          <a:bodyPr/>
          <a:lstStyle/>
          <a:p>
            <a:pPr algn="ctr"/>
            <a:r>
              <a:rPr lang="en-US" dirty="0">
                <a:solidFill>
                  <a:srgbClr val="C00000"/>
                </a:solidFill>
              </a:rPr>
              <a:t>FIFO </a:t>
            </a:r>
            <a:r>
              <a:rPr lang="en-US" altLang="zh-TW" dirty="0">
                <a:solidFill>
                  <a:srgbClr val="C00000"/>
                </a:solidFill>
                <a:ea typeface="新細明體" charset="-120"/>
              </a:rPr>
              <a:t>4</a:t>
            </a:r>
            <a:r>
              <a:rPr lang="en-US" dirty="0">
                <a:solidFill>
                  <a:srgbClr val="C00000"/>
                </a:solidFill>
              </a:rPr>
              <a:t> frame </a:t>
            </a:r>
          </a:p>
        </p:txBody>
      </p:sp>
      <p:sp>
        <p:nvSpPr>
          <p:cNvPr id="120835" name="Rectangle 3"/>
          <p:cNvSpPr>
            <a:spLocks noGrp="1" noChangeArrowheads="1"/>
          </p:cNvSpPr>
          <p:nvPr>
            <p:ph type="body" sz="half" idx="4294967295"/>
          </p:nvPr>
        </p:nvSpPr>
        <p:spPr>
          <a:xfrm>
            <a:off x="2706688" y="2017713"/>
            <a:ext cx="3810000" cy="4114800"/>
          </a:xfrm>
          <a:prstGeom prst="rect">
            <a:avLst/>
          </a:prstGeom>
        </p:spPr>
        <p:txBody>
          <a:bodyPr/>
          <a:lstStyle/>
          <a:p>
            <a:pPr>
              <a:buFont typeface="Wingdings" pitchFamily="2" charset="2"/>
              <a:buNone/>
            </a:pPr>
            <a:r>
              <a:rPr lang="en-US" altLang="zh-TW">
                <a:ea typeface="新細明體" charset="-120"/>
              </a:rPr>
              <a:t> </a:t>
            </a:r>
            <a:endParaRPr lang="en-US"/>
          </a:p>
        </p:txBody>
      </p:sp>
      <p:graphicFrame>
        <p:nvGraphicFramePr>
          <p:cNvPr id="120836" name="Group 4"/>
          <p:cNvGraphicFramePr>
            <a:graphicFrameLocks noGrp="1"/>
          </p:cNvGraphicFramePr>
          <p:nvPr>
            <p:ph sz="half" idx="4294967295"/>
          </p:nvPr>
        </p:nvGraphicFramePr>
        <p:xfrm>
          <a:off x="2362200" y="2017714"/>
          <a:ext cx="8116888" cy="4114801"/>
        </p:xfrm>
        <a:graphic>
          <a:graphicData uri="http://schemas.openxmlformats.org/drawingml/2006/table">
            <a:tbl>
              <a:tblPr/>
              <a:tblGrid>
                <a:gridCol w="623888">
                  <a:extLst>
                    <a:ext uri="{9D8B030D-6E8A-4147-A177-3AD203B41FA5}">
                      <a16:colId xmlns:a16="http://schemas.microsoft.com/office/drawing/2014/main" val="20000"/>
                    </a:ext>
                  </a:extLst>
                </a:gridCol>
                <a:gridCol w="625475">
                  <a:extLst>
                    <a:ext uri="{9D8B030D-6E8A-4147-A177-3AD203B41FA5}">
                      <a16:colId xmlns:a16="http://schemas.microsoft.com/office/drawing/2014/main" val="20001"/>
                    </a:ext>
                  </a:extLst>
                </a:gridCol>
                <a:gridCol w="623887">
                  <a:extLst>
                    <a:ext uri="{9D8B030D-6E8A-4147-A177-3AD203B41FA5}">
                      <a16:colId xmlns:a16="http://schemas.microsoft.com/office/drawing/2014/main" val="20002"/>
                    </a:ext>
                  </a:extLst>
                </a:gridCol>
                <a:gridCol w="625475">
                  <a:extLst>
                    <a:ext uri="{9D8B030D-6E8A-4147-A177-3AD203B41FA5}">
                      <a16:colId xmlns:a16="http://schemas.microsoft.com/office/drawing/2014/main" val="20003"/>
                    </a:ext>
                  </a:extLst>
                </a:gridCol>
                <a:gridCol w="623888">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gridCol w="627062">
                  <a:extLst>
                    <a:ext uri="{9D8B030D-6E8A-4147-A177-3AD203B41FA5}">
                      <a16:colId xmlns:a16="http://schemas.microsoft.com/office/drawing/2014/main" val="20006"/>
                    </a:ext>
                  </a:extLst>
                </a:gridCol>
                <a:gridCol w="622300">
                  <a:extLst>
                    <a:ext uri="{9D8B030D-6E8A-4147-A177-3AD203B41FA5}">
                      <a16:colId xmlns:a16="http://schemas.microsoft.com/office/drawing/2014/main" val="20007"/>
                    </a:ext>
                  </a:extLst>
                </a:gridCol>
                <a:gridCol w="623888">
                  <a:extLst>
                    <a:ext uri="{9D8B030D-6E8A-4147-A177-3AD203B41FA5}">
                      <a16:colId xmlns:a16="http://schemas.microsoft.com/office/drawing/2014/main" val="20008"/>
                    </a:ext>
                  </a:extLst>
                </a:gridCol>
                <a:gridCol w="625475">
                  <a:extLst>
                    <a:ext uri="{9D8B030D-6E8A-4147-A177-3AD203B41FA5}">
                      <a16:colId xmlns:a16="http://schemas.microsoft.com/office/drawing/2014/main" val="20009"/>
                    </a:ext>
                  </a:extLst>
                </a:gridCol>
                <a:gridCol w="623887">
                  <a:extLst>
                    <a:ext uri="{9D8B030D-6E8A-4147-A177-3AD203B41FA5}">
                      <a16:colId xmlns:a16="http://schemas.microsoft.com/office/drawing/2014/main" val="20010"/>
                    </a:ext>
                  </a:extLst>
                </a:gridCol>
                <a:gridCol w="625475">
                  <a:extLst>
                    <a:ext uri="{9D8B030D-6E8A-4147-A177-3AD203B41FA5}">
                      <a16:colId xmlns:a16="http://schemas.microsoft.com/office/drawing/2014/main" val="20011"/>
                    </a:ext>
                  </a:extLst>
                </a:gridCol>
                <a:gridCol w="623888">
                  <a:extLst>
                    <a:ext uri="{9D8B030D-6E8A-4147-A177-3AD203B41FA5}">
                      <a16:colId xmlns:a16="http://schemas.microsoft.com/office/drawing/2014/main" val="20012"/>
                    </a:ext>
                  </a:extLst>
                </a:gridCol>
              </a:tblGrid>
              <a:tr h="8223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600" b="0" i="0" u="none" strike="noStrike" cap="none" normalizeH="0" baseline="0" dirty="0">
                          <a:ln>
                            <a:noFill/>
                          </a:ln>
                          <a:solidFill>
                            <a:srgbClr val="FF0000"/>
                          </a:solidFill>
                          <a:effectLst/>
                          <a:latin typeface="Tahoma" pitchFamily="34" charset="0"/>
                          <a:ea typeface="新細明體" charset="-120"/>
                          <a:cs typeface="Arial" charset="0"/>
                        </a:rPr>
                        <a:t>Page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600" b="0" i="0" u="none" strike="noStrike" cap="none" normalizeH="0" baseline="0" dirty="0">
                          <a:ln>
                            <a:noFill/>
                          </a:ln>
                          <a:solidFill>
                            <a:srgbClr val="FF0000"/>
                          </a:solidFill>
                          <a:effectLst/>
                          <a:latin typeface="Tahoma" pitchFamily="34" charset="0"/>
                          <a:ea typeface="新細明體" charset="-120"/>
                          <a:cs typeface="Arial" charset="0"/>
                        </a:rPr>
                        <a:t>#</a:t>
                      </a:r>
                      <a:endParaRPr kumimoji="0" lang="en-US" sz="1600" b="0" i="0" u="none" strike="noStrike" cap="none" normalizeH="0" baseline="0" dirty="0">
                        <a:ln>
                          <a:noFill/>
                        </a:ln>
                        <a:solidFill>
                          <a:srgbClr val="FF0000"/>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3</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4</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rgbClr val="FF0000"/>
                          </a:solidFill>
                          <a:effectLst/>
                          <a:latin typeface="Tahoma" pitchFamily="34" charset="0"/>
                          <a:ea typeface="新細明體" charset="-120"/>
                          <a:cs typeface="Arial" charset="0"/>
                        </a:rPr>
                        <a:t>5</a:t>
                      </a:r>
                      <a:endParaRPr kumimoji="0" lang="en-US" sz="2800" b="0" i="0" u="none" strike="noStrike" cap="none" normalizeH="0" baseline="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1</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2</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3</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rgbClr val="FF0000"/>
                          </a:solidFill>
                          <a:effectLst/>
                          <a:latin typeface="Tahoma" pitchFamily="34" charset="0"/>
                          <a:ea typeface="新細明體" charset="-120"/>
                          <a:cs typeface="Arial" charset="0"/>
                        </a:rPr>
                        <a:t>4</a:t>
                      </a:r>
                      <a:endParaRPr kumimoji="0" lang="en-US" sz="2800" b="0" i="0" u="none" strike="noStrike" cap="none" normalizeH="0" baseline="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dirty="0">
                          <a:ln>
                            <a:noFill/>
                          </a:ln>
                          <a:solidFill>
                            <a:srgbClr val="FF0000"/>
                          </a:solidFill>
                          <a:effectLst/>
                          <a:latin typeface="Tahoma" pitchFamily="34" charset="0"/>
                          <a:ea typeface="新細明體" charset="-120"/>
                          <a:cs typeface="Arial" charset="0"/>
                        </a:rPr>
                        <a:t>5</a:t>
                      </a:r>
                      <a:endParaRPr kumimoji="0" lang="en-US" sz="2800" b="0" i="0" u="none" strike="noStrike" cap="none" normalizeH="0" baseline="0" dirty="0">
                        <a:ln>
                          <a:noFill/>
                        </a:ln>
                        <a:solidFill>
                          <a:srgbClr val="FF0000"/>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3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3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1</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5</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3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2</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23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4</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800" b="0" i="0" u="none" strike="noStrike" cap="none" normalizeH="0" baseline="0">
                          <a:ln>
                            <a:noFill/>
                          </a:ln>
                          <a:solidFill>
                            <a:schemeClr val="tx1"/>
                          </a:solidFill>
                          <a:effectLst/>
                          <a:latin typeface="Tahoma" pitchFamily="34" charset="0"/>
                          <a:ea typeface="新細明體" charset="-120"/>
                          <a:cs typeface="Arial" charset="0"/>
                        </a:rPr>
                        <a:t>3</a:t>
                      </a:r>
                      <a:endParaRPr kumimoji="0" lang="en-US" sz="2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83918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idx="4294967295"/>
          </p:nvPr>
        </p:nvSpPr>
        <p:spPr/>
        <p:txBody>
          <a:bodyPr/>
          <a:lstStyle/>
          <a:p>
            <a:pPr algn="ctr"/>
            <a:r>
              <a:rPr lang="en-US" dirty="0">
                <a:solidFill>
                  <a:srgbClr val="C00000"/>
                </a:solidFill>
              </a:rPr>
              <a:t>Optimal Page-Replacement Algorithm</a:t>
            </a:r>
          </a:p>
        </p:txBody>
      </p:sp>
      <p:sp>
        <p:nvSpPr>
          <p:cNvPr id="124931" name="Rectangle 3"/>
          <p:cNvSpPr>
            <a:spLocks noGrp="1" noChangeArrowheads="1"/>
          </p:cNvSpPr>
          <p:nvPr>
            <p:ph type="body" idx="4294967295"/>
          </p:nvPr>
        </p:nvSpPr>
        <p:spPr>
          <a:xfrm>
            <a:off x="1810604" y="2017713"/>
            <a:ext cx="8668485" cy="4114800"/>
          </a:xfrm>
          <a:prstGeom prst="rect">
            <a:avLst/>
          </a:prstGeom>
        </p:spPr>
        <p:txBody>
          <a:bodyPr/>
          <a:lstStyle/>
          <a:p>
            <a:endParaRPr lang="en-US" dirty="0"/>
          </a:p>
          <a:p>
            <a:r>
              <a:rPr lang="en-US" dirty="0"/>
              <a:t>Replace page that will not be used for longest period of time</a:t>
            </a:r>
          </a:p>
          <a:p>
            <a:endParaRPr lang="en-US" dirty="0"/>
          </a:p>
          <a:p>
            <a:r>
              <a:rPr lang="en-US" dirty="0"/>
              <a:t>This is a design to guarantee the lowest page-fault rate for a fixed number of frames</a:t>
            </a:r>
          </a:p>
        </p:txBody>
      </p:sp>
    </p:spTree>
    <p:extLst>
      <p:ext uri="{BB962C8B-B14F-4D97-AF65-F5344CB8AC3E}">
        <p14:creationId xmlns:p14="http://schemas.microsoft.com/office/powerpoint/2010/main" val="1092379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idx="4294967295"/>
          </p:nvPr>
        </p:nvSpPr>
        <p:spPr/>
        <p:txBody>
          <a:bodyPr/>
          <a:lstStyle/>
          <a:p>
            <a:pPr algn="ctr"/>
            <a:r>
              <a:rPr lang="en-US" dirty="0">
                <a:solidFill>
                  <a:srgbClr val="C00000"/>
                </a:solidFill>
              </a:rPr>
              <a:t>Optimal Page-Replacement Algorithm</a:t>
            </a:r>
          </a:p>
        </p:txBody>
      </p:sp>
      <p:pic>
        <p:nvPicPr>
          <p:cNvPr id="125955"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1815150" y="1815165"/>
            <a:ext cx="8577834" cy="3057098"/>
          </a:xfrm>
          <a:prstGeom prst="rect">
            <a:avLst/>
          </a:prstGeom>
          <a:noFill/>
        </p:spPr>
      </p:pic>
    </p:spTree>
    <p:extLst>
      <p:ext uri="{BB962C8B-B14F-4D97-AF65-F5344CB8AC3E}">
        <p14:creationId xmlns:p14="http://schemas.microsoft.com/office/powerpoint/2010/main" val="3659677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p:txBody>
          <a:bodyPr/>
          <a:lstStyle/>
          <a:p>
            <a:pPr algn="ctr"/>
            <a:r>
              <a:rPr lang="en-US" dirty="0">
                <a:solidFill>
                  <a:srgbClr val="C00000"/>
                </a:solidFill>
              </a:rPr>
              <a:t>Optimal Page-Replacement Algorithm</a:t>
            </a:r>
          </a:p>
        </p:txBody>
      </p:sp>
      <p:pic>
        <p:nvPicPr>
          <p:cNvPr id="126979"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2667000" y="2286000"/>
            <a:ext cx="6781800" cy="4133850"/>
          </a:xfrm>
          <a:prstGeom prst="rect">
            <a:avLst/>
          </a:prstGeom>
          <a:noFill/>
        </p:spPr>
      </p:pic>
    </p:spTree>
    <p:extLst>
      <p:ext uri="{BB962C8B-B14F-4D97-AF65-F5344CB8AC3E}">
        <p14:creationId xmlns:p14="http://schemas.microsoft.com/office/powerpoint/2010/main" val="3900678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idx="4294967295"/>
          </p:nvPr>
        </p:nvSpPr>
        <p:spPr/>
        <p:txBody>
          <a:bodyPr/>
          <a:lstStyle/>
          <a:p>
            <a:pPr algn="ctr"/>
            <a:r>
              <a:rPr lang="en-US" dirty="0">
                <a:solidFill>
                  <a:srgbClr val="C00000"/>
                </a:solidFill>
              </a:rPr>
              <a:t>Optimal Page-Replacement Algorithm</a:t>
            </a:r>
          </a:p>
        </p:txBody>
      </p:sp>
      <p:sp>
        <p:nvSpPr>
          <p:cNvPr id="128003" name="Rectangle 3"/>
          <p:cNvSpPr>
            <a:spLocks noGrp="1" noChangeArrowheads="1"/>
          </p:cNvSpPr>
          <p:nvPr>
            <p:ph type="body" idx="4294967295"/>
          </p:nvPr>
        </p:nvSpPr>
        <p:spPr>
          <a:xfrm>
            <a:off x="2706688" y="2017713"/>
            <a:ext cx="7772400" cy="4114800"/>
          </a:xfrm>
          <a:prstGeom prst="rect">
            <a:avLst/>
          </a:prstGeom>
        </p:spPr>
        <p:txBody>
          <a:bodyPr/>
          <a:lstStyle/>
          <a:p>
            <a:r>
              <a:rPr lang="en-US"/>
              <a:t>Unfortunately, the optimal page-replacement is difficult to implement, because it requires future knowledge of the reference string</a:t>
            </a:r>
          </a:p>
        </p:txBody>
      </p:sp>
    </p:spTree>
    <p:extLst>
      <p:ext uri="{BB962C8B-B14F-4D97-AF65-F5344CB8AC3E}">
        <p14:creationId xmlns:p14="http://schemas.microsoft.com/office/powerpoint/2010/main" val="1179559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idx="4294967295"/>
          </p:nvPr>
        </p:nvSpPr>
        <p:spPr/>
        <p:txBody>
          <a:bodyPr/>
          <a:lstStyle/>
          <a:p>
            <a:pPr algn="ctr"/>
            <a:r>
              <a:rPr lang="en-US" dirty="0">
                <a:solidFill>
                  <a:srgbClr val="C00000"/>
                </a:solidFill>
              </a:rPr>
              <a:t>Least-recently-used (LRU) algorithm</a:t>
            </a:r>
          </a:p>
        </p:txBody>
      </p:sp>
      <p:sp>
        <p:nvSpPr>
          <p:cNvPr id="129027" name="Rectangle 3"/>
          <p:cNvSpPr>
            <a:spLocks noGrp="1" noChangeArrowheads="1"/>
          </p:cNvSpPr>
          <p:nvPr>
            <p:ph type="body" idx="4294967295"/>
          </p:nvPr>
        </p:nvSpPr>
        <p:spPr>
          <a:xfrm>
            <a:off x="1837900" y="2017713"/>
            <a:ext cx="8641189" cy="4114800"/>
          </a:xfrm>
          <a:prstGeom prst="rect">
            <a:avLst/>
          </a:prstGeom>
        </p:spPr>
        <p:txBody>
          <a:bodyPr/>
          <a:lstStyle/>
          <a:p>
            <a:r>
              <a:rPr lang="en-US" dirty="0"/>
              <a:t>LRU replacement associates with each page the time of that page’s last use</a:t>
            </a:r>
          </a:p>
          <a:p>
            <a:r>
              <a:rPr lang="en-US" dirty="0"/>
              <a:t>When a page must be replaced, LRU chooses the page that has not been used for the longest period of time</a:t>
            </a:r>
          </a:p>
        </p:txBody>
      </p:sp>
    </p:spTree>
    <p:extLst>
      <p:ext uri="{BB962C8B-B14F-4D97-AF65-F5344CB8AC3E}">
        <p14:creationId xmlns:p14="http://schemas.microsoft.com/office/powerpoint/2010/main" val="2847984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idx="4294967295"/>
          </p:nvPr>
        </p:nvSpPr>
        <p:spPr/>
        <p:txBody>
          <a:bodyPr/>
          <a:lstStyle/>
          <a:p>
            <a:pPr algn="ctr"/>
            <a:r>
              <a:rPr lang="en-US" dirty="0">
                <a:solidFill>
                  <a:srgbClr val="C00000"/>
                </a:solidFill>
              </a:rPr>
              <a:t>Least-recently-used (LRU) algorithm</a:t>
            </a:r>
          </a:p>
        </p:txBody>
      </p:sp>
      <p:pic>
        <p:nvPicPr>
          <p:cNvPr id="130051"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1646388" y="2265528"/>
            <a:ext cx="8640613" cy="3006560"/>
          </a:xfrm>
          <a:prstGeom prst="rect">
            <a:avLst/>
          </a:prstGeom>
          <a:noFill/>
        </p:spPr>
      </p:pic>
    </p:spTree>
    <p:extLst>
      <p:ext uri="{BB962C8B-B14F-4D97-AF65-F5344CB8AC3E}">
        <p14:creationId xmlns:p14="http://schemas.microsoft.com/office/powerpoint/2010/main" val="4215353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idx="4294967295"/>
          </p:nvPr>
        </p:nvSpPr>
        <p:spPr/>
        <p:txBody>
          <a:bodyPr/>
          <a:lstStyle/>
          <a:p>
            <a:pPr algn="ctr"/>
            <a:r>
              <a:rPr lang="en-US" dirty="0">
                <a:solidFill>
                  <a:srgbClr val="C00000"/>
                </a:solidFill>
              </a:rPr>
              <a:t>Least-recently-used (LRU) algorithm</a:t>
            </a:r>
          </a:p>
        </p:txBody>
      </p:sp>
      <p:pic>
        <p:nvPicPr>
          <p:cNvPr id="131075"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2971800" y="2362200"/>
            <a:ext cx="5791200" cy="3511550"/>
          </a:xfrm>
          <a:prstGeom prst="rect">
            <a:avLst/>
          </a:prstGeom>
          <a:noFill/>
        </p:spPr>
      </p:pic>
    </p:spTree>
    <p:extLst>
      <p:ext uri="{BB962C8B-B14F-4D97-AF65-F5344CB8AC3E}">
        <p14:creationId xmlns:p14="http://schemas.microsoft.com/office/powerpoint/2010/main" val="2325213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idx="4294967295"/>
          </p:nvPr>
        </p:nvSpPr>
        <p:spPr/>
        <p:txBody>
          <a:bodyPr/>
          <a:lstStyle/>
          <a:p>
            <a:pPr algn="ctr"/>
            <a:r>
              <a:rPr lang="en-US" dirty="0">
                <a:solidFill>
                  <a:srgbClr val="C00000"/>
                </a:solidFill>
              </a:rPr>
              <a:t>Least-recently-used (LRU) algorithm</a:t>
            </a:r>
          </a:p>
        </p:txBody>
      </p:sp>
      <p:sp>
        <p:nvSpPr>
          <p:cNvPr id="132099" name="Rectangle 3"/>
          <p:cNvSpPr>
            <a:spLocks noGrp="1" noChangeArrowheads="1"/>
          </p:cNvSpPr>
          <p:nvPr>
            <p:ph type="body" idx="4294967295"/>
          </p:nvPr>
        </p:nvSpPr>
        <p:spPr>
          <a:xfrm>
            <a:off x="1892490" y="2017713"/>
            <a:ext cx="8586598" cy="4114800"/>
          </a:xfrm>
          <a:prstGeom prst="rect">
            <a:avLst/>
          </a:prstGeom>
        </p:spPr>
        <p:txBody>
          <a:bodyPr/>
          <a:lstStyle/>
          <a:p>
            <a:pPr marL="609600" indent="-609600">
              <a:lnSpc>
                <a:spcPct val="80000"/>
              </a:lnSpc>
            </a:pPr>
            <a:r>
              <a:rPr lang="en-US" sz="2400" dirty="0"/>
              <a:t>The major problem is how to implement LRU replacement:</a:t>
            </a:r>
          </a:p>
          <a:p>
            <a:pPr marL="1009650" lvl="1" indent="-609600">
              <a:lnSpc>
                <a:spcPct val="80000"/>
              </a:lnSpc>
              <a:buFont typeface="Wingdings" pitchFamily="2" charset="2"/>
              <a:buAutoNum type="arabicPeriod"/>
            </a:pPr>
            <a:r>
              <a:rPr lang="en-US" sz="1800" dirty="0"/>
              <a:t>Usage Time:  whenever a reference to a page is made, the content of the clock register are copied to the time-of-use filed in the page table entry for the page.  We replace the page with the </a:t>
            </a:r>
            <a:r>
              <a:rPr lang="en-US" sz="1800" b="1" dirty="0"/>
              <a:t>smallest</a:t>
            </a:r>
            <a:r>
              <a:rPr lang="en-US" sz="1800" dirty="0"/>
              <a:t> time value</a:t>
            </a:r>
          </a:p>
          <a:p>
            <a:pPr marL="1009650" lvl="1" indent="-609600">
              <a:lnSpc>
                <a:spcPct val="80000"/>
              </a:lnSpc>
              <a:buFont typeface="Wingdings" pitchFamily="2" charset="2"/>
              <a:buAutoNum type="arabicPeriod"/>
            </a:pPr>
            <a:r>
              <a:rPr lang="en-US" sz="1800" dirty="0"/>
              <a:t>Modified Stack:  Whenever a page is referenced, it is removed from the stack and put on the top.  In this way, the most recently used page is always at the top of the stack</a:t>
            </a:r>
          </a:p>
          <a:p>
            <a:pPr marL="609600" indent="-609600">
              <a:lnSpc>
                <a:spcPct val="80000"/>
              </a:lnSpc>
              <a:buNone/>
            </a:pPr>
            <a:r>
              <a:rPr lang="en-US" sz="2400" dirty="0"/>
              <a:t>     </a:t>
            </a:r>
          </a:p>
          <a:p>
            <a:pPr marL="609600" indent="-609600">
              <a:lnSpc>
                <a:spcPct val="80000"/>
              </a:lnSpc>
              <a:buFont typeface="Wingdings" pitchFamily="2" charset="2"/>
              <a:buAutoNum type="arabicPeriod"/>
            </a:pPr>
            <a:endParaRPr lang="en-US" sz="2400" dirty="0"/>
          </a:p>
        </p:txBody>
      </p:sp>
    </p:spTree>
    <p:extLst>
      <p:ext uri="{BB962C8B-B14F-4D97-AF65-F5344CB8AC3E}">
        <p14:creationId xmlns:p14="http://schemas.microsoft.com/office/powerpoint/2010/main" val="686297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idx="4294967295"/>
          </p:nvPr>
        </p:nvSpPr>
        <p:spPr/>
        <p:txBody>
          <a:bodyPr/>
          <a:lstStyle/>
          <a:p>
            <a:pPr algn="ctr"/>
            <a:r>
              <a:rPr lang="en-US" dirty="0">
                <a:solidFill>
                  <a:srgbClr val="C00000"/>
                </a:solidFill>
              </a:rPr>
              <a:t>Stack implementation</a:t>
            </a:r>
          </a:p>
        </p:txBody>
      </p:sp>
      <p:pic>
        <p:nvPicPr>
          <p:cNvPr id="133123"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a:xfrm>
            <a:off x="1909301" y="1467611"/>
            <a:ext cx="7888406" cy="5570091"/>
          </a:xfrm>
          <a:prstGeom prst="rect">
            <a:avLst/>
          </a:prstGeom>
          <a:noFill/>
        </p:spPr>
      </p:pic>
    </p:spTree>
    <p:extLst>
      <p:ext uri="{BB962C8B-B14F-4D97-AF65-F5344CB8AC3E}">
        <p14:creationId xmlns:p14="http://schemas.microsoft.com/office/powerpoint/2010/main" val="931875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TotalTime>
  <Words>644</Words>
  <Application>Microsoft Office PowerPoint</Application>
  <PresentationFormat>Widescreen</PresentationFormat>
  <Paragraphs>146</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Tahoma</vt:lpstr>
      <vt:lpstr>Wingdings</vt:lpstr>
      <vt:lpstr>Office Theme</vt:lpstr>
      <vt:lpstr> </vt:lpstr>
      <vt:lpstr>Page Fault and Page Replacement</vt:lpstr>
      <vt:lpstr>Page Replacement Policies</vt:lpstr>
      <vt:lpstr>FIFO</vt:lpstr>
      <vt:lpstr>FIFO</vt:lpstr>
      <vt:lpstr>FIFO 3 frame </vt:lpstr>
      <vt:lpstr>FIFO 4 frame </vt:lpstr>
      <vt:lpstr>Optimal Page-Replacement Algorithm</vt:lpstr>
      <vt:lpstr>Optimal Page-Replacement Algorithm</vt:lpstr>
      <vt:lpstr>Optimal Page-Replacement Algorithm</vt:lpstr>
      <vt:lpstr>Optimal Page-Replacement Algorithm</vt:lpstr>
      <vt:lpstr>Least-recently-used (LRU) algorithm</vt:lpstr>
      <vt:lpstr>Least-recently-used (LRU) algorithm</vt:lpstr>
      <vt:lpstr>Least-recently-used (LRU) algorithm</vt:lpstr>
      <vt:lpstr>Least-recently-used (LRU) algorithm</vt:lpstr>
      <vt:lpstr>Stack implementation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38</cp:revision>
  <dcterms:created xsi:type="dcterms:W3CDTF">2020-06-18T04:00:41Z</dcterms:created>
  <dcterms:modified xsi:type="dcterms:W3CDTF">2020-08-13T06:56:30Z</dcterms:modified>
</cp:coreProperties>
</file>