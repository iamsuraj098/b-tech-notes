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344" r:id="rId3"/>
    <p:sldId id="393" r:id="rId4"/>
    <p:sldId id="385" r:id="rId5"/>
    <p:sldId id="345" r:id="rId6"/>
    <p:sldId id="342" r:id="rId7"/>
    <p:sldId id="355" r:id="rId8"/>
    <p:sldId id="395" r:id="rId9"/>
    <p:sldId id="394" r:id="rId10"/>
    <p:sldId id="346" r:id="rId11"/>
    <p:sldId id="400" r:id="rId12"/>
    <p:sldId id="401" r:id="rId13"/>
    <p:sldId id="27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3793C-9F6E-4CE1-B94E-78F167BB0663}" type="datetimeFigureOut">
              <a:rPr lang="en-US" smtClean="0"/>
              <a:t>8/30/2020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AF78A-2270-4721-AA5A-1B675F5A1ABB}" type="slidenum">
              <a:rPr lang="en-US" smtClean="0"/>
              <a:t>‹#›</a:t>
            </a:fld>
            <a:endParaRPr lang="en-US"/>
          </a:p>
        </p:txBody>
      </p:sp>
    </p:spTree>
    <p:extLst>
      <p:ext uri="{BB962C8B-B14F-4D97-AF65-F5344CB8AC3E}">
        <p14:creationId xmlns:p14="http://schemas.microsoft.com/office/powerpoint/2010/main" val="2745719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A7E-81F0-4134-BD15-5C170C069D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BCD674-A3BA-4C42-9005-763EDB025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8A7EDD-DFA4-4A1A-83E3-25AA585BA9A2}"/>
              </a:ext>
            </a:extLst>
          </p:cNvPr>
          <p:cNvSpPr>
            <a:spLocks noGrp="1"/>
          </p:cNvSpPr>
          <p:nvPr>
            <p:ph type="dt" sz="half" idx="10"/>
          </p:nvPr>
        </p:nvSpPr>
        <p:spPr/>
        <p:txBody>
          <a:bodyPr/>
          <a:lstStyle/>
          <a:p>
            <a:fld id="{87864072-6A20-4DBD-9873-382B57A9CEBC}" type="datetimeFigureOut">
              <a:rPr lang="en-US" smtClean="0"/>
              <a:t>8/30/2020</a:t>
            </a:fld>
            <a:endParaRPr lang="en-US"/>
          </a:p>
        </p:txBody>
      </p:sp>
      <p:sp>
        <p:nvSpPr>
          <p:cNvPr id="5" name="Footer Placeholder 4">
            <a:extLst>
              <a:ext uri="{FF2B5EF4-FFF2-40B4-BE49-F238E27FC236}">
                <a16:creationId xmlns:a16="http://schemas.microsoft.com/office/drawing/2014/main" id="{3EBDDD35-3124-45BE-8281-89DADE36D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4DDAB-06E4-4EA3-94AC-1B24D066671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7249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C73F-1D55-4331-B6FC-3AA2B609FE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A4E085-C58E-496B-98D7-1B99D1C33C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2F368-288E-4BA1-BE87-29FB8F830832}"/>
              </a:ext>
            </a:extLst>
          </p:cNvPr>
          <p:cNvSpPr>
            <a:spLocks noGrp="1"/>
          </p:cNvSpPr>
          <p:nvPr>
            <p:ph type="dt" sz="half" idx="10"/>
          </p:nvPr>
        </p:nvSpPr>
        <p:spPr/>
        <p:txBody>
          <a:bodyPr/>
          <a:lstStyle/>
          <a:p>
            <a:fld id="{87864072-6A20-4DBD-9873-382B57A9CEBC}" type="datetimeFigureOut">
              <a:rPr lang="en-US" smtClean="0"/>
              <a:t>8/30/2020</a:t>
            </a:fld>
            <a:endParaRPr lang="en-US"/>
          </a:p>
        </p:txBody>
      </p:sp>
      <p:sp>
        <p:nvSpPr>
          <p:cNvPr id="5" name="Footer Placeholder 4">
            <a:extLst>
              <a:ext uri="{FF2B5EF4-FFF2-40B4-BE49-F238E27FC236}">
                <a16:creationId xmlns:a16="http://schemas.microsoft.com/office/drawing/2014/main" id="{4D7250FE-6DBD-4289-9511-5D05D19CF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0A08E-4AE5-4672-8C44-34B86EEC82CE}"/>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74824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32352-8481-41AD-8AC0-D532E19E6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668B2E-6852-4395-B254-EEA800955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9FC224-D401-4126-8A4C-A88089EBB83C}"/>
              </a:ext>
            </a:extLst>
          </p:cNvPr>
          <p:cNvSpPr>
            <a:spLocks noGrp="1"/>
          </p:cNvSpPr>
          <p:nvPr>
            <p:ph type="dt" sz="half" idx="10"/>
          </p:nvPr>
        </p:nvSpPr>
        <p:spPr/>
        <p:txBody>
          <a:bodyPr/>
          <a:lstStyle/>
          <a:p>
            <a:fld id="{87864072-6A20-4DBD-9873-382B57A9CEBC}" type="datetimeFigureOut">
              <a:rPr lang="en-US" smtClean="0"/>
              <a:t>8/30/2020</a:t>
            </a:fld>
            <a:endParaRPr lang="en-US"/>
          </a:p>
        </p:txBody>
      </p:sp>
      <p:sp>
        <p:nvSpPr>
          <p:cNvPr id="5" name="Footer Placeholder 4">
            <a:extLst>
              <a:ext uri="{FF2B5EF4-FFF2-40B4-BE49-F238E27FC236}">
                <a16:creationId xmlns:a16="http://schemas.microsoft.com/office/drawing/2014/main" id="{A08A6F80-1254-4085-9631-EF3BFB215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5BEC7-7EFD-4172-A6EB-324F550B1E9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4033276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1B8EF-7756-480B-8AC4-884B456AD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DD0B1B-47A0-4232-BAF8-F717551F61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1A325D-5F45-4CA3-ABCC-3A07EE07CB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03B7B7-5A8B-48EE-8F45-38809D0AA093}"/>
              </a:ext>
            </a:extLst>
          </p:cNvPr>
          <p:cNvSpPr>
            <a:spLocks noGrp="1"/>
          </p:cNvSpPr>
          <p:nvPr>
            <p:ph type="dt" sz="half" idx="10"/>
          </p:nvPr>
        </p:nvSpPr>
        <p:spPr/>
        <p:txBody>
          <a:bodyPr/>
          <a:lstStyle/>
          <a:p>
            <a:fld id="{87864072-6A20-4DBD-9873-382B57A9CEBC}" type="datetimeFigureOut">
              <a:rPr lang="en-US" smtClean="0"/>
              <a:t>8/30/2020</a:t>
            </a:fld>
            <a:endParaRPr lang="en-US"/>
          </a:p>
        </p:txBody>
      </p:sp>
      <p:sp>
        <p:nvSpPr>
          <p:cNvPr id="6" name="Footer Placeholder 5">
            <a:extLst>
              <a:ext uri="{FF2B5EF4-FFF2-40B4-BE49-F238E27FC236}">
                <a16:creationId xmlns:a16="http://schemas.microsoft.com/office/drawing/2014/main" id="{23D7EE25-F5A8-40CF-AED4-6A8B4153C1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EF098-D06A-4D79-A934-F11F1217AE8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7950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17B3-8B64-4F56-9165-9D1F1B6996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12F572-116B-4FBC-80A1-B160E910E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DAA3B-BF40-498F-910E-D6FE62C725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7089C-079C-4C6E-9481-3975BCB5D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8D0D08-DF36-4271-880D-5E9F0DBDE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D17495-0CEE-4E07-B1EE-B6519BFEFF1A}"/>
              </a:ext>
            </a:extLst>
          </p:cNvPr>
          <p:cNvSpPr>
            <a:spLocks noGrp="1"/>
          </p:cNvSpPr>
          <p:nvPr>
            <p:ph type="dt" sz="half" idx="10"/>
          </p:nvPr>
        </p:nvSpPr>
        <p:spPr/>
        <p:txBody>
          <a:bodyPr/>
          <a:lstStyle/>
          <a:p>
            <a:fld id="{87864072-6A20-4DBD-9873-382B57A9CEBC}" type="datetimeFigureOut">
              <a:rPr lang="en-US" smtClean="0"/>
              <a:t>8/30/2020</a:t>
            </a:fld>
            <a:endParaRPr lang="en-US"/>
          </a:p>
        </p:txBody>
      </p:sp>
      <p:sp>
        <p:nvSpPr>
          <p:cNvPr id="8" name="Footer Placeholder 7">
            <a:extLst>
              <a:ext uri="{FF2B5EF4-FFF2-40B4-BE49-F238E27FC236}">
                <a16:creationId xmlns:a16="http://schemas.microsoft.com/office/drawing/2014/main" id="{2C8416FD-C3A3-4B77-9678-C5082E628E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E038-F659-4CEC-893C-EE00681F5F73}"/>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56983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EC38-A637-413A-ADAE-BE0CFC8B87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9CF607-1E75-4E3B-9910-AF15505BCFA0}"/>
              </a:ext>
            </a:extLst>
          </p:cNvPr>
          <p:cNvSpPr>
            <a:spLocks noGrp="1"/>
          </p:cNvSpPr>
          <p:nvPr>
            <p:ph type="dt" sz="half" idx="10"/>
          </p:nvPr>
        </p:nvSpPr>
        <p:spPr/>
        <p:txBody>
          <a:bodyPr/>
          <a:lstStyle/>
          <a:p>
            <a:fld id="{87864072-6A20-4DBD-9873-382B57A9CEBC}" type="datetimeFigureOut">
              <a:rPr lang="en-US" smtClean="0"/>
              <a:t>8/30/2020</a:t>
            </a:fld>
            <a:endParaRPr lang="en-US"/>
          </a:p>
        </p:txBody>
      </p:sp>
      <p:sp>
        <p:nvSpPr>
          <p:cNvPr id="4" name="Footer Placeholder 3">
            <a:extLst>
              <a:ext uri="{FF2B5EF4-FFF2-40B4-BE49-F238E27FC236}">
                <a16:creationId xmlns:a16="http://schemas.microsoft.com/office/drawing/2014/main" id="{298C001C-1627-4AD3-A0D3-B3339FC11C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E4DC-41E9-49A6-9047-6E1F7BF34CF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642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CE46B-A1F2-4FE7-BE62-EA0E275D0B6A}"/>
              </a:ext>
            </a:extLst>
          </p:cNvPr>
          <p:cNvSpPr>
            <a:spLocks noGrp="1"/>
          </p:cNvSpPr>
          <p:nvPr>
            <p:ph type="dt" sz="half" idx="10"/>
          </p:nvPr>
        </p:nvSpPr>
        <p:spPr/>
        <p:txBody>
          <a:bodyPr/>
          <a:lstStyle/>
          <a:p>
            <a:fld id="{87864072-6A20-4DBD-9873-382B57A9CEBC}" type="datetimeFigureOut">
              <a:rPr lang="en-US" smtClean="0"/>
              <a:t>8/30/2020</a:t>
            </a:fld>
            <a:endParaRPr lang="en-US"/>
          </a:p>
        </p:txBody>
      </p:sp>
      <p:sp>
        <p:nvSpPr>
          <p:cNvPr id="3" name="Footer Placeholder 2">
            <a:extLst>
              <a:ext uri="{FF2B5EF4-FFF2-40B4-BE49-F238E27FC236}">
                <a16:creationId xmlns:a16="http://schemas.microsoft.com/office/drawing/2014/main" id="{EF188AA1-14B3-435D-88D6-94512D0E89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F83966-455F-4672-A770-38992392405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71139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7F8D-EF09-4BE8-A8AA-A3E2AB642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EB90AC-FF6F-4700-8FDC-3A3EC0FF8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719B4C-AF9F-4A5E-9702-FB58A7B26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98C2B0-1797-4CA4-91C5-DF4B4A45FCC6}"/>
              </a:ext>
            </a:extLst>
          </p:cNvPr>
          <p:cNvSpPr>
            <a:spLocks noGrp="1"/>
          </p:cNvSpPr>
          <p:nvPr>
            <p:ph type="dt" sz="half" idx="10"/>
          </p:nvPr>
        </p:nvSpPr>
        <p:spPr/>
        <p:txBody>
          <a:bodyPr/>
          <a:lstStyle/>
          <a:p>
            <a:fld id="{87864072-6A20-4DBD-9873-382B57A9CEBC}" type="datetimeFigureOut">
              <a:rPr lang="en-US" smtClean="0"/>
              <a:t>8/30/2020</a:t>
            </a:fld>
            <a:endParaRPr lang="en-US"/>
          </a:p>
        </p:txBody>
      </p:sp>
      <p:sp>
        <p:nvSpPr>
          <p:cNvPr id="6" name="Footer Placeholder 5">
            <a:extLst>
              <a:ext uri="{FF2B5EF4-FFF2-40B4-BE49-F238E27FC236}">
                <a16:creationId xmlns:a16="http://schemas.microsoft.com/office/drawing/2014/main" id="{8BE09123-8FCE-4335-90FF-B38FF42782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15DF9-1BB0-4D73-8CE7-BE42FC1A576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86266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001E-159E-4C6B-904E-108CE8ECF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E07AB-277F-44EB-9550-9E948F6ED0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4C6601-2A79-4B56-9BD2-9FFCD85C1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A6FD8E-BD42-4380-A704-79AD7BEB4212}"/>
              </a:ext>
            </a:extLst>
          </p:cNvPr>
          <p:cNvSpPr>
            <a:spLocks noGrp="1"/>
          </p:cNvSpPr>
          <p:nvPr>
            <p:ph type="dt" sz="half" idx="10"/>
          </p:nvPr>
        </p:nvSpPr>
        <p:spPr/>
        <p:txBody>
          <a:bodyPr/>
          <a:lstStyle/>
          <a:p>
            <a:fld id="{87864072-6A20-4DBD-9873-382B57A9CEBC}" type="datetimeFigureOut">
              <a:rPr lang="en-US" smtClean="0"/>
              <a:t>8/30/2020</a:t>
            </a:fld>
            <a:endParaRPr lang="en-US"/>
          </a:p>
        </p:txBody>
      </p:sp>
      <p:sp>
        <p:nvSpPr>
          <p:cNvPr id="6" name="Footer Placeholder 5">
            <a:extLst>
              <a:ext uri="{FF2B5EF4-FFF2-40B4-BE49-F238E27FC236}">
                <a16:creationId xmlns:a16="http://schemas.microsoft.com/office/drawing/2014/main" id="{AA504562-B91A-4A31-B18F-2CE9197E1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97E42-70ED-44AC-8D83-F71879FFE9B7}"/>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237527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92E7-DD2D-4D70-82F6-D9725B3710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27CEF2-37E8-4EA3-895A-13883A2168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F8EF2-460E-4E7D-A56E-13C49CA0173D}"/>
              </a:ext>
            </a:extLst>
          </p:cNvPr>
          <p:cNvSpPr>
            <a:spLocks noGrp="1"/>
          </p:cNvSpPr>
          <p:nvPr>
            <p:ph type="dt" sz="half" idx="10"/>
          </p:nvPr>
        </p:nvSpPr>
        <p:spPr/>
        <p:txBody>
          <a:bodyPr/>
          <a:lstStyle/>
          <a:p>
            <a:fld id="{87864072-6A20-4DBD-9873-382B57A9CEBC}" type="datetimeFigureOut">
              <a:rPr lang="en-US" smtClean="0"/>
              <a:t>8/30/2020</a:t>
            </a:fld>
            <a:endParaRPr lang="en-US"/>
          </a:p>
        </p:txBody>
      </p:sp>
      <p:sp>
        <p:nvSpPr>
          <p:cNvPr id="5" name="Footer Placeholder 4">
            <a:extLst>
              <a:ext uri="{FF2B5EF4-FFF2-40B4-BE49-F238E27FC236}">
                <a16:creationId xmlns:a16="http://schemas.microsoft.com/office/drawing/2014/main" id="{0D1DE7C8-D345-4CEE-B7B9-E056DB785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00CDD-B8DE-434D-8CD1-8D73E0465BD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148748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1BF484-8DF8-4359-A45F-3550A7C91D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12163-A279-4DFE-9D2D-E78F9BB203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9479B-855F-41CF-8B9D-86AEE460424B}"/>
              </a:ext>
            </a:extLst>
          </p:cNvPr>
          <p:cNvSpPr>
            <a:spLocks noGrp="1"/>
          </p:cNvSpPr>
          <p:nvPr>
            <p:ph type="dt" sz="half" idx="10"/>
          </p:nvPr>
        </p:nvSpPr>
        <p:spPr/>
        <p:txBody>
          <a:bodyPr/>
          <a:lstStyle/>
          <a:p>
            <a:fld id="{87864072-6A20-4DBD-9873-382B57A9CEBC}" type="datetimeFigureOut">
              <a:rPr lang="en-US" smtClean="0"/>
              <a:t>8/30/2020</a:t>
            </a:fld>
            <a:endParaRPr lang="en-US"/>
          </a:p>
        </p:txBody>
      </p:sp>
      <p:sp>
        <p:nvSpPr>
          <p:cNvPr id="5" name="Footer Placeholder 4">
            <a:extLst>
              <a:ext uri="{FF2B5EF4-FFF2-40B4-BE49-F238E27FC236}">
                <a16:creationId xmlns:a16="http://schemas.microsoft.com/office/drawing/2014/main" id="{6EAE8C7C-204E-4E9D-B2DF-712E4B427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57DAE8-C3F7-47A0-ACCB-36C329E6530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04400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63EC23-EE39-4728-B8BB-EAA618506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7CCE27-E475-4C15-9FE6-8CAEA1D4E7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445BA-1B4C-44B9-8E59-F3B0BDD73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64072-6A20-4DBD-9873-382B57A9CEBC}" type="datetimeFigureOut">
              <a:rPr lang="en-US" smtClean="0"/>
              <a:t>8/30/2020</a:t>
            </a:fld>
            <a:endParaRPr lang="en-US"/>
          </a:p>
        </p:txBody>
      </p:sp>
      <p:sp>
        <p:nvSpPr>
          <p:cNvPr id="5" name="Footer Placeholder 4">
            <a:extLst>
              <a:ext uri="{FF2B5EF4-FFF2-40B4-BE49-F238E27FC236}">
                <a16:creationId xmlns:a16="http://schemas.microsoft.com/office/drawing/2014/main" id="{77875FA0-C085-4441-B672-E2C970C43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623047-2BBF-4763-A0EE-1941F70D5D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914E4-B421-41C6-A5C3-592ADA163034}" type="slidenum">
              <a:rPr lang="en-US" smtClean="0"/>
              <a:t>‹#›</a:t>
            </a:fld>
            <a:endParaRPr lang="en-US"/>
          </a:p>
        </p:txBody>
      </p:sp>
    </p:spTree>
    <p:extLst>
      <p:ext uri="{BB962C8B-B14F-4D97-AF65-F5344CB8AC3E}">
        <p14:creationId xmlns:p14="http://schemas.microsoft.com/office/powerpoint/2010/main" val="2606624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0700D48D-C9AA-4000-A912-29A4FEA98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5138" y="394887"/>
            <a:ext cx="5720862" cy="606822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1DA4F3-9EF8-4369-8046-62460F132A30}"/>
              </a:ext>
            </a:extLst>
          </p:cNvPr>
          <p:cNvSpPr>
            <a:spLocks noGrp="1"/>
          </p:cNvSpPr>
          <p:nvPr>
            <p:ph type="ctrTitle"/>
          </p:nvPr>
        </p:nvSpPr>
        <p:spPr>
          <a:xfrm>
            <a:off x="1018604" y="1053042"/>
            <a:ext cx="4458424" cy="3068357"/>
          </a:xfrm>
        </p:spPr>
        <p:txBody>
          <a:bodyPr>
            <a:normAutofit/>
          </a:bodyPr>
          <a:lstStyle/>
          <a:p>
            <a:pPr algn="l"/>
            <a:br>
              <a:rPr lang="en-US">
                <a:solidFill>
                  <a:srgbClr val="FFFFFF"/>
                </a:solidFill>
              </a:rPr>
            </a:br>
            <a:endParaRPr lang="en-US">
              <a:solidFill>
                <a:srgbClr val="FFFFFF"/>
              </a:solidFill>
            </a:endParaRPr>
          </a:p>
        </p:txBody>
      </p:sp>
      <p:sp>
        <p:nvSpPr>
          <p:cNvPr id="3" name="Subtitle 2">
            <a:extLst>
              <a:ext uri="{FF2B5EF4-FFF2-40B4-BE49-F238E27FC236}">
                <a16:creationId xmlns:a16="http://schemas.microsoft.com/office/drawing/2014/main" id="{FD3F6E6A-CA2C-4D7C-95F1-0463554CE732}"/>
              </a:ext>
            </a:extLst>
          </p:cNvPr>
          <p:cNvSpPr>
            <a:spLocks noGrp="1"/>
          </p:cNvSpPr>
          <p:nvPr>
            <p:ph type="subTitle" idx="1"/>
          </p:nvPr>
        </p:nvSpPr>
        <p:spPr>
          <a:xfrm>
            <a:off x="1018604" y="4292070"/>
            <a:ext cx="4458424" cy="1512888"/>
          </a:xfrm>
        </p:spPr>
        <p:txBody>
          <a:bodyPr>
            <a:normAutofit/>
          </a:bodyPr>
          <a:lstStyle/>
          <a:p>
            <a:pPr algn="l"/>
            <a:r>
              <a:rPr lang="en-US" sz="1500">
                <a:solidFill>
                  <a:srgbClr val="ABCD81"/>
                </a:solidFill>
              </a:rPr>
              <a:t>Dr. Rizwan Khan</a:t>
            </a:r>
          </a:p>
          <a:p>
            <a:pPr algn="l"/>
            <a:r>
              <a:rPr lang="en-US" sz="1500">
                <a:solidFill>
                  <a:srgbClr val="ABCD81"/>
                </a:solidFill>
              </a:rPr>
              <a:t>Head – Department of Computer Science and Engineering</a:t>
            </a:r>
          </a:p>
          <a:p>
            <a:pPr algn="l"/>
            <a:r>
              <a:rPr lang="en-US" sz="1500">
                <a:solidFill>
                  <a:srgbClr val="ABCD81"/>
                </a:solidFill>
              </a:rPr>
              <a:t>(An NBA Accredited Program)</a:t>
            </a:r>
          </a:p>
          <a:p>
            <a:pPr algn="l"/>
            <a:r>
              <a:rPr lang="en-US" sz="1500">
                <a:solidFill>
                  <a:srgbClr val="ABCD81"/>
                </a:solidFill>
              </a:rPr>
              <a:t>ABES Institute of Technology, Ghaziabad</a:t>
            </a:r>
          </a:p>
        </p:txBody>
      </p:sp>
      <p:cxnSp>
        <p:nvCxnSpPr>
          <p:cNvPr id="80" name="Straight Connector 79">
            <a:extLst>
              <a:ext uri="{FF2B5EF4-FFF2-40B4-BE49-F238E27FC236}">
                <a16:creationId xmlns:a16="http://schemas.microsoft.com/office/drawing/2014/main" id="{805E69BC-D844-4AB5-9E35-ED458EE296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184178" y="1874520"/>
            <a:ext cx="0" cy="310896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312C673-8179-457E-AD2A-D1FAE4CC96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14009" y="4201833"/>
            <a:ext cx="3400425"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8E6B5078-279F-496A-B100-835C91465BD5}"/>
              </a:ext>
            </a:extLst>
          </p:cNvPr>
          <p:cNvGraphicFramePr>
            <a:graphicFrameLocks noGrp="1"/>
          </p:cNvGraphicFramePr>
          <p:nvPr>
            <p:extLst>
              <p:ext uri="{D42A27DB-BD31-4B8C-83A1-F6EECF244321}">
                <p14:modId xmlns:p14="http://schemas.microsoft.com/office/powerpoint/2010/main" val="1133047617"/>
              </p:ext>
            </p:extLst>
          </p:nvPr>
        </p:nvGraphicFramePr>
        <p:xfrm>
          <a:off x="7517296" y="1053042"/>
          <a:ext cx="3999192" cy="1554480"/>
        </p:xfrm>
        <a:graphic>
          <a:graphicData uri="http://schemas.openxmlformats.org/drawingml/2006/table">
            <a:tbl>
              <a:tblPr firstRow="1" bandRow="1">
                <a:tableStyleId>{5C22544A-7EE6-4342-B048-85BDC9FD1C3A}</a:tableStyleId>
              </a:tblPr>
              <a:tblGrid>
                <a:gridCol w="3999192">
                  <a:extLst>
                    <a:ext uri="{9D8B030D-6E8A-4147-A177-3AD203B41FA5}">
                      <a16:colId xmlns:a16="http://schemas.microsoft.com/office/drawing/2014/main" val="3518561318"/>
                    </a:ext>
                  </a:extLst>
                </a:gridCol>
              </a:tblGrid>
              <a:tr h="1474163">
                <a:tc>
                  <a:txBody>
                    <a:bodyPr/>
                    <a:lstStyle/>
                    <a:p>
                      <a:r>
                        <a:rPr lang="en-US" sz="3200" dirty="0"/>
                        <a:t>COMPUTER ORGANIZATION AND ARCHITECTURE</a:t>
                      </a:r>
                    </a:p>
                  </a:txBody>
                  <a:tcPr/>
                </a:tc>
                <a:extLst>
                  <a:ext uri="{0D108BD9-81ED-4DB2-BD59-A6C34878D82A}">
                    <a16:rowId xmlns:a16="http://schemas.microsoft.com/office/drawing/2014/main" val="1796247831"/>
                  </a:ext>
                </a:extLst>
              </a:tr>
            </a:tbl>
          </a:graphicData>
        </a:graphic>
      </p:graphicFrame>
    </p:spTree>
    <p:extLst>
      <p:ext uri="{BB962C8B-B14F-4D97-AF65-F5344CB8AC3E}">
        <p14:creationId xmlns:p14="http://schemas.microsoft.com/office/powerpoint/2010/main" val="1407932584"/>
      </p:ext>
    </p:extLst>
  </p:cSld>
  <p:clrMapOvr>
    <a:masterClrMapping/>
  </p:clrMapOvr>
  <mc:AlternateContent xmlns:mc="http://schemas.openxmlformats.org/markup-compatibility/2006" xmlns:p14="http://schemas.microsoft.com/office/powerpoint/2010/main">
    <mc:Choice Requires="p14">
      <p:transition spd="slow" p14:dur="2000" advTm="7530"/>
    </mc:Choice>
    <mc:Fallback xmlns="">
      <p:transition spd="slow" advTm="75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MAPPING</a:t>
            </a:r>
          </a:p>
        </p:txBody>
      </p:sp>
      <p:sp>
        <p:nvSpPr>
          <p:cNvPr id="3" name="Content Placeholder 2"/>
          <p:cNvSpPr>
            <a:spLocks noGrp="1"/>
          </p:cNvSpPr>
          <p:nvPr>
            <p:ph idx="1"/>
          </p:nvPr>
        </p:nvSpPr>
        <p:spPr>
          <a:xfrm>
            <a:off x="1981200" y="914401"/>
            <a:ext cx="8229600" cy="5211763"/>
          </a:xfrm>
        </p:spPr>
        <p:txBody>
          <a:bodyPr/>
          <a:lstStyle/>
          <a:p>
            <a:r>
              <a:rPr lang="en-US" sz="1800" dirty="0"/>
              <a:t>The mapping function determines how memory blocks are mapped to cache lines. This function sometimes is also referred to as the hashing function</a:t>
            </a:r>
          </a:p>
          <a:p>
            <a:r>
              <a:rPr lang="en-US" sz="1800" dirty="0"/>
              <a:t>This address conversion is done by giving special significance to the bits in the main memory address. We first divide the bits into distinct groups we call fields. Depending on the mapping scheme, we may have two or three fields. How we use these fields depends on the particular mapping scheme being used. </a:t>
            </a:r>
          </a:p>
          <a:p>
            <a:r>
              <a:rPr lang="en-US" sz="1800" dirty="0"/>
              <a:t>Main memory and cache are both divided into the same size blocks (the size of these blocks varies). When a memory address is generated, cache is searched first to see if the required word exists there. When the requested word is not found in cache, the entire main memory block in which the word resides is loaded into cache.</a:t>
            </a:r>
          </a:p>
          <a:p>
            <a:pPr marL="342900" indent="-342900">
              <a:buFont typeface="+mj-lt"/>
              <a:buAutoNum type="arabicPeriod"/>
            </a:pPr>
            <a:r>
              <a:rPr lang="en-US" sz="1800" dirty="0"/>
              <a:t>Direct Mapping: Specifies a single cache line for each memory block;</a:t>
            </a:r>
          </a:p>
          <a:p>
            <a:pPr marL="342900" indent="-342900">
              <a:buFont typeface="+mj-lt"/>
              <a:buAutoNum type="arabicPeriod"/>
            </a:pPr>
            <a:r>
              <a:rPr lang="en-US" sz="1800" dirty="0"/>
              <a:t>Set-Associative Mapping:  Specifies a set of cache lines for each memory block;</a:t>
            </a:r>
          </a:p>
          <a:p>
            <a:pPr marL="342900" indent="-342900">
              <a:buFont typeface="+mj-lt"/>
              <a:buAutoNum type="arabicPeriod"/>
            </a:pPr>
            <a:r>
              <a:rPr lang="en-US" sz="1800" dirty="0"/>
              <a:t>Associative Mapping: No restrictions; any cache line can be used for any memory block.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MAPPING</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5138" y="885825"/>
            <a:ext cx="6157912" cy="5496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5447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lgn="ctr"/>
            <a:r>
              <a:rPr lang="en-US" dirty="0">
                <a:solidFill>
                  <a:srgbClr val="C00000"/>
                </a:solidFill>
              </a:rPr>
              <a:t>Cache mapping </a:t>
            </a:r>
          </a:p>
        </p:txBody>
      </p:sp>
      <p:sp>
        <p:nvSpPr>
          <p:cNvPr id="109571" name="Rectangle 3"/>
          <p:cNvSpPr>
            <a:spLocks noGrp="1" noChangeArrowheads="1"/>
          </p:cNvSpPr>
          <p:nvPr>
            <p:ph idx="1"/>
          </p:nvPr>
        </p:nvSpPr>
        <p:spPr/>
        <p:txBody>
          <a:bodyPr/>
          <a:lstStyle/>
          <a:p>
            <a:pPr>
              <a:buFontTx/>
              <a:buNone/>
            </a:pPr>
            <a:r>
              <a:rPr lang="en-US"/>
              <a:t>Commonly used methods:</a:t>
            </a:r>
          </a:p>
          <a:p>
            <a:r>
              <a:rPr lang="en-US"/>
              <a:t>Associative Mapped Cache</a:t>
            </a:r>
          </a:p>
          <a:p>
            <a:r>
              <a:rPr lang="en-US"/>
              <a:t>Direct-Mapped Cache</a:t>
            </a:r>
          </a:p>
          <a:p>
            <a:r>
              <a:rPr lang="en-US"/>
              <a:t>Set-Associative Mapped Cache</a:t>
            </a:r>
          </a:p>
          <a:p>
            <a:pPr>
              <a:buFontTx/>
              <a:buNone/>
            </a:pPr>
            <a:endParaRPr lang="en-US"/>
          </a:p>
        </p:txBody>
      </p:sp>
    </p:spTree>
    <p:extLst>
      <p:ext uri="{BB962C8B-B14F-4D97-AF65-F5344CB8AC3E}">
        <p14:creationId xmlns:p14="http://schemas.microsoft.com/office/powerpoint/2010/main" val="548473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Direct Mapping</a:t>
            </a:r>
          </a:p>
        </p:txBody>
      </p:sp>
      <p:sp>
        <p:nvSpPr>
          <p:cNvPr id="3" name="Content Placeholder 2"/>
          <p:cNvSpPr>
            <a:spLocks noGrp="1"/>
          </p:cNvSpPr>
          <p:nvPr>
            <p:ph idx="1"/>
          </p:nvPr>
        </p:nvSpPr>
        <p:spPr>
          <a:xfrm>
            <a:off x="1981200" y="957944"/>
            <a:ext cx="8229600" cy="5168220"/>
          </a:xfrm>
        </p:spPr>
        <p:txBody>
          <a:bodyPr/>
          <a:lstStyle/>
          <a:p>
            <a:r>
              <a:rPr lang="en-US" sz="2000" dirty="0"/>
              <a:t>Direct mapped cache assigns cache mappings using a modular approach. Because there are more main memory blocks than there are cache blocks, it should be clear that main memory blocks compete for cache locations. Direct mapping maps block X of main memory to block Y of cache, mod N, where N is the total number of blocks in cache. For example, if cache contains 10 blocks, then main memory block 0 maps to cache block 0, main memory block 1 maps to cache block 1, . . . , main memory block 9 maps to cache block 9, and main memory block 10 maps to cache block 0. </a:t>
            </a:r>
          </a:p>
          <a:p>
            <a:r>
              <a:rPr lang="en-US" sz="2000" dirty="0"/>
              <a:t>We are using a block size of 4 bytes so, no. of cache lines is 16/4=4.</a:t>
            </a:r>
          </a:p>
          <a:p>
            <a:pPr lvl="1"/>
            <a:r>
              <a:rPr lang="en-US" sz="1400" dirty="0"/>
              <a:t>E.g. memory block 11 is mapped to cache line 3 (11 mod 4)</a:t>
            </a:r>
          </a:p>
          <a:p>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Direct Mapping</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5025" y="809625"/>
            <a:ext cx="7324725" cy="5697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Mapping Function</a:t>
            </a:r>
          </a:p>
        </p:txBody>
      </p:sp>
      <p:pic>
        <p:nvPicPr>
          <p:cNvPr id="184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3563" y="947738"/>
            <a:ext cx="8605972" cy="509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Direct mapping  (contd..)</a:t>
            </a:r>
          </a:p>
        </p:txBody>
      </p:sp>
      <p:sp>
        <p:nvSpPr>
          <p:cNvPr id="3" name="Content Placeholder 2"/>
          <p:cNvSpPr>
            <a:spLocks noGrp="1"/>
          </p:cNvSpPr>
          <p:nvPr>
            <p:ph idx="1"/>
          </p:nvPr>
        </p:nvSpPr>
        <p:spPr>
          <a:xfrm>
            <a:off x="1981200" y="838200"/>
            <a:ext cx="8229600" cy="5600700"/>
          </a:xfrm>
        </p:spPr>
        <p:txBody>
          <a:bodyPr/>
          <a:lstStyle/>
          <a:p>
            <a:r>
              <a:rPr lang="en-US" sz="2000" dirty="0"/>
              <a:t>Cache implementations maintain three pieces of information :</a:t>
            </a:r>
          </a:p>
          <a:p>
            <a:pPr lvl="1"/>
            <a:r>
              <a:rPr lang="en-US" sz="1600" dirty="0"/>
              <a:t>Cache Data: These are the actual data copied from the mapped memory block.</a:t>
            </a:r>
          </a:p>
          <a:p>
            <a:pPr lvl="1"/>
            <a:r>
              <a:rPr lang="en-US" sz="1600" dirty="0"/>
              <a:t>Cache Tag: Since more than one memory block is mapped to a cache line, we need to store the tag field for each cache line in order to know the address of the actual block stored. The size of the tag field </a:t>
            </a:r>
            <a:r>
              <a:rPr lang="en-US" sz="1600" i="1" dirty="0"/>
              <a:t>t</a:t>
            </a:r>
            <a:r>
              <a:rPr lang="en-US" sz="1600" dirty="0"/>
              <a:t>  is equal to </a:t>
            </a:r>
            <a:r>
              <a:rPr lang="en-US" sz="1600" i="1" dirty="0"/>
              <a:t>Log</a:t>
            </a:r>
            <a:r>
              <a:rPr lang="en-US" sz="1600" i="1" baseline="-25000" dirty="0"/>
              <a:t>2</a:t>
            </a:r>
            <a:r>
              <a:rPr lang="en-US" sz="1600" i="1" dirty="0"/>
              <a:t>N</a:t>
            </a:r>
            <a:r>
              <a:rPr lang="en-US" sz="1600" dirty="0"/>
              <a:t>, where  </a:t>
            </a:r>
            <a:r>
              <a:rPr lang="en-US" sz="1600" i="1" dirty="0"/>
              <a:t>N </a:t>
            </a:r>
            <a:r>
              <a:rPr lang="en-US" sz="1600" dirty="0"/>
              <a:t>is the number blocks mapped to each cache line.</a:t>
            </a:r>
          </a:p>
          <a:p>
            <a:pPr lvl="1"/>
            <a:r>
              <a:rPr lang="en-US" sz="1600" dirty="0"/>
              <a:t>Valid Bit: We also need to store information on whether a cache line contains a valid block. This information is necessary so that we do not treat garbage as valid data. A single bit is sufficient to maintain this information. We use 1 to represent a valid cache line and 0 for an invalid cache line.</a:t>
            </a:r>
          </a:p>
          <a:p>
            <a:r>
              <a:rPr lang="en-US" sz="2000" dirty="0"/>
              <a:t>To find if a memory block is in the cache, use the modulo function to find the cache line for the block. Then check if the corresponding valid bit is 1. If so, compare the tag value stored at the cache line with the higher-order </a:t>
            </a:r>
            <a:r>
              <a:rPr lang="en-US" sz="2000" i="1" dirty="0"/>
              <a:t>t</a:t>
            </a:r>
            <a:r>
              <a:rPr lang="en-US" sz="2000" dirty="0"/>
              <a:t> bits of the memory block address. If there is a match, the required block is in the cache; otherwise, there is a cache miss.</a:t>
            </a:r>
          </a:p>
        </p:txBody>
      </p:sp>
    </p:spTree>
    <p:extLst>
      <p:ext uri="{BB962C8B-B14F-4D97-AF65-F5344CB8AC3E}">
        <p14:creationId xmlns:p14="http://schemas.microsoft.com/office/powerpoint/2010/main" val="3248677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Direct Mapping</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1128714"/>
            <a:ext cx="8286750" cy="1176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726" y="2629283"/>
            <a:ext cx="8162925" cy="2246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5185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7126"/>
          </a:xfrm>
        </p:spPr>
        <p:txBody>
          <a:bodyPr>
            <a:normAutofit fontScale="90000"/>
          </a:bodyPr>
          <a:lstStyle/>
          <a:p>
            <a:pPr algn="ctr"/>
            <a:r>
              <a:rPr lang="en-US" dirty="0">
                <a:solidFill>
                  <a:srgbClr val="C00000"/>
                </a:solidFill>
              </a:rPr>
              <a:t>Example</a:t>
            </a:r>
          </a:p>
        </p:txBody>
      </p:sp>
      <p:sp>
        <p:nvSpPr>
          <p:cNvPr id="3" name="Content Placeholder 2"/>
          <p:cNvSpPr>
            <a:spLocks noGrp="1"/>
          </p:cNvSpPr>
          <p:nvPr>
            <p:ph idx="1"/>
          </p:nvPr>
        </p:nvSpPr>
        <p:spPr>
          <a:xfrm>
            <a:off x="1981200" y="1943101"/>
            <a:ext cx="8229600" cy="3638550"/>
          </a:xfrm>
        </p:spPr>
        <p:txBody>
          <a:bodyPr>
            <a:normAutofit fontScale="92500" lnSpcReduction="10000"/>
          </a:bodyPr>
          <a:lstStyle/>
          <a:p>
            <a:r>
              <a:rPr lang="en-US" sz="2000" dirty="0"/>
              <a:t>B = Block Size = 16 words</a:t>
            </a:r>
          </a:p>
          <a:p>
            <a:r>
              <a:rPr lang="en-US" sz="2000" dirty="0"/>
              <a:t>C = Cache Size = 128 Blocks</a:t>
            </a:r>
          </a:p>
          <a:p>
            <a:r>
              <a:rPr lang="en-US" sz="2000" dirty="0"/>
              <a:t>M = Main Memory Size = 4K Blocks</a:t>
            </a:r>
          </a:p>
          <a:p>
            <a:r>
              <a:rPr lang="en-US" sz="2000" dirty="0"/>
              <a:t>Main Memory Address length = log </a:t>
            </a:r>
            <a:r>
              <a:rPr lang="en-US" sz="2000" baseline="-25000" dirty="0"/>
              <a:t>2</a:t>
            </a:r>
            <a:r>
              <a:rPr lang="en-US" sz="2000" dirty="0"/>
              <a:t> (4Kx16) = 16 bits</a:t>
            </a:r>
          </a:p>
          <a:p>
            <a:endParaRPr lang="en-US" sz="2000" dirty="0"/>
          </a:p>
          <a:p>
            <a:r>
              <a:rPr lang="en-US" sz="2000" dirty="0"/>
              <a:t>Byte Offset b = log </a:t>
            </a:r>
            <a:r>
              <a:rPr lang="en-US" sz="2000" baseline="-25000" dirty="0"/>
              <a:t>2</a:t>
            </a:r>
            <a:r>
              <a:rPr lang="en-US" sz="2000" dirty="0"/>
              <a:t> B = log </a:t>
            </a:r>
            <a:r>
              <a:rPr lang="en-US" sz="2000" baseline="-25000" dirty="0"/>
              <a:t>2</a:t>
            </a:r>
            <a:r>
              <a:rPr lang="en-US" sz="2000" dirty="0"/>
              <a:t> 16 = log </a:t>
            </a:r>
            <a:r>
              <a:rPr lang="en-US" sz="2000" baseline="-25000" dirty="0"/>
              <a:t>2</a:t>
            </a:r>
            <a:r>
              <a:rPr lang="en-US" sz="2000" dirty="0"/>
              <a:t> 2</a:t>
            </a:r>
            <a:r>
              <a:rPr lang="en-US" sz="2000" baseline="30000" dirty="0"/>
              <a:t>4</a:t>
            </a:r>
            <a:r>
              <a:rPr lang="en-US" sz="2000" dirty="0"/>
              <a:t> = 4 bits</a:t>
            </a:r>
          </a:p>
          <a:p>
            <a:r>
              <a:rPr lang="en-US" sz="2000" dirty="0"/>
              <a:t>Cache Line # c = log </a:t>
            </a:r>
            <a:r>
              <a:rPr lang="en-US" sz="2000" baseline="-25000" dirty="0"/>
              <a:t>2</a:t>
            </a:r>
            <a:r>
              <a:rPr lang="en-US" sz="2000" dirty="0"/>
              <a:t> C = log </a:t>
            </a:r>
            <a:r>
              <a:rPr lang="en-US" sz="2000" baseline="-25000" dirty="0"/>
              <a:t>2</a:t>
            </a:r>
            <a:r>
              <a:rPr lang="en-US" sz="2000" dirty="0"/>
              <a:t> 128 = log </a:t>
            </a:r>
            <a:r>
              <a:rPr lang="en-US" sz="2000" baseline="-25000" dirty="0"/>
              <a:t>2</a:t>
            </a:r>
            <a:r>
              <a:rPr lang="en-US" sz="2000" dirty="0"/>
              <a:t> 2</a:t>
            </a:r>
            <a:r>
              <a:rPr lang="en-US" sz="2000" baseline="30000" dirty="0"/>
              <a:t>7</a:t>
            </a:r>
            <a:r>
              <a:rPr lang="en-US" sz="2000" dirty="0"/>
              <a:t> = 7 bits</a:t>
            </a:r>
          </a:p>
          <a:p>
            <a:r>
              <a:rPr lang="en-US" sz="2000" dirty="0"/>
              <a:t>Tag Bits t = Remaining Higher order bits = 16 – ( 4+7) = 5 bits</a:t>
            </a:r>
          </a:p>
          <a:p>
            <a:r>
              <a:rPr lang="en-US" sz="2000" dirty="0"/>
              <a:t>OR</a:t>
            </a:r>
          </a:p>
          <a:p>
            <a:r>
              <a:rPr lang="en-US" sz="2000" dirty="0"/>
              <a:t>Tag bits t = log </a:t>
            </a:r>
            <a:r>
              <a:rPr lang="en-US" sz="2000" baseline="-25000" dirty="0"/>
              <a:t>2</a:t>
            </a:r>
            <a:r>
              <a:rPr lang="en-US" sz="2000" dirty="0"/>
              <a:t> (M/C) = log </a:t>
            </a:r>
            <a:r>
              <a:rPr lang="en-US" sz="2000" baseline="-25000" dirty="0"/>
              <a:t>2</a:t>
            </a:r>
            <a:r>
              <a:rPr lang="en-US" sz="2000" dirty="0"/>
              <a:t> (2</a:t>
            </a:r>
            <a:r>
              <a:rPr lang="en-US" sz="2000" baseline="30000" dirty="0"/>
              <a:t>2</a:t>
            </a:r>
            <a:r>
              <a:rPr lang="en-US" sz="2000" dirty="0"/>
              <a:t> x 2</a:t>
            </a:r>
            <a:r>
              <a:rPr lang="en-US" sz="2000" baseline="30000" dirty="0"/>
              <a:t>10</a:t>
            </a:r>
            <a:r>
              <a:rPr lang="en-US" sz="2000" dirty="0"/>
              <a:t> / 2</a:t>
            </a:r>
            <a:r>
              <a:rPr lang="en-US" sz="2000" baseline="30000" dirty="0"/>
              <a:t>7</a:t>
            </a:r>
            <a:r>
              <a:rPr lang="en-US" sz="2000" dirty="0"/>
              <a:t>) = 5 bits</a:t>
            </a:r>
          </a:p>
        </p:txBody>
      </p:sp>
      <p:pic>
        <p:nvPicPr>
          <p:cNvPr id="77826" name="Picture 2"/>
          <p:cNvPicPr>
            <a:picLocks noChangeAspect="1" noChangeArrowheads="1"/>
          </p:cNvPicPr>
          <p:nvPr/>
        </p:nvPicPr>
        <p:blipFill>
          <a:blip r:embed="rId2" cstate="print"/>
          <a:srcRect/>
          <a:stretch>
            <a:fillRect/>
          </a:stretch>
        </p:blipFill>
        <p:spPr bwMode="auto">
          <a:xfrm>
            <a:off x="1978252" y="984931"/>
            <a:ext cx="7852770" cy="597126"/>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EXAMPLE</a:t>
            </a:r>
          </a:p>
        </p:txBody>
      </p:sp>
      <p:sp>
        <p:nvSpPr>
          <p:cNvPr id="3" name="Content Placeholder 2"/>
          <p:cNvSpPr>
            <a:spLocks noGrp="1"/>
          </p:cNvSpPr>
          <p:nvPr>
            <p:ph idx="1"/>
          </p:nvPr>
        </p:nvSpPr>
        <p:spPr>
          <a:xfrm>
            <a:off x="1733550" y="857251"/>
            <a:ext cx="5200650" cy="5268913"/>
          </a:xfrm>
        </p:spPr>
        <p:txBody>
          <a:bodyPr/>
          <a:lstStyle/>
          <a:p>
            <a:pPr lvl="1"/>
            <a:r>
              <a:rPr lang="en-US" sz="1600" dirty="0">
                <a:solidFill>
                  <a:srgbClr val="FF0000"/>
                </a:solidFill>
              </a:rPr>
              <a:t>Example</a:t>
            </a:r>
            <a:r>
              <a:rPr lang="en-US" sz="1600" dirty="0"/>
              <a:t> : Suppose that the reference pattern of a program is such that it accesses the following sequence of blocks: 0, 4, 0, 8, 0, 8, 0, 4, 0, 4, 0, 4. Find the hit ratio with a direct-mapped cache of four cache lines.</a:t>
            </a:r>
          </a:p>
          <a:p>
            <a:pPr lvl="2"/>
            <a:r>
              <a:rPr lang="en-US" sz="1600" dirty="0"/>
              <a:t>The three blocks accessed by the program—0, 4, and 8—are all mapped to cache line 0. When block 0 is accessed for the first time, it is placed in cache line 0. When the program accesses block 4 next, it replaces block 0 in cache line 0. You can continue this process and see that every block access leads to a cache miss. Thus the hit ratio is zero.  </a:t>
            </a:r>
          </a:p>
          <a:p>
            <a:pPr lvl="1"/>
            <a:r>
              <a:rPr lang="en-US" sz="1600" dirty="0"/>
              <a:t>This example describes the worst-case behavior, where each access results in a miss. This scenario where a cache line is replaced before it is referenced again is called cache thrashing.</a:t>
            </a:r>
          </a:p>
          <a:p>
            <a:endParaRPr lang="en-US" dirty="0"/>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7372" y="809626"/>
            <a:ext cx="3469178" cy="298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0339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EXAMPLE</a:t>
            </a:r>
          </a:p>
        </p:txBody>
      </p:sp>
      <p:sp>
        <p:nvSpPr>
          <p:cNvPr id="3" name="Content Placeholder 2"/>
          <p:cNvSpPr>
            <a:spLocks noGrp="1"/>
          </p:cNvSpPr>
          <p:nvPr>
            <p:ph idx="1"/>
          </p:nvPr>
        </p:nvSpPr>
        <p:spPr>
          <a:xfrm>
            <a:off x="1981200" y="1600201"/>
            <a:ext cx="3981450" cy="4525963"/>
          </a:xfrm>
        </p:spPr>
        <p:txBody>
          <a:bodyPr/>
          <a:lstStyle/>
          <a:p>
            <a:pPr lvl="1"/>
            <a:r>
              <a:rPr lang="en-US" sz="1600" dirty="0">
                <a:solidFill>
                  <a:srgbClr val="FF0000"/>
                </a:solidFill>
              </a:rPr>
              <a:t>Example</a:t>
            </a:r>
            <a:r>
              <a:rPr lang="en-US" sz="1600" dirty="0"/>
              <a:t> : Suppose the sequence of main memory blocks accessed is 0, 7, 9, 10, 0, 7, 9, 10,0, 7, 9, 10. Find the hit ratio in a direct-mapped cache with a cache size of four cache lines.</a:t>
            </a:r>
          </a:p>
          <a:p>
            <a:pPr lvl="2"/>
            <a:r>
              <a:rPr lang="en-US" sz="1600" dirty="0"/>
              <a:t>This reference pattern shows the best behavior. There will only be four cache misses. After these four blocks have been loaded into the cache, the remaining eight references can obtain data from the cache. Thus the hit ratio is 8/12 or about 67%. For this example, this is the maximum hit ratio one can obtain</a:t>
            </a:r>
          </a:p>
          <a:p>
            <a:endParaRPr lang="en-US" dirty="0"/>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4933" y="1200150"/>
            <a:ext cx="4326381"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4561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mage result for thank you pic for ppt">
            <a:extLst>
              <a:ext uri="{FF2B5EF4-FFF2-40B4-BE49-F238E27FC236}">
                <a16:creationId xmlns:a16="http://schemas.microsoft.com/office/drawing/2014/main" id="{1D5CBD28-F489-4298-BC2F-4254CD77B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860" y="1690688"/>
            <a:ext cx="3882887" cy="2786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80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TotalTime>
  <Words>1033</Words>
  <Application>Microsoft Office PowerPoint</Application>
  <PresentationFormat>Widescreen</PresentationFormat>
  <Paragraphs>50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 </vt:lpstr>
      <vt:lpstr>MAPPING</vt:lpstr>
      <vt:lpstr>MAPPING</vt:lpstr>
      <vt:lpstr>Cache mapping </vt:lpstr>
      <vt:lpstr>Direct Mapping</vt:lpstr>
      <vt:lpstr>Direct Mapping</vt:lpstr>
      <vt:lpstr>Mapping Function</vt:lpstr>
      <vt:lpstr>Direct mapping  (contd..)</vt:lpstr>
      <vt:lpstr>Direct Mapping</vt:lpstr>
      <vt:lpstr>Example</vt:lpstr>
      <vt:lpstr>EXAMPLE</vt:lpstr>
      <vt:lpstr>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by Dr. Rizwan Khan</dc:title>
  <dc:creator>arun pandey</dc:creator>
  <cp:lastModifiedBy>admin</cp:lastModifiedBy>
  <cp:revision>39</cp:revision>
  <dcterms:created xsi:type="dcterms:W3CDTF">2020-06-18T04:00:41Z</dcterms:created>
  <dcterms:modified xsi:type="dcterms:W3CDTF">2020-08-30T15:35:27Z</dcterms:modified>
</cp:coreProperties>
</file>