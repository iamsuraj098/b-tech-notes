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87" r:id="rId4"/>
    <p:sldId id="291" r:id="rId5"/>
    <p:sldId id="261" r:id="rId6"/>
    <p:sldId id="27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9/16/2020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9/16/2020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132013" y="241301"/>
            <a:ext cx="7974012" cy="549275"/>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800"/>
              <a:t>I/O  BUS  AND  INTERFACE  MODULES</a:t>
            </a:r>
          </a:p>
        </p:txBody>
      </p:sp>
      <p:sp>
        <p:nvSpPr>
          <p:cNvPr id="7240" name="Rectangle 72"/>
          <p:cNvSpPr>
            <a:spLocks noChangeArrowheads="1"/>
          </p:cNvSpPr>
          <p:nvPr/>
        </p:nvSpPr>
        <p:spPr bwMode="auto">
          <a:xfrm>
            <a:off x="8757796" y="0"/>
            <a:ext cx="1910204"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Input/Output Interfaces</a:t>
            </a:r>
          </a:p>
        </p:txBody>
      </p:sp>
      <p:sp>
        <p:nvSpPr>
          <p:cNvPr id="64" name="Rectangle 63"/>
          <p:cNvSpPr/>
          <p:nvPr/>
        </p:nvSpPr>
        <p:spPr>
          <a:xfrm>
            <a:off x="1765300" y="3809137"/>
            <a:ext cx="8610600" cy="2677656"/>
          </a:xfrm>
          <a:prstGeom prst="rect">
            <a:avLst/>
          </a:prstGeom>
        </p:spPr>
        <p:txBody>
          <a:bodyPr wrap="square">
            <a:spAutoFit/>
          </a:bodyPr>
          <a:lstStyle/>
          <a:p>
            <a:pPr algn="just"/>
            <a:r>
              <a:rPr lang="en-US" sz="2400" dirty="0"/>
              <a:t>The I/O modules take care of moving data between main memory and a particular device interface. Interfaces are designed specifically to communicate with certain types of devices, such as keyboards, disks, or printers. Interfaces handle the details of making sure that devices are ready for the next batch of data, or that the host is ready to receive the next batch of data coming in from the peripheral device.</a:t>
            </a:r>
          </a:p>
        </p:txBody>
      </p:sp>
      <p:pic>
        <p:nvPicPr>
          <p:cNvPr id="1026" name="Picture 2"/>
          <p:cNvPicPr>
            <a:picLocks noChangeAspect="1" noChangeArrowheads="1"/>
          </p:cNvPicPr>
          <p:nvPr/>
        </p:nvPicPr>
        <p:blipFill>
          <a:blip r:embed="rId2"/>
          <a:srcRect/>
          <a:stretch>
            <a:fillRect/>
          </a:stretch>
        </p:blipFill>
        <p:spPr bwMode="auto">
          <a:xfrm>
            <a:off x="2879725" y="836614"/>
            <a:ext cx="5772150" cy="2924175"/>
          </a:xfrm>
          <a:prstGeom prst="rect">
            <a:avLst/>
          </a:prstGeom>
          <a:noFill/>
          <a:ln w="9525">
            <a:noFill/>
            <a:miter lim="800000"/>
            <a:headEnd/>
            <a:tailEnd/>
          </a:ln>
          <a:effec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1981200" y="274638"/>
            <a:ext cx="8229600" cy="385762"/>
          </a:xfrm>
          <a:noFill/>
          <a:ln>
            <a:miter lim="800000"/>
            <a:headEnd/>
            <a:tailEnd/>
          </a:ln>
        </p:spPr>
        <p:txBody>
          <a:bodyPr vert="horz" wrap="square" lIns="91440" tIns="45720" rIns="91440" bIns="45720" numCol="1" rtlCol="0" anchor="t" anchorCtr="0" compatLnSpc="1">
            <a:prstTxWarp prst="textNoShape">
              <a:avLst/>
            </a:prstTxWarp>
            <a:normAutofit fontScale="90000"/>
          </a:bodyPr>
          <a:lstStyle/>
          <a:p>
            <a:r>
              <a:rPr lang="en-US" sz="2800"/>
              <a:t>I/O MODULE</a:t>
            </a:r>
          </a:p>
        </p:txBody>
      </p:sp>
      <p:sp>
        <p:nvSpPr>
          <p:cNvPr id="37891" name="Rectangle 3"/>
          <p:cNvSpPr>
            <a:spLocks noGrp="1" noChangeArrowheads="1"/>
          </p:cNvSpPr>
          <p:nvPr>
            <p:ph type="body" idx="1"/>
          </p:nvPr>
        </p:nvSpPr>
        <p:spPr bwMode="auto">
          <a:xfrm>
            <a:off x="1981200" y="1050926"/>
            <a:ext cx="8229600" cy="5356225"/>
          </a:xfrm>
          <a:noFill/>
          <a:ln>
            <a:miter lim="800000"/>
            <a:headEnd/>
            <a:tailEnd/>
          </a:ln>
        </p:spPr>
        <p:txBody>
          <a:bodyPr vert="horz" wrap="square" lIns="91440" tIns="45720" rIns="91440" bIns="45720" numCol="1" rtlCol="0" anchor="t" anchorCtr="0" compatLnSpc="1">
            <a:prstTxWarp prst="textNoShape">
              <a:avLst/>
            </a:prstTxWarp>
            <a:normAutofit fontScale="92500" lnSpcReduction="10000"/>
          </a:bodyPr>
          <a:lstStyle/>
          <a:p>
            <a:pPr>
              <a:lnSpc>
                <a:spcPct val="80000"/>
              </a:lnSpc>
            </a:pPr>
            <a:r>
              <a:rPr lang="en-US"/>
              <a:t>Interfaces</a:t>
            </a:r>
          </a:p>
          <a:p>
            <a:pPr lvl="1">
              <a:lnSpc>
                <a:spcPct val="80000"/>
              </a:lnSpc>
            </a:pPr>
            <a:r>
              <a:rPr lang="en-US"/>
              <a:t>Internal Interface to the CPU and memory via the system Bus</a:t>
            </a:r>
          </a:p>
          <a:p>
            <a:pPr lvl="1">
              <a:lnSpc>
                <a:spcPct val="80000"/>
              </a:lnSpc>
            </a:pPr>
            <a:r>
              <a:rPr lang="en-US"/>
              <a:t>External Interface to one or more I/O devices by tailored data links.</a:t>
            </a:r>
          </a:p>
          <a:p>
            <a:pPr>
              <a:lnSpc>
                <a:spcPct val="80000"/>
              </a:lnSpc>
            </a:pPr>
            <a:r>
              <a:rPr lang="en-US"/>
              <a:t>Requirements</a:t>
            </a:r>
          </a:p>
          <a:p>
            <a:pPr lvl="1">
              <a:lnSpc>
                <a:spcPct val="80000"/>
              </a:lnSpc>
            </a:pPr>
            <a:r>
              <a:rPr lang="en-US"/>
              <a:t>Control &amp; Timing</a:t>
            </a:r>
          </a:p>
          <a:p>
            <a:pPr lvl="2">
              <a:lnSpc>
                <a:spcPct val="80000"/>
              </a:lnSpc>
            </a:pPr>
            <a:r>
              <a:rPr lang="en-US"/>
              <a:t>To coordinate the flow of traffic between internal resources and external devices</a:t>
            </a:r>
          </a:p>
          <a:p>
            <a:pPr lvl="1">
              <a:lnSpc>
                <a:spcPct val="80000"/>
              </a:lnSpc>
            </a:pPr>
            <a:r>
              <a:rPr lang="en-US"/>
              <a:t>CPU Communication</a:t>
            </a:r>
          </a:p>
          <a:p>
            <a:pPr lvl="2">
              <a:lnSpc>
                <a:spcPct val="80000"/>
              </a:lnSpc>
            </a:pPr>
            <a:r>
              <a:rPr lang="en-US"/>
              <a:t>Control signal to the I/O module over the control bus</a:t>
            </a:r>
          </a:p>
          <a:p>
            <a:pPr lvl="2">
              <a:lnSpc>
                <a:spcPct val="80000"/>
              </a:lnSpc>
            </a:pPr>
            <a:r>
              <a:rPr lang="en-US"/>
              <a:t>Exchange of data between CPU and I/O module over data bus</a:t>
            </a:r>
          </a:p>
          <a:p>
            <a:pPr lvl="2">
              <a:lnSpc>
                <a:spcPct val="80000"/>
              </a:lnSpc>
            </a:pPr>
            <a:r>
              <a:rPr lang="en-US"/>
              <a:t>Status signals like BUSY, READY needed as the data transfer rates of the CPU and the peripherals vary</a:t>
            </a:r>
          </a:p>
          <a:p>
            <a:pPr lvl="2">
              <a:lnSpc>
                <a:spcPct val="80000"/>
              </a:lnSpc>
            </a:pPr>
            <a:r>
              <a:rPr lang="en-US"/>
              <a:t>Address of the various peripherals connected to CPU</a:t>
            </a:r>
          </a:p>
          <a:p>
            <a:pPr lvl="1">
              <a:lnSpc>
                <a:spcPct val="80000"/>
              </a:lnSpc>
            </a:pPr>
            <a:r>
              <a:rPr lang="en-US"/>
              <a:t>Device Communication</a:t>
            </a:r>
          </a:p>
          <a:p>
            <a:pPr lvl="2">
              <a:lnSpc>
                <a:spcPct val="80000"/>
              </a:lnSpc>
            </a:pPr>
            <a:r>
              <a:rPr lang="en-US"/>
              <a:t>Commands, status information and data</a:t>
            </a:r>
          </a:p>
          <a:p>
            <a:pPr lvl="1">
              <a:lnSpc>
                <a:spcPct val="80000"/>
              </a:lnSpc>
            </a:pPr>
            <a:r>
              <a:rPr lang="en-US"/>
              <a:t>Data Buffering</a:t>
            </a:r>
          </a:p>
          <a:p>
            <a:pPr lvl="1">
              <a:lnSpc>
                <a:spcPct val="80000"/>
              </a:lnSpc>
            </a:pPr>
            <a:r>
              <a:rPr lang="en-US"/>
              <a:t>Error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l="7666" t="13445" r="9837" b="23286"/>
          <a:stretch>
            <a:fillRect/>
          </a:stretch>
        </p:blipFill>
        <p:spPr bwMode="auto">
          <a:xfrm>
            <a:off x="2057400" y="1268414"/>
            <a:ext cx="8153400" cy="4827587"/>
          </a:xfrm>
          <a:prstGeom prst="rect">
            <a:avLst/>
          </a:prstGeom>
          <a:noFill/>
          <a:ln w="9525">
            <a:noFill/>
            <a:miter lim="800000"/>
            <a:headEnd type="none" w="sm" len="sm"/>
            <a:tailEnd type="none" w="sm" len="sm"/>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2147888" y="323851"/>
            <a:ext cx="7842250" cy="371475"/>
          </a:xfrm>
          <a:noFill/>
          <a:ln w="12700">
            <a:miter lim="800000"/>
            <a:headEnd/>
            <a:tailEnd/>
          </a:ln>
        </p:spPr>
        <p:txBody>
          <a:bodyPr vert="horz" wrap="square" lIns="63500" tIns="25400" rIns="63500" bIns="25400" numCol="1" rtlCol="0" anchor="ctr" anchorCtr="0" compatLnSpc="1">
            <a:prstTxWarp prst="textNoShape">
              <a:avLst/>
            </a:prstTxWarp>
            <a:normAutofit fontScale="90000"/>
          </a:bodyPr>
          <a:lstStyle/>
          <a:p>
            <a:r>
              <a:rPr lang="en-US" altLang="ko-KR" sz="2800"/>
              <a:t>I/O  BUS  AND  MEMORY  BUS</a:t>
            </a:r>
          </a:p>
        </p:txBody>
      </p:sp>
      <p:sp>
        <p:nvSpPr>
          <p:cNvPr id="9219" name="Rectangle 3"/>
          <p:cNvSpPr>
            <a:spLocks noChangeArrowheads="1"/>
          </p:cNvSpPr>
          <p:nvPr/>
        </p:nvSpPr>
        <p:spPr bwMode="auto">
          <a:xfrm>
            <a:off x="2649539" y="2813051"/>
            <a:ext cx="34925" cy="149225"/>
          </a:xfrm>
          <a:prstGeom prst="rect">
            <a:avLst/>
          </a:prstGeom>
          <a:noFill/>
          <a:ln w="12700">
            <a:noFill/>
            <a:miter lim="800000"/>
            <a:headEnd/>
            <a:tailEnd/>
          </a:ln>
          <a:effectLst/>
        </p:spPr>
        <p:txBody>
          <a:bodyPr wrap="none" anchor="ctr"/>
          <a:lstStyle/>
          <a:p>
            <a:endParaRPr lang="en-US"/>
          </a:p>
        </p:txBody>
      </p:sp>
      <p:sp>
        <p:nvSpPr>
          <p:cNvPr id="9220" name="Rectangle 4"/>
          <p:cNvSpPr>
            <a:spLocks noChangeArrowheads="1"/>
          </p:cNvSpPr>
          <p:nvPr/>
        </p:nvSpPr>
        <p:spPr bwMode="auto">
          <a:xfrm>
            <a:off x="1776414" y="1484313"/>
            <a:ext cx="8643937" cy="2735262"/>
          </a:xfrm>
          <a:prstGeom prst="rect">
            <a:avLst/>
          </a:prstGeom>
          <a:noFill/>
          <a:ln w="25400">
            <a:noFill/>
            <a:miter lim="800000"/>
            <a:headEnd/>
            <a:tailEnd/>
          </a:ln>
          <a:effectLst/>
        </p:spPr>
        <p:txBody>
          <a:bodyPr lIns="90488" tIns="44450" rIns="90488" bIns="44450">
            <a:spAutoFit/>
          </a:bodyPr>
          <a:lstStyle/>
          <a:p>
            <a:pPr marL="571500" lvl="1" defTabSz="762000">
              <a:lnSpc>
                <a:spcPct val="55000"/>
              </a:lnSpc>
              <a:spcBef>
                <a:spcPct val="18000"/>
              </a:spcBef>
            </a:pPr>
            <a:r>
              <a:rPr lang="en-US" altLang="ko-KR" sz="1600"/>
              <a:t>* </a:t>
            </a:r>
            <a:r>
              <a:rPr lang="en-US" altLang="ko-KR" sz="1600" i="1"/>
              <a:t>MEMORY BUS</a:t>
            </a:r>
            <a:r>
              <a:rPr lang="en-US" altLang="ko-KR" sz="1600"/>
              <a:t>  is for information transfers between CPU and the MM </a:t>
            </a:r>
          </a:p>
          <a:p>
            <a:pPr marL="571500" lvl="1" defTabSz="762000">
              <a:lnSpc>
                <a:spcPct val="55000"/>
              </a:lnSpc>
              <a:spcBef>
                <a:spcPct val="18000"/>
              </a:spcBef>
            </a:pPr>
            <a:endParaRPr lang="en-US" altLang="ko-KR" sz="1600"/>
          </a:p>
          <a:p>
            <a:pPr marL="571500" lvl="1" defTabSz="762000">
              <a:lnSpc>
                <a:spcPct val="55000"/>
              </a:lnSpc>
              <a:spcBef>
                <a:spcPct val="18000"/>
              </a:spcBef>
            </a:pPr>
            <a:r>
              <a:rPr lang="en-US" altLang="ko-KR" sz="1600"/>
              <a:t>* </a:t>
            </a:r>
            <a:r>
              <a:rPr lang="en-US" altLang="ko-KR" sz="1600" i="1"/>
              <a:t>I/O BUS</a:t>
            </a:r>
            <a:r>
              <a:rPr lang="en-US" altLang="ko-KR" sz="1600"/>
              <a:t> is for information transfers between CPU </a:t>
            </a:r>
          </a:p>
          <a:p>
            <a:pPr marL="571500" lvl="1" defTabSz="762000">
              <a:lnSpc>
                <a:spcPct val="55000"/>
              </a:lnSpc>
              <a:spcBef>
                <a:spcPct val="18000"/>
              </a:spcBef>
            </a:pPr>
            <a:r>
              <a:rPr lang="en-US" altLang="ko-KR" sz="1600"/>
              <a:t>   	and I/O devices through their I/O interface</a:t>
            </a:r>
          </a:p>
          <a:p>
            <a:pPr marL="571500" lvl="1" defTabSz="762000">
              <a:lnSpc>
                <a:spcPct val="55000"/>
              </a:lnSpc>
              <a:spcBef>
                <a:spcPct val="18000"/>
              </a:spcBef>
            </a:pPr>
            <a:endParaRPr lang="en-US" altLang="ko-KR" sz="1600"/>
          </a:p>
          <a:p>
            <a:pPr marL="571500" lvl="1" defTabSz="762000">
              <a:lnSpc>
                <a:spcPct val="55000"/>
              </a:lnSpc>
              <a:spcBef>
                <a:spcPct val="18000"/>
              </a:spcBef>
            </a:pPr>
            <a:endParaRPr lang="en-US" altLang="ko-KR" sz="1600"/>
          </a:p>
          <a:p>
            <a:pPr marL="571500" lvl="1" defTabSz="762000">
              <a:lnSpc>
                <a:spcPct val="55000"/>
              </a:lnSpc>
              <a:spcBef>
                <a:spcPct val="18000"/>
              </a:spcBef>
            </a:pPr>
            <a:endParaRPr lang="en-US" altLang="ko-KR" sz="1600"/>
          </a:p>
          <a:p>
            <a:pPr marL="571500" lvl="1" defTabSz="762000">
              <a:lnSpc>
                <a:spcPct val="55000"/>
              </a:lnSpc>
              <a:spcBef>
                <a:spcPct val="18000"/>
              </a:spcBef>
            </a:pPr>
            <a:r>
              <a:rPr lang="en-US" altLang="ko-KR" sz="1600"/>
              <a:t>* Many computers use a common single bus system </a:t>
            </a:r>
          </a:p>
          <a:p>
            <a:pPr marL="571500" lvl="1" defTabSz="762000">
              <a:lnSpc>
                <a:spcPct val="55000"/>
              </a:lnSpc>
              <a:spcBef>
                <a:spcPct val="18000"/>
              </a:spcBef>
            </a:pPr>
            <a:r>
              <a:rPr lang="en-US" altLang="ko-KR" sz="1600"/>
              <a:t>      for both memory and I/O interface units</a:t>
            </a:r>
          </a:p>
          <a:p>
            <a:pPr marL="571500" lvl="1" defTabSz="762000">
              <a:lnSpc>
                <a:spcPct val="55000"/>
              </a:lnSpc>
              <a:spcBef>
                <a:spcPct val="18000"/>
              </a:spcBef>
            </a:pPr>
            <a:endParaRPr lang="en-US" altLang="ko-KR" sz="1600"/>
          </a:p>
          <a:p>
            <a:pPr marL="571500" lvl="1" defTabSz="762000">
              <a:lnSpc>
                <a:spcPct val="55000"/>
              </a:lnSpc>
              <a:spcBef>
                <a:spcPct val="18000"/>
              </a:spcBef>
            </a:pPr>
            <a:r>
              <a:rPr lang="en-US" altLang="ko-KR" sz="1600"/>
              <a:t>	        - Use one common bus but separate control lines for each function</a:t>
            </a:r>
          </a:p>
          <a:p>
            <a:pPr marL="571500" lvl="1" defTabSz="762000">
              <a:lnSpc>
                <a:spcPct val="55000"/>
              </a:lnSpc>
              <a:spcBef>
                <a:spcPct val="18000"/>
              </a:spcBef>
            </a:pPr>
            <a:r>
              <a:rPr lang="en-US" altLang="ko-KR" sz="1600"/>
              <a:t>           - Use one common bus with common  control lines for both functions</a:t>
            </a:r>
          </a:p>
          <a:p>
            <a:pPr marL="571500" lvl="1" defTabSz="762000">
              <a:lnSpc>
                <a:spcPct val="55000"/>
              </a:lnSpc>
              <a:spcBef>
                <a:spcPct val="18000"/>
              </a:spcBef>
            </a:pPr>
            <a:endParaRPr lang="en-US" altLang="ko-KR" sz="1600"/>
          </a:p>
          <a:p>
            <a:pPr marL="571500" lvl="1" defTabSz="762000">
              <a:lnSpc>
                <a:spcPct val="55000"/>
              </a:lnSpc>
              <a:spcBef>
                <a:spcPct val="18000"/>
              </a:spcBef>
            </a:pPr>
            <a:r>
              <a:rPr lang="en-US" altLang="ko-KR" sz="1600"/>
              <a:t>* Some computer systems use two separate buses, </a:t>
            </a:r>
          </a:p>
          <a:p>
            <a:pPr marL="571500" lvl="1" defTabSz="762000">
              <a:lnSpc>
                <a:spcPct val="55000"/>
              </a:lnSpc>
              <a:spcBef>
                <a:spcPct val="18000"/>
              </a:spcBef>
            </a:pPr>
            <a:r>
              <a:rPr lang="en-US" altLang="ko-KR" sz="1600"/>
              <a:t>     one to communicate with memory and the other with I/O interfaces</a:t>
            </a:r>
          </a:p>
        </p:txBody>
      </p:sp>
      <p:sp>
        <p:nvSpPr>
          <p:cNvPr id="9221" name="Rectangle 5"/>
          <p:cNvSpPr>
            <a:spLocks noChangeArrowheads="1"/>
          </p:cNvSpPr>
          <p:nvPr/>
        </p:nvSpPr>
        <p:spPr bwMode="auto">
          <a:xfrm>
            <a:off x="1890714" y="844551"/>
            <a:ext cx="1933223"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Functions of Buses</a:t>
            </a:r>
          </a:p>
        </p:txBody>
      </p:sp>
      <p:sp>
        <p:nvSpPr>
          <p:cNvPr id="9222" name="Rectangle 6"/>
          <p:cNvSpPr>
            <a:spLocks noChangeArrowheads="1"/>
          </p:cNvSpPr>
          <p:nvPr/>
        </p:nvSpPr>
        <p:spPr bwMode="auto">
          <a:xfrm>
            <a:off x="1943101" y="2376489"/>
            <a:ext cx="2254529" cy="366767"/>
          </a:xfrm>
          <a:prstGeom prst="rect">
            <a:avLst/>
          </a:prstGeom>
          <a:noFill/>
          <a:ln w="25400">
            <a:noFill/>
            <a:miter lim="800000"/>
            <a:headEnd/>
            <a:tailEnd/>
          </a:ln>
          <a:effectLst/>
        </p:spPr>
        <p:txBody>
          <a:bodyPr wrap="none" lIns="90488" tIns="44450" rIns="90488" bIns="44450">
            <a:spAutoFit/>
          </a:bodyPr>
          <a:lstStyle/>
          <a:p>
            <a:pPr defTabSz="762000"/>
            <a:r>
              <a:rPr lang="en-US" altLang="ko-KR"/>
              <a:t>Physical Organizations</a:t>
            </a:r>
          </a:p>
        </p:txBody>
      </p:sp>
      <p:sp>
        <p:nvSpPr>
          <p:cNvPr id="9224" name="Rectangle 8"/>
          <p:cNvSpPr>
            <a:spLocks noChangeArrowheads="1"/>
          </p:cNvSpPr>
          <p:nvPr/>
        </p:nvSpPr>
        <p:spPr bwMode="auto">
          <a:xfrm>
            <a:off x="8641909" y="0"/>
            <a:ext cx="1910204"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Input/Output Interfaces</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TotalTime>
  <Words>352</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 </vt:lpstr>
      <vt:lpstr>I/O  BUS  AND  INTERFACE  MODULES</vt:lpstr>
      <vt:lpstr>I/O MODULE</vt:lpstr>
      <vt:lpstr>PowerPoint Presentation</vt:lpstr>
      <vt:lpstr>I/O  BUS  AND  MEMORY  BUS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40</cp:revision>
  <dcterms:created xsi:type="dcterms:W3CDTF">2020-06-18T04:00:41Z</dcterms:created>
  <dcterms:modified xsi:type="dcterms:W3CDTF">2020-09-16T10:10:05Z</dcterms:modified>
</cp:coreProperties>
</file>