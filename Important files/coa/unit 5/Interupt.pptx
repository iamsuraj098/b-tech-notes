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73" r:id="rId3"/>
    <p:sldId id="302" r:id="rId4"/>
    <p:sldId id="274" r:id="rId5"/>
    <p:sldId id="27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11/21/2020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1681164" y="207963"/>
            <a:ext cx="8986837" cy="633412"/>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400"/>
              <a:t>MODES  OF  TRANSFER </a:t>
            </a:r>
            <a:r>
              <a:rPr lang="en-US" altLang="ko-KR" sz="2000"/>
              <a:t>- INTERRUPT  INITIATED  I/O &amp; DMA</a:t>
            </a:r>
            <a:r>
              <a:rPr lang="en-US" altLang="ko-KR" sz="1800"/>
              <a:t> </a:t>
            </a:r>
          </a:p>
        </p:txBody>
      </p:sp>
      <p:sp>
        <p:nvSpPr>
          <p:cNvPr id="21507" name="Rectangle 3"/>
          <p:cNvSpPr>
            <a:spLocks noChangeArrowheads="1"/>
          </p:cNvSpPr>
          <p:nvPr/>
        </p:nvSpPr>
        <p:spPr bwMode="auto">
          <a:xfrm>
            <a:off x="2895601" y="3570289"/>
            <a:ext cx="34925" cy="122237"/>
          </a:xfrm>
          <a:prstGeom prst="rect">
            <a:avLst/>
          </a:prstGeom>
          <a:noFill/>
          <a:ln w="12700">
            <a:noFill/>
            <a:miter lim="800000"/>
            <a:headEnd/>
            <a:tailEnd/>
          </a:ln>
          <a:effectLst/>
        </p:spPr>
        <p:txBody>
          <a:bodyPr wrap="none" anchor="ctr"/>
          <a:lstStyle/>
          <a:p>
            <a:endParaRPr lang="en-US"/>
          </a:p>
        </p:txBody>
      </p:sp>
      <p:sp>
        <p:nvSpPr>
          <p:cNvPr id="21508" name="Rectangle 4"/>
          <p:cNvSpPr>
            <a:spLocks noChangeArrowheads="1"/>
          </p:cNvSpPr>
          <p:nvPr/>
        </p:nvSpPr>
        <p:spPr bwMode="auto">
          <a:xfrm>
            <a:off x="1811338" y="3633789"/>
            <a:ext cx="2944460" cy="288797"/>
          </a:xfrm>
          <a:prstGeom prst="rect">
            <a:avLst/>
          </a:prstGeom>
          <a:noFill/>
          <a:ln w="12700">
            <a:noFill/>
            <a:miter lim="800000"/>
            <a:headEnd/>
            <a:tailEnd/>
          </a:ln>
          <a:effectLst/>
        </p:spPr>
        <p:txBody>
          <a:bodyPr wrap="none" lIns="63500" tIns="25400" rIns="63500" bIns="25400">
            <a:spAutoFit/>
          </a:bodyPr>
          <a:lstStyle/>
          <a:p>
            <a:pPr defTabSz="762000">
              <a:lnSpc>
                <a:spcPct val="85000"/>
              </a:lnSpc>
            </a:pPr>
            <a:r>
              <a:rPr lang="en-US" altLang="ko-KR"/>
              <a:t> DMA (Direct Memory Access)</a:t>
            </a:r>
          </a:p>
        </p:txBody>
      </p:sp>
      <p:sp>
        <p:nvSpPr>
          <p:cNvPr id="21509" name="Rectangle 5"/>
          <p:cNvSpPr>
            <a:spLocks noChangeArrowheads="1"/>
          </p:cNvSpPr>
          <p:nvPr/>
        </p:nvSpPr>
        <p:spPr bwMode="auto">
          <a:xfrm>
            <a:off x="2209801" y="3965576"/>
            <a:ext cx="7974013" cy="2395271"/>
          </a:xfrm>
          <a:prstGeom prst="rect">
            <a:avLst/>
          </a:prstGeom>
          <a:noFill/>
          <a:ln w="12700">
            <a:noFill/>
            <a:miter lim="800000"/>
            <a:headEnd/>
            <a:tailEnd/>
          </a:ln>
          <a:effectLst/>
        </p:spPr>
        <p:txBody>
          <a:bodyPr lIns="63500" tIns="25400" rIns="63500" bIns="25400">
            <a:spAutoFit/>
          </a:bodyPr>
          <a:lstStyle/>
          <a:p>
            <a:pPr marL="406400" indent="-406400" defTabSz="762000">
              <a:lnSpc>
                <a:spcPct val="80000"/>
              </a:lnSpc>
              <a:buFontTx/>
              <a:buChar char="•"/>
            </a:pPr>
            <a:r>
              <a:rPr lang="en-US" altLang="ko-KR" sz="1600"/>
              <a:t> Large blocks of data transferred at a high speed to or from high speed devices, magnetic drums, disks, tapes, etc.</a:t>
            </a:r>
          </a:p>
          <a:p>
            <a:pPr marL="406400" indent="-406400" defTabSz="762000">
              <a:lnSpc>
                <a:spcPct val="80000"/>
              </a:lnSpc>
            </a:pPr>
            <a:r>
              <a:rPr lang="en-US" altLang="ko-KR" sz="1000"/>
              <a:t> </a:t>
            </a:r>
          </a:p>
          <a:p>
            <a:pPr marL="406400" indent="-406400" defTabSz="762000">
              <a:lnSpc>
                <a:spcPct val="80000"/>
              </a:lnSpc>
              <a:buFontTx/>
              <a:buChar char="•"/>
            </a:pPr>
            <a:r>
              <a:rPr lang="en-US" altLang="ko-KR" sz="1600"/>
              <a:t>DMA controller </a:t>
            </a:r>
          </a:p>
          <a:p>
            <a:pPr marL="749300" lvl="1" indent="-177800" defTabSz="762000">
              <a:lnSpc>
                <a:spcPct val="80000"/>
              </a:lnSpc>
              <a:buFontTx/>
              <a:buChar char="•"/>
            </a:pPr>
            <a:r>
              <a:rPr lang="en-US" altLang="ko-KR" sz="1600"/>
              <a:t> Interface that provides I/O transfer of data directly to and from the memory and the I/O device</a:t>
            </a:r>
          </a:p>
          <a:p>
            <a:pPr marL="406400" indent="-406400" defTabSz="762000">
              <a:lnSpc>
                <a:spcPct val="80000"/>
              </a:lnSpc>
              <a:buFontTx/>
              <a:buChar char="•"/>
            </a:pPr>
            <a:endParaRPr lang="en-US" altLang="ko-KR" sz="1000"/>
          </a:p>
          <a:p>
            <a:pPr marL="406400" indent="-406400" defTabSz="762000">
              <a:lnSpc>
                <a:spcPct val="80000"/>
              </a:lnSpc>
              <a:buFontTx/>
              <a:buChar char="•"/>
            </a:pPr>
            <a:r>
              <a:rPr lang="en-US" altLang="ko-KR" sz="1600"/>
              <a:t>CPU initializes the DMA controller by sending a memory address and the number of words to be transferred</a:t>
            </a:r>
          </a:p>
          <a:p>
            <a:pPr marL="406400" indent="-406400" defTabSz="762000">
              <a:lnSpc>
                <a:spcPct val="80000"/>
              </a:lnSpc>
              <a:buFontTx/>
              <a:buChar char="•"/>
            </a:pPr>
            <a:endParaRPr lang="en-US" altLang="ko-KR" sz="1000"/>
          </a:p>
          <a:p>
            <a:pPr marL="406400" indent="-406400" defTabSz="762000">
              <a:lnSpc>
                <a:spcPct val="80000"/>
              </a:lnSpc>
              <a:buFontTx/>
              <a:buChar char="•"/>
            </a:pPr>
            <a:r>
              <a:rPr lang="en-US" altLang="ko-KR" sz="1600"/>
              <a:t>Actual transfer of data is done directly between the device and memory through DMA controller</a:t>
            </a:r>
          </a:p>
          <a:p>
            <a:pPr marL="749300" lvl="1" indent="-177800" defTabSz="762000">
              <a:lnSpc>
                <a:spcPct val="80000"/>
              </a:lnSpc>
              <a:buFontTx/>
              <a:buChar char="•"/>
            </a:pPr>
            <a:r>
              <a:rPr lang="en-US" altLang="ko-KR" sz="1600"/>
              <a:t>Freeing CPU for other tasks</a:t>
            </a:r>
          </a:p>
        </p:txBody>
      </p:sp>
      <p:sp>
        <p:nvSpPr>
          <p:cNvPr id="21510" name="Rectangle 6"/>
          <p:cNvSpPr>
            <a:spLocks noChangeArrowheads="1"/>
          </p:cNvSpPr>
          <p:nvPr/>
        </p:nvSpPr>
        <p:spPr bwMode="auto">
          <a:xfrm>
            <a:off x="2386014" y="4773614"/>
            <a:ext cx="34925" cy="193675"/>
          </a:xfrm>
          <a:prstGeom prst="rect">
            <a:avLst/>
          </a:prstGeom>
          <a:noFill/>
          <a:ln w="12700">
            <a:noFill/>
            <a:miter lim="800000"/>
            <a:headEnd/>
            <a:tailEnd/>
          </a:ln>
          <a:effectLst/>
        </p:spPr>
        <p:txBody>
          <a:bodyPr wrap="none" anchor="ctr"/>
          <a:lstStyle/>
          <a:p>
            <a:endParaRPr lang="en-US"/>
          </a:p>
        </p:txBody>
      </p:sp>
      <p:sp>
        <p:nvSpPr>
          <p:cNvPr id="21511" name="Rectangle 7"/>
          <p:cNvSpPr>
            <a:spLocks noChangeArrowheads="1"/>
          </p:cNvSpPr>
          <p:nvPr/>
        </p:nvSpPr>
        <p:spPr bwMode="auto">
          <a:xfrm>
            <a:off x="1879601" y="1147763"/>
            <a:ext cx="8437563" cy="2162900"/>
          </a:xfrm>
          <a:prstGeom prst="rect">
            <a:avLst/>
          </a:prstGeom>
          <a:noFill/>
          <a:ln w="25400">
            <a:noFill/>
            <a:miter lim="800000"/>
            <a:headEnd/>
            <a:tailEnd/>
          </a:ln>
          <a:effectLst/>
        </p:spPr>
        <p:txBody>
          <a:bodyPr lIns="90488" tIns="44450" rIns="90488" bIns="44450">
            <a:spAutoFit/>
          </a:bodyPr>
          <a:lstStyle/>
          <a:p>
            <a:pPr marL="635000" lvl="1" indent="-406400" defTabSz="762000">
              <a:lnSpc>
                <a:spcPct val="80000"/>
              </a:lnSpc>
              <a:buFontTx/>
              <a:buChar char="•"/>
            </a:pPr>
            <a:r>
              <a:rPr lang="en-US" altLang="ko-KR" sz="1600" dirty="0"/>
              <a:t> Polling takes valuable CPU time</a:t>
            </a:r>
          </a:p>
          <a:p>
            <a:pPr marL="635000" lvl="1" indent="-406400" defTabSz="762000">
              <a:lnSpc>
                <a:spcPct val="80000"/>
              </a:lnSpc>
            </a:pPr>
            <a:endParaRPr lang="en-US" altLang="ko-KR" sz="1000" dirty="0"/>
          </a:p>
          <a:p>
            <a:pPr marL="635000" lvl="1" indent="-406400" defTabSz="762000">
              <a:lnSpc>
                <a:spcPct val="80000"/>
              </a:lnSpc>
              <a:buFontTx/>
              <a:buChar char="•"/>
            </a:pPr>
            <a:r>
              <a:rPr lang="en-US" altLang="ko-KR" sz="1600" dirty="0"/>
              <a:t>Open communication only when some data has to be passed  </a:t>
            </a:r>
            <a:r>
              <a:rPr lang="en-US" altLang="ko-KR" sz="1600" i="1" dirty="0"/>
              <a:t>-&gt; Interrupt</a:t>
            </a:r>
            <a:r>
              <a:rPr lang="en-US" altLang="ko-KR" sz="1600" dirty="0"/>
              <a:t>.</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 I/O interface, instead of the CPU, monitors the I/O device</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 When the interface determines that the I/O device is ready for data transfer, it generates an </a:t>
            </a:r>
            <a:r>
              <a:rPr lang="en-US" altLang="ko-KR" sz="1600" i="1" dirty="0"/>
              <a:t>Interrupt Request</a:t>
            </a:r>
            <a:r>
              <a:rPr lang="en-US" altLang="ko-KR" sz="1600" dirty="0"/>
              <a:t>  to the CPU </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Upon detecting an interrupt, CPU stops momentarily the task it is doing, branches to the service routine to process the data transfer, and then returns to the task it was performing</a:t>
            </a:r>
          </a:p>
          <a:p>
            <a:pPr defTabSz="762000" latinLnBrk="1">
              <a:lnSpc>
                <a:spcPct val="80000"/>
              </a:lnSpc>
              <a:buFontTx/>
              <a:buChar char="•"/>
            </a:pPr>
            <a:endParaRPr lang="en-US" altLang="ko-KR" sz="1600" dirty="0"/>
          </a:p>
        </p:txBody>
      </p:sp>
      <p:sp>
        <p:nvSpPr>
          <p:cNvPr id="21512" name="Rectangle 8"/>
          <p:cNvSpPr>
            <a:spLocks noChangeArrowheads="1"/>
          </p:cNvSpPr>
          <p:nvPr/>
        </p:nvSpPr>
        <p:spPr bwMode="auto">
          <a:xfrm>
            <a:off x="1849438" y="823913"/>
            <a:ext cx="2323714" cy="316882"/>
          </a:xfrm>
          <a:prstGeom prst="rect">
            <a:avLst/>
          </a:prstGeom>
          <a:noFill/>
          <a:ln w="25400">
            <a:noFill/>
            <a:miter lim="800000"/>
            <a:headEnd/>
            <a:tailEnd/>
          </a:ln>
          <a:effectLst/>
        </p:spPr>
        <p:txBody>
          <a:bodyPr wrap="none" lIns="90488" tIns="44450" rIns="90488" bIns="44450">
            <a:spAutoFit/>
          </a:bodyPr>
          <a:lstStyle/>
          <a:p>
            <a:pPr defTabSz="762000">
              <a:lnSpc>
                <a:spcPct val="80000"/>
              </a:lnSpc>
            </a:pPr>
            <a:r>
              <a:rPr lang="en-US" altLang="ko-KR"/>
              <a:t>Interrupt  Initiated  I/O</a:t>
            </a:r>
          </a:p>
        </p:txBody>
      </p:sp>
      <p:sp>
        <p:nvSpPr>
          <p:cNvPr id="21513" name="Rectangle 9"/>
          <p:cNvSpPr>
            <a:spLocks noChangeArrowheads="1"/>
          </p:cNvSpPr>
          <p:nvPr/>
        </p:nvSpPr>
        <p:spPr bwMode="auto">
          <a:xfrm>
            <a:off x="9053513" y="0"/>
            <a:ext cx="1497013"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Modes of Transfer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398462"/>
          </a:xfrm>
        </p:spPr>
        <p:txBody>
          <a:bodyPr>
            <a:normAutofit fontScale="90000"/>
          </a:bodyPr>
          <a:lstStyle/>
          <a:p>
            <a:r>
              <a:rPr lang="en-US" dirty="0"/>
              <a:t>Interrupt Driven I/O</a:t>
            </a:r>
          </a:p>
        </p:txBody>
      </p:sp>
      <p:pic>
        <p:nvPicPr>
          <p:cNvPr id="5122" name="Picture 2"/>
          <p:cNvPicPr>
            <a:picLocks noChangeAspect="1" noChangeArrowheads="1"/>
          </p:cNvPicPr>
          <p:nvPr/>
        </p:nvPicPr>
        <p:blipFill>
          <a:blip r:embed="rId2"/>
          <a:srcRect/>
          <a:stretch>
            <a:fillRect/>
          </a:stretch>
        </p:blipFill>
        <p:spPr bwMode="auto">
          <a:xfrm>
            <a:off x="2136775" y="885825"/>
            <a:ext cx="3143250" cy="5695950"/>
          </a:xfrm>
          <a:prstGeom prst="rect">
            <a:avLst/>
          </a:prstGeom>
          <a:noFill/>
          <a:ln w="9525">
            <a:noFill/>
            <a:miter lim="800000"/>
            <a:headEnd/>
            <a:tailEnd/>
          </a:ln>
          <a:effectLst/>
        </p:spPr>
      </p:pic>
      <p:sp>
        <p:nvSpPr>
          <p:cNvPr id="5" name="TextBox 4"/>
          <p:cNvSpPr txBox="1"/>
          <p:nvPr/>
        </p:nvSpPr>
        <p:spPr>
          <a:xfrm>
            <a:off x="5994400" y="1333500"/>
            <a:ext cx="3987800" cy="1754326"/>
          </a:xfrm>
          <a:prstGeom prst="rect">
            <a:avLst/>
          </a:prstGeom>
          <a:noFill/>
        </p:spPr>
        <p:txBody>
          <a:bodyPr wrap="square" rtlCol="0">
            <a:spAutoFit/>
          </a:bodyPr>
          <a:lstStyle/>
          <a:p>
            <a:pPr marL="292100" indent="-292100">
              <a:buFont typeface="Arial" pitchFamily="34" charset="0"/>
              <a:buChar char="•"/>
            </a:pPr>
            <a:r>
              <a:rPr lang="en-US" dirty="0"/>
              <a:t>Interrupt Service Routine (ISR)</a:t>
            </a:r>
          </a:p>
          <a:p>
            <a:pPr marL="749300" lvl="1" indent="-292100">
              <a:buFont typeface="Arial" pitchFamily="34" charset="0"/>
              <a:buChar char="•"/>
            </a:pPr>
            <a:r>
              <a:rPr lang="en-US" dirty="0"/>
              <a:t>Vectored Interrupt</a:t>
            </a:r>
          </a:p>
          <a:p>
            <a:pPr marL="749300" lvl="1" indent="-292100">
              <a:buFont typeface="Arial" pitchFamily="34" charset="0"/>
              <a:buChar char="•"/>
            </a:pPr>
            <a:r>
              <a:rPr lang="en-US" dirty="0"/>
              <a:t>Non-vectored Interrupt</a:t>
            </a:r>
          </a:p>
          <a:p>
            <a:pPr marL="292100" indent="-292100">
              <a:buFont typeface="Arial" pitchFamily="34" charset="0"/>
              <a:buChar char="•"/>
            </a:pPr>
            <a:r>
              <a:rPr lang="en-US" dirty="0"/>
              <a:t>Priority of Interrupts</a:t>
            </a:r>
          </a:p>
          <a:p>
            <a:pPr marL="749300" lvl="1" indent="-292100">
              <a:buFont typeface="Arial" pitchFamily="34" charset="0"/>
              <a:buChar char="•"/>
            </a:pPr>
            <a:r>
              <a:rPr lang="en-US" dirty="0" err="1"/>
              <a:t>Maskable</a:t>
            </a:r>
            <a:r>
              <a:rPr lang="en-US" dirty="0"/>
              <a:t> Interrupts</a:t>
            </a:r>
          </a:p>
          <a:p>
            <a:pPr marL="749300" lvl="1" indent="-292100">
              <a:buFont typeface="Arial" pitchFamily="34" charset="0"/>
              <a:buChar char="•"/>
            </a:pPr>
            <a:r>
              <a:rPr lang="en-US" dirty="0"/>
              <a:t>Non </a:t>
            </a:r>
            <a:r>
              <a:rPr lang="en-US" dirty="0" err="1"/>
              <a:t>Maskable</a:t>
            </a:r>
            <a:r>
              <a:rPr lang="en-US" dirty="0"/>
              <a:t> Interrupts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1524000" y="198439"/>
            <a:ext cx="9004300" cy="606425"/>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800" dirty="0"/>
              <a:t>Interrupts and ISR</a:t>
            </a:r>
          </a:p>
        </p:txBody>
      </p:sp>
      <p:sp>
        <p:nvSpPr>
          <p:cNvPr id="22532" name="Rectangle 4"/>
          <p:cNvSpPr>
            <a:spLocks noChangeArrowheads="1"/>
          </p:cNvSpPr>
          <p:nvPr/>
        </p:nvSpPr>
        <p:spPr bwMode="auto">
          <a:xfrm>
            <a:off x="1768475" y="792163"/>
            <a:ext cx="8699500" cy="6183744"/>
          </a:xfrm>
          <a:prstGeom prst="rect">
            <a:avLst/>
          </a:prstGeom>
          <a:noFill/>
          <a:ln w="25400">
            <a:noFill/>
            <a:miter lim="800000"/>
            <a:headEnd/>
            <a:tailEnd/>
          </a:ln>
          <a:effectLst/>
        </p:spPr>
        <p:txBody>
          <a:bodyPr lIns="90488" tIns="44450" rIns="90488" bIns="44450">
            <a:spAutoFit/>
          </a:bodyPr>
          <a:lstStyle/>
          <a:p>
            <a:pPr defTabSz="762000"/>
            <a:r>
              <a:rPr lang="en-US" altLang="ko-KR" dirty="0"/>
              <a:t>In a number of conditions the processor may be interrupted from its normal processing activity. Some of these conditions are :</a:t>
            </a:r>
          </a:p>
          <a:p>
            <a:pPr defTabSz="762000"/>
            <a:endParaRPr lang="en-US" altLang="ko-KR" dirty="0"/>
          </a:p>
          <a:p>
            <a:pPr marL="342900" indent="-342900" defTabSz="762000">
              <a:buFont typeface="+mj-lt"/>
              <a:buAutoNum type="arabicPeriod"/>
            </a:pPr>
            <a:r>
              <a:rPr lang="en-US" altLang="ko-KR" dirty="0"/>
              <a:t>Power failure as detected by a sensor</a:t>
            </a:r>
          </a:p>
          <a:p>
            <a:pPr marL="342900" indent="-342900" defTabSz="762000">
              <a:buFont typeface="+mj-lt"/>
              <a:buAutoNum type="arabicPeriod"/>
            </a:pPr>
            <a:r>
              <a:rPr lang="en-US" altLang="ko-KR" dirty="0"/>
              <a:t>Arithmetic conditions such as </a:t>
            </a:r>
            <a:r>
              <a:rPr lang="en-US" altLang="ko-KR" dirty="0" err="1"/>
              <a:t>overﬂow</a:t>
            </a:r>
            <a:r>
              <a:rPr lang="en-US" altLang="ko-KR" dirty="0"/>
              <a:t> and </a:t>
            </a:r>
            <a:r>
              <a:rPr lang="en-US" altLang="ko-KR" dirty="0" err="1"/>
              <a:t>underﬂow</a:t>
            </a:r>
            <a:endParaRPr lang="en-US" altLang="ko-KR" dirty="0"/>
          </a:p>
          <a:p>
            <a:pPr marL="342900" indent="-342900" defTabSz="762000">
              <a:buFont typeface="+mj-lt"/>
              <a:buAutoNum type="arabicPeriod"/>
            </a:pPr>
            <a:r>
              <a:rPr lang="en-US" altLang="ko-KR" dirty="0"/>
              <a:t>Illegal data or illegal instruction code</a:t>
            </a:r>
          </a:p>
          <a:p>
            <a:pPr marL="342900" indent="-342900" defTabSz="762000">
              <a:buFont typeface="+mj-lt"/>
              <a:buAutoNum type="arabicPeriod"/>
            </a:pPr>
            <a:r>
              <a:rPr lang="en-US" altLang="ko-KR" dirty="0"/>
              <a:t>Errors in data transmission and storage</a:t>
            </a:r>
          </a:p>
          <a:p>
            <a:pPr marL="342900" indent="-342900" defTabSz="762000">
              <a:buFont typeface="+mj-lt"/>
              <a:buAutoNum type="arabicPeriod"/>
            </a:pPr>
            <a:r>
              <a:rPr lang="en-US" altLang="ko-KR" dirty="0"/>
              <a:t>Software-generated interrupts (as intended by the user)</a:t>
            </a:r>
          </a:p>
          <a:p>
            <a:pPr marL="342900" indent="-342900" defTabSz="762000">
              <a:buFont typeface="+mj-lt"/>
              <a:buAutoNum type="arabicPeriod"/>
            </a:pPr>
            <a:r>
              <a:rPr lang="en-US" altLang="ko-KR" dirty="0"/>
              <a:t>Normal completion of asynchronous transfer.</a:t>
            </a:r>
          </a:p>
          <a:p>
            <a:pPr defTabSz="762000"/>
            <a:endParaRPr lang="en-US" altLang="ko-KR" dirty="0"/>
          </a:p>
          <a:p>
            <a:pPr defTabSz="762000"/>
            <a:r>
              <a:rPr lang="en-US" altLang="ko-KR" dirty="0"/>
              <a:t>An interrupt service routine is a program preloaded into the machine memory that performs the following functions:</a:t>
            </a:r>
          </a:p>
          <a:p>
            <a:pPr defTabSz="762000"/>
            <a:endParaRPr lang="en-US" altLang="ko-KR" dirty="0"/>
          </a:p>
          <a:p>
            <a:pPr marL="342900" indent="-342900" defTabSz="762000">
              <a:buFont typeface="+mj-lt"/>
              <a:buAutoNum type="arabicPeriod"/>
            </a:pPr>
            <a:r>
              <a:rPr lang="en-US" altLang="ko-KR" dirty="0"/>
              <a:t>Disables further interrupts temporarily.</a:t>
            </a:r>
          </a:p>
          <a:p>
            <a:pPr marL="342900" indent="-342900" defTabSz="762000">
              <a:buFont typeface="+mj-lt"/>
              <a:buAutoNum type="arabicPeriod"/>
            </a:pPr>
            <a:r>
              <a:rPr lang="en-US" altLang="ko-KR" dirty="0"/>
              <a:t>Saves the processor status (all registers).</a:t>
            </a:r>
          </a:p>
          <a:p>
            <a:pPr marL="342900" indent="-342900" defTabSz="762000">
              <a:buFont typeface="+mj-lt"/>
              <a:buAutoNum type="arabicPeriod"/>
            </a:pPr>
            <a:r>
              <a:rPr lang="en-US" altLang="ko-KR" dirty="0"/>
              <a:t>Enables further interrupts.</a:t>
            </a:r>
          </a:p>
          <a:p>
            <a:pPr marL="342900" indent="-342900" defTabSz="762000">
              <a:buFont typeface="+mj-lt"/>
              <a:buAutoNum type="arabicPeriod"/>
            </a:pPr>
            <a:r>
              <a:rPr lang="en-US" altLang="ko-KR" dirty="0"/>
              <a:t>Determines the cause of interrupt.</a:t>
            </a:r>
          </a:p>
          <a:p>
            <a:pPr marL="342900" indent="-342900" defTabSz="762000">
              <a:buFont typeface="+mj-lt"/>
              <a:buAutoNum type="arabicPeriod"/>
            </a:pPr>
            <a:r>
              <a:rPr lang="en-US" altLang="ko-KR" dirty="0"/>
              <a:t>Services the interrupt.</a:t>
            </a:r>
          </a:p>
          <a:p>
            <a:pPr marL="342900" indent="-342900" defTabSz="762000">
              <a:buFont typeface="+mj-lt"/>
              <a:buAutoNum type="arabicPeriod"/>
            </a:pPr>
            <a:r>
              <a:rPr lang="en-US" altLang="ko-KR" dirty="0"/>
              <a:t>Disables interrupts.</a:t>
            </a:r>
          </a:p>
          <a:p>
            <a:pPr marL="342900" indent="-342900" defTabSz="762000">
              <a:buFont typeface="+mj-lt"/>
              <a:buAutoNum type="arabicPeriod"/>
            </a:pPr>
            <a:r>
              <a:rPr lang="en-US" altLang="ko-KR" dirty="0"/>
              <a:t>Restores processor status.</a:t>
            </a:r>
          </a:p>
          <a:p>
            <a:pPr marL="342900" indent="-342900" defTabSz="762000">
              <a:buFont typeface="+mj-lt"/>
              <a:buAutoNum type="arabicPeriod"/>
            </a:pPr>
            <a:r>
              <a:rPr lang="en-US" altLang="ko-KR" dirty="0"/>
              <a:t>Enables further interrupts.</a:t>
            </a:r>
          </a:p>
          <a:p>
            <a:pPr marL="342900" indent="-342900" defTabSz="762000">
              <a:buFont typeface="+mj-lt"/>
              <a:buAutoNum type="arabicPeriod"/>
            </a:pPr>
            <a:r>
              <a:rPr lang="en-US" altLang="ko-KR" dirty="0"/>
              <a:t>Returns from interrupt.</a:t>
            </a:r>
          </a:p>
        </p:txBody>
      </p:sp>
      <p:sp>
        <p:nvSpPr>
          <p:cNvPr id="22533" name="Rectangle 5"/>
          <p:cNvSpPr>
            <a:spLocks noChangeArrowheads="1"/>
          </p:cNvSpPr>
          <p:nvPr/>
        </p:nvSpPr>
        <p:spPr bwMode="auto">
          <a:xfrm>
            <a:off x="2174876" y="4838701"/>
            <a:ext cx="4748213" cy="227013"/>
          </a:xfrm>
          <a:prstGeom prst="rect">
            <a:avLst/>
          </a:prstGeom>
          <a:noFill/>
          <a:ln w="12700">
            <a:noFill/>
            <a:miter lim="800000"/>
            <a:headEnd/>
            <a:tailEnd/>
          </a:ln>
          <a:effectLst/>
        </p:spPr>
        <p:txBody>
          <a:bodyPr wrap="none" anchor="ctr"/>
          <a:lstStyle/>
          <a:p>
            <a:endParaRPr lang="en-US"/>
          </a:p>
        </p:txBody>
      </p:sp>
      <p:sp>
        <p:nvSpPr>
          <p:cNvPr id="22534" name="Rectangle 6"/>
          <p:cNvSpPr>
            <a:spLocks noChangeArrowheads="1"/>
          </p:cNvSpPr>
          <p:nvPr/>
        </p:nvSpPr>
        <p:spPr bwMode="auto">
          <a:xfrm>
            <a:off x="9147528" y="0"/>
            <a:ext cx="1401410"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Priority Interrupt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TotalTime>
  <Words>390</Words>
  <Application>Microsoft Office PowerPoint</Application>
  <PresentationFormat>Widescreen</PresentationFormat>
  <Paragraphs>57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 </vt:lpstr>
      <vt:lpstr>MODES  OF  TRANSFER - INTERRUPT  INITIATED  I/O &amp; DMA </vt:lpstr>
      <vt:lpstr>Interrupt Driven I/O</vt:lpstr>
      <vt:lpstr>Interrupts and ISR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42</cp:revision>
  <dcterms:created xsi:type="dcterms:W3CDTF">2020-06-18T04:00:41Z</dcterms:created>
  <dcterms:modified xsi:type="dcterms:W3CDTF">2020-11-21T04:59:22Z</dcterms:modified>
</cp:coreProperties>
</file>