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73" r:id="rId3"/>
    <p:sldId id="302" r:id="rId4"/>
    <p:sldId id="274" r:id="rId5"/>
    <p:sldId id="303" r:id="rId6"/>
    <p:sldId id="305" r:id="rId7"/>
    <p:sldId id="304" r:id="rId8"/>
    <p:sldId id="307" r:id="rId9"/>
    <p:sldId id="27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3793C-9F6E-4CE1-B94E-78F167BB0663}" type="datetimeFigureOut">
              <a:rPr lang="en-US" smtClean="0"/>
              <a:t>10/3/2020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AF78A-2270-4721-AA5A-1B675F5A1ABB}" type="slidenum">
              <a:rPr lang="en-US" smtClean="0"/>
              <a:t>‹#›</a:t>
            </a:fld>
            <a:endParaRPr lang="en-US"/>
          </a:p>
        </p:txBody>
      </p:sp>
    </p:spTree>
    <p:extLst>
      <p:ext uri="{BB962C8B-B14F-4D97-AF65-F5344CB8AC3E}">
        <p14:creationId xmlns:p14="http://schemas.microsoft.com/office/powerpoint/2010/main" val="2745719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A7E-81F0-4134-BD15-5C170C069D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ABCD674-A3BA-4C42-9005-763EDB025B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8A7EDD-DFA4-4A1A-83E3-25AA585BA9A2}"/>
              </a:ext>
            </a:extLst>
          </p:cNvPr>
          <p:cNvSpPr>
            <a:spLocks noGrp="1"/>
          </p:cNvSpPr>
          <p:nvPr>
            <p:ph type="dt" sz="half" idx="10"/>
          </p:nvPr>
        </p:nvSpPr>
        <p:spPr/>
        <p:txBody>
          <a:bodyPr/>
          <a:lstStyle/>
          <a:p>
            <a:fld id="{87864072-6A20-4DBD-9873-382B57A9CEBC}" type="datetimeFigureOut">
              <a:rPr lang="en-US" smtClean="0"/>
              <a:t>10/3/2020</a:t>
            </a:fld>
            <a:endParaRPr lang="en-US"/>
          </a:p>
        </p:txBody>
      </p:sp>
      <p:sp>
        <p:nvSpPr>
          <p:cNvPr id="5" name="Footer Placeholder 4">
            <a:extLst>
              <a:ext uri="{FF2B5EF4-FFF2-40B4-BE49-F238E27FC236}">
                <a16:creationId xmlns:a16="http://schemas.microsoft.com/office/drawing/2014/main" id="{3EBDDD35-3124-45BE-8281-89DADE36D9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4DDAB-06E4-4EA3-94AC-1B24D066671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72498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C73F-1D55-4331-B6FC-3AA2B609FE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A4E085-C58E-496B-98D7-1B99D1C33C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92F368-288E-4BA1-BE87-29FB8F830832}"/>
              </a:ext>
            </a:extLst>
          </p:cNvPr>
          <p:cNvSpPr>
            <a:spLocks noGrp="1"/>
          </p:cNvSpPr>
          <p:nvPr>
            <p:ph type="dt" sz="half" idx="10"/>
          </p:nvPr>
        </p:nvSpPr>
        <p:spPr/>
        <p:txBody>
          <a:bodyPr/>
          <a:lstStyle/>
          <a:p>
            <a:fld id="{87864072-6A20-4DBD-9873-382B57A9CEBC}" type="datetimeFigureOut">
              <a:rPr lang="en-US" smtClean="0"/>
              <a:t>10/3/2020</a:t>
            </a:fld>
            <a:endParaRPr lang="en-US"/>
          </a:p>
        </p:txBody>
      </p:sp>
      <p:sp>
        <p:nvSpPr>
          <p:cNvPr id="5" name="Footer Placeholder 4">
            <a:extLst>
              <a:ext uri="{FF2B5EF4-FFF2-40B4-BE49-F238E27FC236}">
                <a16:creationId xmlns:a16="http://schemas.microsoft.com/office/drawing/2014/main" id="{4D7250FE-6DBD-4289-9511-5D05D19CF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10A08E-4AE5-4672-8C44-34B86EEC82CE}"/>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748247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32352-8481-41AD-8AC0-D532E19E6E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668B2E-6852-4395-B254-EEA800955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9FC224-D401-4126-8A4C-A88089EBB83C}"/>
              </a:ext>
            </a:extLst>
          </p:cNvPr>
          <p:cNvSpPr>
            <a:spLocks noGrp="1"/>
          </p:cNvSpPr>
          <p:nvPr>
            <p:ph type="dt" sz="half" idx="10"/>
          </p:nvPr>
        </p:nvSpPr>
        <p:spPr/>
        <p:txBody>
          <a:bodyPr/>
          <a:lstStyle/>
          <a:p>
            <a:fld id="{87864072-6A20-4DBD-9873-382B57A9CEBC}" type="datetimeFigureOut">
              <a:rPr lang="en-US" smtClean="0"/>
              <a:t>10/3/2020</a:t>
            </a:fld>
            <a:endParaRPr lang="en-US"/>
          </a:p>
        </p:txBody>
      </p:sp>
      <p:sp>
        <p:nvSpPr>
          <p:cNvPr id="5" name="Footer Placeholder 4">
            <a:extLst>
              <a:ext uri="{FF2B5EF4-FFF2-40B4-BE49-F238E27FC236}">
                <a16:creationId xmlns:a16="http://schemas.microsoft.com/office/drawing/2014/main" id="{A08A6F80-1254-4085-9631-EF3BFB215E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5BEC7-7EFD-4172-A6EB-324F550B1E92}"/>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4033276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1B8EF-7756-480B-8AC4-884B456ADA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DD0B1B-47A0-4232-BAF8-F717551F61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1A325D-5F45-4CA3-ABCC-3A07EE07CB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A03B7B7-5A8B-48EE-8F45-38809D0AA093}"/>
              </a:ext>
            </a:extLst>
          </p:cNvPr>
          <p:cNvSpPr>
            <a:spLocks noGrp="1"/>
          </p:cNvSpPr>
          <p:nvPr>
            <p:ph type="dt" sz="half" idx="10"/>
          </p:nvPr>
        </p:nvSpPr>
        <p:spPr/>
        <p:txBody>
          <a:bodyPr/>
          <a:lstStyle/>
          <a:p>
            <a:fld id="{87864072-6A20-4DBD-9873-382B57A9CEBC}" type="datetimeFigureOut">
              <a:rPr lang="en-US" smtClean="0"/>
              <a:t>10/3/2020</a:t>
            </a:fld>
            <a:endParaRPr lang="en-US"/>
          </a:p>
        </p:txBody>
      </p:sp>
      <p:sp>
        <p:nvSpPr>
          <p:cNvPr id="6" name="Footer Placeholder 5">
            <a:extLst>
              <a:ext uri="{FF2B5EF4-FFF2-40B4-BE49-F238E27FC236}">
                <a16:creationId xmlns:a16="http://schemas.microsoft.com/office/drawing/2014/main" id="{23D7EE25-F5A8-40CF-AED4-6A8B4153C1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0EF098-D06A-4D79-A934-F11F1217AE8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79507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817B3-8B64-4F56-9165-9D1F1B6996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12F572-116B-4FBC-80A1-B160E910E8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DAA3B-BF40-498F-910E-D6FE62C725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37089C-079C-4C6E-9481-3975BCB5D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8D0D08-DF36-4271-880D-5E9F0DBDE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D17495-0CEE-4E07-B1EE-B6519BFEFF1A}"/>
              </a:ext>
            </a:extLst>
          </p:cNvPr>
          <p:cNvSpPr>
            <a:spLocks noGrp="1"/>
          </p:cNvSpPr>
          <p:nvPr>
            <p:ph type="dt" sz="half" idx="10"/>
          </p:nvPr>
        </p:nvSpPr>
        <p:spPr/>
        <p:txBody>
          <a:bodyPr/>
          <a:lstStyle/>
          <a:p>
            <a:fld id="{87864072-6A20-4DBD-9873-382B57A9CEBC}" type="datetimeFigureOut">
              <a:rPr lang="en-US" smtClean="0"/>
              <a:t>10/3/2020</a:t>
            </a:fld>
            <a:endParaRPr lang="en-US"/>
          </a:p>
        </p:txBody>
      </p:sp>
      <p:sp>
        <p:nvSpPr>
          <p:cNvPr id="8" name="Footer Placeholder 7">
            <a:extLst>
              <a:ext uri="{FF2B5EF4-FFF2-40B4-BE49-F238E27FC236}">
                <a16:creationId xmlns:a16="http://schemas.microsoft.com/office/drawing/2014/main" id="{2C8416FD-C3A3-4B77-9678-C5082E628E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E038-F659-4CEC-893C-EE00681F5F73}"/>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56983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5EC38-A637-413A-ADAE-BE0CFC8B87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9CF607-1E75-4E3B-9910-AF15505BCFA0}"/>
              </a:ext>
            </a:extLst>
          </p:cNvPr>
          <p:cNvSpPr>
            <a:spLocks noGrp="1"/>
          </p:cNvSpPr>
          <p:nvPr>
            <p:ph type="dt" sz="half" idx="10"/>
          </p:nvPr>
        </p:nvSpPr>
        <p:spPr/>
        <p:txBody>
          <a:bodyPr/>
          <a:lstStyle/>
          <a:p>
            <a:fld id="{87864072-6A20-4DBD-9873-382B57A9CEBC}" type="datetimeFigureOut">
              <a:rPr lang="en-US" smtClean="0"/>
              <a:t>10/3/2020</a:t>
            </a:fld>
            <a:endParaRPr lang="en-US"/>
          </a:p>
        </p:txBody>
      </p:sp>
      <p:sp>
        <p:nvSpPr>
          <p:cNvPr id="4" name="Footer Placeholder 3">
            <a:extLst>
              <a:ext uri="{FF2B5EF4-FFF2-40B4-BE49-F238E27FC236}">
                <a16:creationId xmlns:a16="http://schemas.microsoft.com/office/drawing/2014/main" id="{298C001C-1627-4AD3-A0D3-B3339FC11C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03E4DC-41E9-49A6-9047-6E1F7BF34CF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16425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CCE46B-A1F2-4FE7-BE62-EA0E275D0B6A}"/>
              </a:ext>
            </a:extLst>
          </p:cNvPr>
          <p:cNvSpPr>
            <a:spLocks noGrp="1"/>
          </p:cNvSpPr>
          <p:nvPr>
            <p:ph type="dt" sz="half" idx="10"/>
          </p:nvPr>
        </p:nvSpPr>
        <p:spPr/>
        <p:txBody>
          <a:bodyPr/>
          <a:lstStyle/>
          <a:p>
            <a:fld id="{87864072-6A20-4DBD-9873-382B57A9CEBC}" type="datetimeFigureOut">
              <a:rPr lang="en-US" smtClean="0"/>
              <a:t>10/3/2020</a:t>
            </a:fld>
            <a:endParaRPr lang="en-US"/>
          </a:p>
        </p:txBody>
      </p:sp>
      <p:sp>
        <p:nvSpPr>
          <p:cNvPr id="3" name="Footer Placeholder 2">
            <a:extLst>
              <a:ext uri="{FF2B5EF4-FFF2-40B4-BE49-F238E27FC236}">
                <a16:creationId xmlns:a16="http://schemas.microsoft.com/office/drawing/2014/main" id="{EF188AA1-14B3-435D-88D6-94512D0E89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F83966-455F-4672-A770-389923924051}"/>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3711392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7F8D-EF09-4BE8-A8AA-A3E2AB642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EB90AC-FF6F-4700-8FDC-3A3EC0FF8D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719B4C-AF9F-4A5E-9702-FB58A7B26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98C2B0-1797-4CA4-91C5-DF4B4A45FCC6}"/>
              </a:ext>
            </a:extLst>
          </p:cNvPr>
          <p:cNvSpPr>
            <a:spLocks noGrp="1"/>
          </p:cNvSpPr>
          <p:nvPr>
            <p:ph type="dt" sz="half" idx="10"/>
          </p:nvPr>
        </p:nvSpPr>
        <p:spPr/>
        <p:txBody>
          <a:bodyPr/>
          <a:lstStyle/>
          <a:p>
            <a:fld id="{87864072-6A20-4DBD-9873-382B57A9CEBC}" type="datetimeFigureOut">
              <a:rPr lang="en-US" smtClean="0"/>
              <a:t>10/3/2020</a:t>
            </a:fld>
            <a:endParaRPr lang="en-US"/>
          </a:p>
        </p:txBody>
      </p:sp>
      <p:sp>
        <p:nvSpPr>
          <p:cNvPr id="6" name="Footer Placeholder 5">
            <a:extLst>
              <a:ext uri="{FF2B5EF4-FFF2-40B4-BE49-F238E27FC236}">
                <a16:creationId xmlns:a16="http://schemas.microsoft.com/office/drawing/2014/main" id="{8BE09123-8FCE-4335-90FF-B38FF42782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15DF9-1BB0-4D73-8CE7-BE42FC1A576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862667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001E-159E-4C6B-904E-108CE8ECF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FE07AB-277F-44EB-9550-9E948F6ED0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4C6601-2A79-4B56-9BD2-9FFCD85C1C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A6FD8E-BD42-4380-A704-79AD7BEB4212}"/>
              </a:ext>
            </a:extLst>
          </p:cNvPr>
          <p:cNvSpPr>
            <a:spLocks noGrp="1"/>
          </p:cNvSpPr>
          <p:nvPr>
            <p:ph type="dt" sz="half" idx="10"/>
          </p:nvPr>
        </p:nvSpPr>
        <p:spPr/>
        <p:txBody>
          <a:bodyPr/>
          <a:lstStyle/>
          <a:p>
            <a:fld id="{87864072-6A20-4DBD-9873-382B57A9CEBC}" type="datetimeFigureOut">
              <a:rPr lang="en-US" smtClean="0"/>
              <a:t>10/3/2020</a:t>
            </a:fld>
            <a:endParaRPr lang="en-US"/>
          </a:p>
        </p:txBody>
      </p:sp>
      <p:sp>
        <p:nvSpPr>
          <p:cNvPr id="6" name="Footer Placeholder 5">
            <a:extLst>
              <a:ext uri="{FF2B5EF4-FFF2-40B4-BE49-F238E27FC236}">
                <a16:creationId xmlns:a16="http://schemas.microsoft.com/office/drawing/2014/main" id="{AA504562-B91A-4A31-B18F-2CE9197E1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097E42-70ED-44AC-8D83-F71879FFE9B7}"/>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237527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92E7-DD2D-4D70-82F6-D9725B3710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27CEF2-37E8-4EA3-895A-13883A2168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AF8EF2-460E-4E7D-A56E-13C49CA0173D}"/>
              </a:ext>
            </a:extLst>
          </p:cNvPr>
          <p:cNvSpPr>
            <a:spLocks noGrp="1"/>
          </p:cNvSpPr>
          <p:nvPr>
            <p:ph type="dt" sz="half" idx="10"/>
          </p:nvPr>
        </p:nvSpPr>
        <p:spPr/>
        <p:txBody>
          <a:bodyPr/>
          <a:lstStyle/>
          <a:p>
            <a:fld id="{87864072-6A20-4DBD-9873-382B57A9CEBC}" type="datetimeFigureOut">
              <a:rPr lang="en-US" smtClean="0"/>
              <a:t>10/3/2020</a:t>
            </a:fld>
            <a:endParaRPr lang="en-US"/>
          </a:p>
        </p:txBody>
      </p:sp>
      <p:sp>
        <p:nvSpPr>
          <p:cNvPr id="5" name="Footer Placeholder 4">
            <a:extLst>
              <a:ext uri="{FF2B5EF4-FFF2-40B4-BE49-F238E27FC236}">
                <a16:creationId xmlns:a16="http://schemas.microsoft.com/office/drawing/2014/main" id="{0D1DE7C8-D345-4CEE-B7B9-E056DB7853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00CDD-B8DE-434D-8CD1-8D73E0465BDF}"/>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2148748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1BF484-8DF8-4359-A45F-3550A7C91D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412163-A279-4DFE-9D2D-E78F9BB203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A9479B-855F-41CF-8B9D-86AEE460424B}"/>
              </a:ext>
            </a:extLst>
          </p:cNvPr>
          <p:cNvSpPr>
            <a:spLocks noGrp="1"/>
          </p:cNvSpPr>
          <p:nvPr>
            <p:ph type="dt" sz="half" idx="10"/>
          </p:nvPr>
        </p:nvSpPr>
        <p:spPr/>
        <p:txBody>
          <a:bodyPr/>
          <a:lstStyle/>
          <a:p>
            <a:fld id="{87864072-6A20-4DBD-9873-382B57A9CEBC}" type="datetimeFigureOut">
              <a:rPr lang="en-US" smtClean="0"/>
              <a:t>10/3/2020</a:t>
            </a:fld>
            <a:endParaRPr lang="en-US"/>
          </a:p>
        </p:txBody>
      </p:sp>
      <p:sp>
        <p:nvSpPr>
          <p:cNvPr id="5" name="Footer Placeholder 4">
            <a:extLst>
              <a:ext uri="{FF2B5EF4-FFF2-40B4-BE49-F238E27FC236}">
                <a16:creationId xmlns:a16="http://schemas.microsoft.com/office/drawing/2014/main" id="{6EAE8C7C-204E-4E9D-B2DF-712E4B427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57DAE8-C3F7-47A0-ACCB-36C329E6530B}"/>
              </a:ext>
            </a:extLst>
          </p:cNvPr>
          <p:cNvSpPr>
            <a:spLocks noGrp="1"/>
          </p:cNvSpPr>
          <p:nvPr>
            <p:ph type="sldNum" sz="quarter" idx="12"/>
          </p:nvPr>
        </p:nvSpPr>
        <p:spPr/>
        <p:txBody>
          <a:bodyPr/>
          <a:lstStyle/>
          <a:p>
            <a:fld id="{D4E914E4-B421-41C6-A5C3-592ADA163034}" type="slidenum">
              <a:rPr lang="en-US" smtClean="0"/>
              <a:t>‹#›</a:t>
            </a:fld>
            <a:endParaRPr lang="en-US"/>
          </a:p>
        </p:txBody>
      </p:sp>
    </p:spTree>
    <p:extLst>
      <p:ext uri="{BB962C8B-B14F-4D97-AF65-F5344CB8AC3E}">
        <p14:creationId xmlns:p14="http://schemas.microsoft.com/office/powerpoint/2010/main" val="1404400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63EC23-EE39-4728-B8BB-EAA6185060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7CCE27-E475-4C15-9FE6-8CAEA1D4E7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9445BA-1B4C-44B9-8E59-F3B0BDD73D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864072-6A20-4DBD-9873-382B57A9CEBC}" type="datetimeFigureOut">
              <a:rPr lang="en-US" smtClean="0"/>
              <a:t>10/3/2020</a:t>
            </a:fld>
            <a:endParaRPr lang="en-US"/>
          </a:p>
        </p:txBody>
      </p:sp>
      <p:sp>
        <p:nvSpPr>
          <p:cNvPr id="5" name="Footer Placeholder 4">
            <a:extLst>
              <a:ext uri="{FF2B5EF4-FFF2-40B4-BE49-F238E27FC236}">
                <a16:creationId xmlns:a16="http://schemas.microsoft.com/office/drawing/2014/main" id="{77875FA0-C085-4441-B672-E2C970C430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623047-2BBF-4763-A0EE-1941F70D5D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E914E4-B421-41C6-A5C3-592ADA163034}" type="slidenum">
              <a:rPr lang="en-US" smtClean="0"/>
              <a:t>‹#›</a:t>
            </a:fld>
            <a:endParaRPr lang="en-US"/>
          </a:p>
        </p:txBody>
      </p:sp>
    </p:spTree>
    <p:extLst>
      <p:ext uri="{BB962C8B-B14F-4D97-AF65-F5344CB8AC3E}">
        <p14:creationId xmlns:p14="http://schemas.microsoft.com/office/powerpoint/2010/main" val="2606624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 name="Rectangle 77">
            <a:extLst>
              <a:ext uri="{FF2B5EF4-FFF2-40B4-BE49-F238E27FC236}">
                <a16:creationId xmlns:a16="http://schemas.microsoft.com/office/drawing/2014/main" id="{0700D48D-C9AA-4000-A912-29A4FEA98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5138" y="394887"/>
            <a:ext cx="5720862" cy="606822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1DA4F3-9EF8-4369-8046-62460F132A30}"/>
              </a:ext>
            </a:extLst>
          </p:cNvPr>
          <p:cNvSpPr>
            <a:spLocks noGrp="1"/>
          </p:cNvSpPr>
          <p:nvPr>
            <p:ph type="ctrTitle"/>
          </p:nvPr>
        </p:nvSpPr>
        <p:spPr>
          <a:xfrm>
            <a:off x="1018604" y="1053042"/>
            <a:ext cx="4458424" cy="3068357"/>
          </a:xfrm>
        </p:spPr>
        <p:txBody>
          <a:bodyPr>
            <a:normAutofit/>
          </a:bodyPr>
          <a:lstStyle/>
          <a:p>
            <a:pPr algn="l"/>
            <a:br>
              <a:rPr lang="en-US">
                <a:solidFill>
                  <a:srgbClr val="FFFFFF"/>
                </a:solidFill>
              </a:rPr>
            </a:br>
            <a:endParaRPr lang="en-US">
              <a:solidFill>
                <a:srgbClr val="FFFFFF"/>
              </a:solidFill>
            </a:endParaRPr>
          </a:p>
        </p:txBody>
      </p:sp>
      <p:sp>
        <p:nvSpPr>
          <p:cNvPr id="3" name="Subtitle 2">
            <a:extLst>
              <a:ext uri="{FF2B5EF4-FFF2-40B4-BE49-F238E27FC236}">
                <a16:creationId xmlns:a16="http://schemas.microsoft.com/office/drawing/2014/main" id="{FD3F6E6A-CA2C-4D7C-95F1-0463554CE732}"/>
              </a:ext>
            </a:extLst>
          </p:cNvPr>
          <p:cNvSpPr>
            <a:spLocks noGrp="1"/>
          </p:cNvSpPr>
          <p:nvPr>
            <p:ph type="subTitle" idx="1"/>
          </p:nvPr>
        </p:nvSpPr>
        <p:spPr>
          <a:xfrm>
            <a:off x="1018604" y="4292070"/>
            <a:ext cx="4458424" cy="1512888"/>
          </a:xfrm>
        </p:spPr>
        <p:txBody>
          <a:bodyPr>
            <a:normAutofit/>
          </a:bodyPr>
          <a:lstStyle/>
          <a:p>
            <a:pPr algn="l"/>
            <a:r>
              <a:rPr lang="en-US" sz="1500">
                <a:solidFill>
                  <a:srgbClr val="ABCD81"/>
                </a:solidFill>
              </a:rPr>
              <a:t>Dr. Rizwan Khan</a:t>
            </a:r>
          </a:p>
          <a:p>
            <a:pPr algn="l"/>
            <a:r>
              <a:rPr lang="en-US" sz="1500">
                <a:solidFill>
                  <a:srgbClr val="ABCD81"/>
                </a:solidFill>
              </a:rPr>
              <a:t>Head – Department of Computer Science and Engineering</a:t>
            </a:r>
          </a:p>
          <a:p>
            <a:pPr algn="l"/>
            <a:r>
              <a:rPr lang="en-US" sz="1500">
                <a:solidFill>
                  <a:srgbClr val="ABCD81"/>
                </a:solidFill>
              </a:rPr>
              <a:t>(An NBA Accredited Program)</a:t>
            </a:r>
          </a:p>
          <a:p>
            <a:pPr algn="l"/>
            <a:r>
              <a:rPr lang="en-US" sz="1500">
                <a:solidFill>
                  <a:srgbClr val="ABCD81"/>
                </a:solidFill>
              </a:rPr>
              <a:t>ABES Institute of Technology, Ghaziabad</a:t>
            </a:r>
          </a:p>
        </p:txBody>
      </p:sp>
      <p:cxnSp>
        <p:nvCxnSpPr>
          <p:cNvPr id="80" name="Straight Connector 79">
            <a:extLst>
              <a:ext uri="{FF2B5EF4-FFF2-40B4-BE49-F238E27FC236}">
                <a16:creationId xmlns:a16="http://schemas.microsoft.com/office/drawing/2014/main" id="{805E69BC-D844-4AB5-9E35-ED458EE296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9184178" y="1874520"/>
            <a:ext cx="0" cy="310896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312C673-8179-457E-AD2A-D1FAE4CC96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14009" y="4201833"/>
            <a:ext cx="3400425"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8E6B5078-279F-496A-B100-835C91465BD5}"/>
              </a:ext>
            </a:extLst>
          </p:cNvPr>
          <p:cNvGraphicFramePr>
            <a:graphicFrameLocks noGrp="1"/>
          </p:cNvGraphicFramePr>
          <p:nvPr>
            <p:extLst>
              <p:ext uri="{D42A27DB-BD31-4B8C-83A1-F6EECF244321}">
                <p14:modId xmlns:p14="http://schemas.microsoft.com/office/powerpoint/2010/main" val="1133047617"/>
              </p:ext>
            </p:extLst>
          </p:nvPr>
        </p:nvGraphicFramePr>
        <p:xfrm>
          <a:off x="7517296" y="1053042"/>
          <a:ext cx="3999192" cy="1554480"/>
        </p:xfrm>
        <a:graphic>
          <a:graphicData uri="http://schemas.openxmlformats.org/drawingml/2006/table">
            <a:tbl>
              <a:tblPr firstRow="1" bandRow="1">
                <a:tableStyleId>{5C22544A-7EE6-4342-B048-85BDC9FD1C3A}</a:tableStyleId>
              </a:tblPr>
              <a:tblGrid>
                <a:gridCol w="3999192">
                  <a:extLst>
                    <a:ext uri="{9D8B030D-6E8A-4147-A177-3AD203B41FA5}">
                      <a16:colId xmlns:a16="http://schemas.microsoft.com/office/drawing/2014/main" val="3518561318"/>
                    </a:ext>
                  </a:extLst>
                </a:gridCol>
              </a:tblGrid>
              <a:tr h="1474163">
                <a:tc>
                  <a:txBody>
                    <a:bodyPr/>
                    <a:lstStyle/>
                    <a:p>
                      <a:r>
                        <a:rPr lang="en-US" sz="3200" dirty="0"/>
                        <a:t>COMPUTER ORGANIZATION AND ARCHITECTURE</a:t>
                      </a:r>
                    </a:p>
                  </a:txBody>
                  <a:tcPr/>
                </a:tc>
                <a:extLst>
                  <a:ext uri="{0D108BD9-81ED-4DB2-BD59-A6C34878D82A}">
                    <a16:rowId xmlns:a16="http://schemas.microsoft.com/office/drawing/2014/main" val="1796247831"/>
                  </a:ext>
                </a:extLst>
              </a:tr>
            </a:tbl>
          </a:graphicData>
        </a:graphic>
      </p:graphicFrame>
    </p:spTree>
    <p:extLst>
      <p:ext uri="{BB962C8B-B14F-4D97-AF65-F5344CB8AC3E}">
        <p14:creationId xmlns:p14="http://schemas.microsoft.com/office/powerpoint/2010/main" val="1407932584"/>
      </p:ext>
    </p:extLst>
  </p:cSld>
  <p:clrMapOvr>
    <a:masterClrMapping/>
  </p:clrMapOvr>
  <mc:AlternateContent xmlns:mc="http://schemas.openxmlformats.org/markup-compatibility/2006" xmlns:p14="http://schemas.microsoft.com/office/powerpoint/2010/main">
    <mc:Choice Requires="p14">
      <p:transition spd="slow" p14:dur="2000" advTm="7530"/>
    </mc:Choice>
    <mc:Fallback xmlns="">
      <p:transition spd="slow" advTm="75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bwMode="auto">
          <a:xfrm>
            <a:off x="1681164" y="207963"/>
            <a:ext cx="8986837" cy="633412"/>
          </a:xfrm>
          <a:noFill/>
          <a:ln w="12700">
            <a:miter lim="800000"/>
            <a:headEnd/>
            <a:tailEnd/>
          </a:ln>
        </p:spPr>
        <p:txBody>
          <a:bodyPr vert="horz" wrap="square" lIns="63500" tIns="25400" rIns="63500" bIns="25400" numCol="1" rtlCol="0" anchor="ctr" anchorCtr="0" compatLnSpc="1">
            <a:prstTxWarp prst="textNoShape">
              <a:avLst/>
            </a:prstTxWarp>
            <a:normAutofit/>
          </a:bodyPr>
          <a:lstStyle/>
          <a:p>
            <a:r>
              <a:rPr lang="en-US" altLang="ko-KR" sz="2400"/>
              <a:t>MODES  OF  TRANSFER </a:t>
            </a:r>
            <a:r>
              <a:rPr lang="en-US" altLang="ko-KR" sz="2000"/>
              <a:t>- INTERRUPT  INITIATED  I/O &amp; DMA</a:t>
            </a:r>
            <a:r>
              <a:rPr lang="en-US" altLang="ko-KR" sz="1800"/>
              <a:t> </a:t>
            </a:r>
          </a:p>
        </p:txBody>
      </p:sp>
      <p:sp>
        <p:nvSpPr>
          <p:cNvPr id="21507" name="Rectangle 3"/>
          <p:cNvSpPr>
            <a:spLocks noChangeArrowheads="1"/>
          </p:cNvSpPr>
          <p:nvPr/>
        </p:nvSpPr>
        <p:spPr bwMode="auto">
          <a:xfrm>
            <a:off x="2895601" y="3570289"/>
            <a:ext cx="34925" cy="122237"/>
          </a:xfrm>
          <a:prstGeom prst="rect">
            <a:avLst/>
          </a:prstGeom>
          <a:noFill/>
          <a:ln w="12700">
            <a:noFill/>
            <a:miter lim="800000"/>
            <a:headEnd/>
            <a:tailEnd/>
          </a:ln>
          <a:effectLst/>
        </p:spPr>
        <p:txBody>
          <a:bodyPr wrap="none" anchor="ctr"/>
          <a:lstStyle/>
          <a:p>
            <a:endParaRPr lang="en-US"/>
          </a:p>
        </p:txBody>
      </p:sp>
      <p:sp>
        <p:nvSpPr>
          <p:cNvPr id="21508" name="Rectangle 4"/>
          <p:cNvSpPr>
            <a:spLocks noChangeArrowheads="1"/>
          </p:cNvSpPr>
          <p:nvPr/>
        </p:nvSpPr>
        <p:spPr bwMode="auto">
          <a:xfrm>
            <a:off x="1811338" y="3633789"/>
            <a:ext cx="2944460" cy="288797"/>
          </a:xfrm>
          <a:prstGeom prst="rect">
            <a:avLst/>
          </a:prstGeom>
          <a:noFill/>
          <a:ln w="12700">
            <a:noFill/>
            <a:miter lim="800000"/>
            <a:headEnd/>
            <a:tailEnd/>
          </a:ln>
          <a:effectLst/>
        </p:spPr>
        <p:txBody>
          <a:bodyPr wrap="none" lIns="63500" tIns="25400" rIns="63500" bIns="25400">
            <a:spAutoFit/>
          </a:bodyPr>
          <a:lstStyle/>
          <a:p>
            <a:pPr defTabSz="762000">
              <a:lnSpc>
                <a:spcPct val="85000"/>
              </a:lnSpc>
            </a:pPr>
            <a:r>
              <a:rPr lang="en-US" altLang="ko-KR"/>
              <a:t> DMA (Direct Memory Access)</a:t>
            </a:r>
          </a:p>
        </p:txBody>
      </p:sp>
      <p:sp>
        <p:nvSpPr>
          <p:cNvPr id="21509" name="Rectangle 5"/>
          <p:cNvSpPr>
            <a:spLocks noChangeArrowheads="1"/>
          </p:cNvSpPr>
          <p:nvPr/>
        </p:nvSpPr>
        <p:spPr bwMode="auto">
          <a:xfrm>
            <a:off x="2209801" y="3965576"/>
            <a:ext cx="7974013" cy="2395271"/>
          </a:xfrm>
          <a:prstGeom prst="rect">
            <a:avLst/>
          </a:prstGeom>
          <a:noFill/>
          <a:ln w="12700">
            <a:noFill/>
            <a:miter lim="800000"/>
            <a:headEnd/>
            <a:tailEnd/>
          </a:ln>
          <a:effectLst/>
        </p:spPr>
        <p:txBody>
          <a:bodyPr lIns="63500" tIns="25400" rIns="63500" bIns="25400">
            <a:spAutoFit/>
          </a:bodyPr>
          <a:lstStyle/>
          <a:p>
            <a:pPr marL="406400" indent="-406400" defTabSz="762000">
              <a:lnSpc>
                <a:spcPct val="80000"/>
              </a:lnSpc>
              <a:buFontTx/>
              <a:buChar char="•"/>
            </a:pPr>
            <a:r>
              <a:rPr lang="en-US" altLang="ko-KR" sz="1600"/>
              <a:t> Large blocks of data transferred at a high speed to or from high speed devices, magnetic drums, disks, tapes, etc.</a:t>
            </a:r>
          </a:p>
          <a:p>
            <a:pPr marL="406400" indent="-406400" defTabSz="762000">
              <a:lnSpc>
                <a:spcPct val="80000"/>
              </a:lnSpc>
            </a:pPr>
            <a:r>
              <a:rPr lang="en-US" altLang="ko-KR" sz="1000"/>
              <a:t> </a:t>
            </a:r>
          </a:p>
          <a:p>
            <a:pPr marL="406400" indent="-406400" defTabSz="762000">
              <a:lnSpc>
                <a:spcPct val="80000"/>
              </a:lnSpc>
              <a:buFontTx/>
              <a:buChar char="•"/>
            </a:pPr>
            <a:r>
              <a:rPr lang="en-US" altLang="ko-KR" sz="1600"/>
              <a:t>DMA controller </a:t>
            </a:r>
          </a:p>
          <a:p>
            <a:pPr marL="749300" lvl="1" indent="-177800" defTabSz="762000">
              <a:lnSpc>
                <a:spcPct val="80000"/>
              </a:lnSpc>
              <a:buFontTx/>
              <a:buChar char="•"/>
            </a:pPr>
            <a:r>
              <a:rPr lang="en-US" altLang="ko-KR" sz="1600"/>
              <a:t> Interface that provides I/O transfer of data directly to and from the memory and the I/O device</a:t>
            </a:r>
          </a:p>
          <a:p>
            <a:pPr marL="406400" indent="-406400" defTabSz="762000">
              <a:lnSpc>
                <a:spcPct val="80000"/>
              </a:lnSpc>
              <a:buFontTx/>
              <a:buChar char="•"/>
            </a:pPr>
            <a:endParaRPr lang="en-US" altLang="ko-KR" sz="1000"/>
          </a:p>
          <a:p>
            <a:pPr marL="406400" indent="-406400" defTabSz="762000">
              <a:lnSpc>
                <a:spcPct val="80000"/>
              </a:lnSpc>
              <a:buFontTx/>
              <a:buChar char="•"/>
            </a:pPr>
            <a:r>
              <a:rPr lang="en-US" altLang="ko-KR" sz="1600"/>
              <a:t>CPU initializes the DMA controller by sending a memory address and the number of words to be transferred</a:t>
            </a:r>
          </a:p>
          <a:p>
            <a:pPr marL="406400" indent="-406400" defTabSz="762000">
              <a:lnSpc>
                <a:spcPct val="80000"/>
              </a:lnSpc>
              <a:buFontTx/>
              <a:buChar char="•"/>
            </a:pPr>
            <a:endParaRPr lang="en-US" altLang="ko-KR" sz="1000"/>
          </a:p>
          <a:p>
            <a:pPr marL="406400" indent="-406400" defTabSz="762000">
              <a:lnSpc>
                <a:spcPct val="80000"/>
              </a:lnSpc>
              <a:buFontTx/>
              <a:buChar char="•"/>
            </a:pPr>
            <a:r>
              <a:rPr lang="en-US" altLang="ko-KR" sz="1600"/>
              <a:t>Actual transfer of data is done directly between the device and memory through DMA controller</a:t>
            </a:r>
          </a:p>
          <a:p>
            <a:pPr marL="749300" lvl="1" indent="-177800" defTabSz="762000">
              <a:lnSpc>
                <a:spcPct val="80000"/>
              </a:lnSpc>
              <a:buFontTx/>
              <a:buChar char="•"/>
            </a:pPr>
            <a:r>
              <a:rPr lang="en-US" altLang="ko-KR" sz="1600"/>
              <a:t>Freeing CPU for other tasks</a:t>
            </a:r>
          </a:p>
        </p:txBody>
      </p:sp>
      <p:sp>
        <p:nvSpPr>
          <p:cNvPr id="21510" name="Rectangle 6"/>
          <p:cNvSpPr>
            <a:spLocks noChangeArrowheads="1"/>
          </p:cNvSpPr>
          <p:nvPr/>
        </p:nvSpPr>
        <p:spPr bwMode="auto">
          <a:xfrm>
            <a:off x="2386014" y="4773614"/>
            <a:ext cx="34925" cy="193675"/>
          </a:xfrm>
          <a:prstGeom prst="rect">
            <a:avLst/>
          </a:prstGeom>
          <a:noFill/>
          <a:ln w="12700">
            <a:noFill/>
            <a:miter lim="800000"/>
            <a:headEnd/>
            <a:tailEnd/>
          </a:ln>
          <a:effectLst/>
        </p:spPr>
        <p:txBody>
          <a:bodyPr wrap="none" anchor="ctr"/>
          <a:lstStyle/>
          <a:p>
            <a:endParaRPr lang="en-US"/>
          </a:p>
        </p:txBody>
      </p:sp>
      <p:sp>
        <p:nvSpPr>
          <p:cNvPr id="21511" name="Rectangle 7"/>
          <p:cNvSpPr>
            <a:spLocks noChangeArrowheads="1"/>
          </p:cNvSpPr>
          <p:nvPr/>
        </p:nvSpPr>
        <p:spPr bwMode="auto">
          <a:xfrm>
            <a:off x="1879601" y="1147763"/>
            <a:ext cx="8437563" cy="2162900"/>
          </a:xfrm>
          <a:prstGeom prst="rect">
            <a:avLst/>
          </a:prstGeom>
          <a:noFill/>
          <a:ln w="25400">
            <a:noFill/>
            <a:miter lim="800000"/>
            <a:headEnd/>
            <a:tailEnd/>
          </a:ln>
          <a:effectLst/>
        </p:spPr>
        <p:txBody>
          <a:bodyPr lIns="90488" tIns="44450" rIns="90488" bIns="44450">
            <a:spAutoFit/>
          </a:bodyPr>
          <a:lstStyle/>
          <a:p>
            <a:pPr marL="635000" lvl="1" indent="-406400" defTabSz="762000">
              <a:lnSpc>
                <a:spcPct val="80000"/>
              </a:lnSpc>
              <a:buFontTx/>
              <a:buChar char="•"/>
            </a:pPr>
            <a:r>
              <a:rPr lang="en-US" altLang="ko-KR" sz="1600" dirty="0"/>
              <a:t> Polling takes valuable CPU time</a:t>
            </a:r>
          </a:p>
          <a:p>
            <a:pPr marL="635000" lvl="1" indent="-406400" defTabSz="762000">
              <a:lnSpc>
                <a:spcPct val="80000"/>
              </a:lnSpc>
            </a:pPr>
            <a:endParaRPr lang="en-US" altLang="ko-KR" sz="1000" dirty="0"/>
          </a:p>
          <a:p>
            <a:pPr marL="635000" lvl="1" indent="-406400" defTabSz="762000">
              <a:lnSpc>
                <a:spcPct val="80000"/>
              </a:lnSpc>
              <a:buFontTx/>
              <a:buChar char="•"/>
            </a:pPr>
            <a:r>
              <a:rPr lang="en-US" altLang="ko-KR" sz="1600" dirty="0"/>
              <a:t>Open communication only when some data has to be passed  </a:t>
            </a:r>
            <a:r>
              <a:rPr lang="en-US" altLang="ko-KR" sz="1600" i="1" dirty="0"/>
              <a:t>-&gt; Interrupt</a:t>
            </a:r>
            <a:r>
              <a:rPr lang="en-US" altLang="ko-KR" sz="1600" dirty="0"/>
              <a:t>.</a:t>
            </a:r>
          </a:p>
          <a:p>
            <a:pPr marL="635000" lvl="1" indent="-406400" defTabSz="762000">
              <a:lnSpc>
                <a:spcPct val="80000"/>
              </a:lnSpc>
              <a:buFontTx/>
              <a:buChar char="•"/>
            </a:pPr>
            <a:endParaRPr lang="en-US" altLang="ko-KR" sz="1000" dirty="0"/>
          </a:p>
          <a:p>
            <a:pPr marL="635000" lvl="1" indent="-406400" defTabSz="762000">
              <a:lnSpc>
                <a:spcPct val="80000"/>
              </a:lnSpc>
              <a:buFontTx/>
              <a:buChar char="•"/>
            </a:pPr>
            <a:r>
              <a:rPr lang="en-US" altLang="ko-KR" sz="1600" dirty="0"/>
              <a:t> I/O interface, instead of the CPU, monitors the I/O device</a:t>
            </a:r>
          </a:p>
          <a:p>
            <a:pPr marL="635000" lvl="1" indent="-406400" defTabSz="762000">
              <a:lnSpc>
                <a:spcPct val="80000"/>
              </a:lnSpc>
              <a:buFontTx/>
              <a:buChar char="•"/>
            </a:pPr>
            <a:endParaRPr lang="en-US" altLang="ko-KR" sz="1000" dirty="0"/>
          </a:p>
          <a:p>
            <a:pPr marL="635000" lvl="1" indent="-406400" defTabSz="762000">
              <a:lnSpc>
                <a:spcPct val="80000"/>
              </a:lnSpc>
              <a:buFontTx/>
              <a:buChar char="•"/>
            </a:pPr>
            <a:r>
              <a:rPr lang="en-US" altLang="ko-KR" sz="1600" dirty="0"/>
              <a:t> When the interface determines that the I/O device is ready for data transfer, it generates an </a:t>
            </a:r>
            <a:r>
              <a:rPr lang="en-US" altLang="ko-KR" sz="1600" i="1" dirty="0"/>
              <a:t>Interrupt Request</a:t>
            </a:r>
            <a:r>
              <a:rPr lang="en-US" altLang="ko-KR" sz="1600" dirty="0"/>
              <a:t>  to the CPU </a:t>
            </a:r>
          </a:p>
          <a:p>
            <a:pPr marL="635000" lvl="1" indent="-406400" defTabSz="762000">
              <a:lnSpc>
                <a:spcPct val="80000"/>
              </a:lnSpc>
              <a:buFontTx/>
              <a:buChar char="•"/>
            </a:pPr>
            <a:endParaRPr lang="en-US" altLang="ko-KR" sz="1000" dirty="0"/>
          </a:p>
          <a:p>
            <a:pPr marL="635000" lvl="1" indent="-406400" defTabSz="762000">
              <a:lnSpc>
                <a:spcPct val="80000"/>
              </a:lnSpc>
              <a:buFontTx/>
              <a:buChar char="•"/>
            </a:pPr>
            <a:r>
              <a:rPr lang="en-US" altLang="ko-KR" sz="1600" dirty="0"/>
              <a:t>Upon detecting an interrupt, CPU stops momentarily the task it is doing, branches to the service routine to process the data transfer, and then returns to the task it was performing</a:t>
            </a:r>
          </a:p>
          <a:p>
            <a:pPr defTabSz="762000" latinLnBrk="1">
              <a:lnSpc>
                <a:spcPct val="80000"/>
              </a:lnSpc>
              <a:buFontTx/>
              <a:buChar char="•"/>
            </a:pPr>
            <a:endParaRPr lang="en-US" altLang="ko-KR" sz="1600" dirty="0"/>
          </a:p>
        </p:txBody>
      </p:sp>
      <p:sp>
        <p:nvSpPr>
          <p:cNvPr id="21512" name="Rectangle 8"/>
          <p:cNvSpPr>
            <a:spLocks noChangeArrowheads="1"/>
          </p:cNvSpPr>
          <p:nvPr/>
        </p:nvSpPr>
        <p:spPr bwMode="auto">
          <a:xfrm>
            <a:off x="1849438" y="823913"/>
            <a:ext cx="2323714" cy="316882"/>
          </a:xfrm>
          <a:prstGeom prst="rect">
            <a:avLst/>
          </a:prstGeom>
          <a:noFill/>
          <a:ln w="25400">
            <a:noFill/>
            <a:miter lim="800000"/>
            <a:headEnd/>
            <a:tailEnd/>
          </a:ln>
          <a:effectLst/>
        </p:spPr>
        <p:txBody>
          <a:bodyPr wrap="none" lIns="90488" tIns="44450" rIns="90488" bIns="44450">
            <a:spAutoFit/>
          </a:bodyPr>
          <a:lstStyle/>
          <a:p>
            <a:pPr defTabSz="762000">
              <a:lnSpc>
                <a:spcPct val="80000"/>
              </a:lnSpc>
            </a:pPr>
            <a:r>
              <a:rPr lang="en-US" altLang="ko-KR"/>
              <a:t>Interrupt  Initiated  I/O</a:t>
            </a:r>
          </a:p>
        </p:txBody>
      </p:sp>
      <p:sp>
        <p:nvSpPr>
          <p:cNvPr id="21513" name="Rectangle 9"/>
          <p:cNvSpPr>
            <a:spLocks noChangeArrowheads="1"/>
          </p:cNvSpPr>
          <p:nvPr/>
        </p:nvSpPr>
        <p:spPr bwMode="auto">
          <a:xfrm>
            <a:off x="9053513" y="0"/>
            <a:ext cx="1497013" cy="305212"/>
          </a:xfrm>
          <a:prstGeom prst="rect">
            <a:avLst/>
          </a:prstGeom>
          <a:noFill/>
          <a:ln w="25400">
            <a:noFill/>
            <a:miter lim="800000"/>
            <a:headEnd/>
            <a:tailEnd/>
          </a:ln>
          <a:effectLst/>
        </p:spPr>
        <p:txBody>
          <a:bodyPr wrap="none" lIns="90488" tIns="44450" rIns="90488" bIns="44450">
            <a:spAutoFit/>
          </a:bodyPr>
          <a:lstStyle/>
          <a:p>
            <a:pPr algn="r" defTabSz="762000"/>
            <a:r>
              <a:rPr lang="en-US" altLang="ko-KR" sz="1400" i="1"/>
              <a:t>Modes of Transfer</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1138"/>
            <a:ext cx="8229600" cy="398462"/>
          </a:xfrm>
        </p:spPr>
        <p:txBody>
          <a:bodyPr>
            <a:normAutofit fontScale="90000"/>
          </a:bodyPr>
          <a:lstStyle/>
          <a:p>
            <a:r>
              <a:rPr lang="en-US" dirty="0"/>
              <a:t>Interrupt Driven I/O</a:t>
            </a:r>
          </a:p>
        </p:txBody>
      </p:sp>
      <p:pic>
        <p:nvPicPr>
          <p:cNvPr id="5122" name="Picture 2"/>
          <p:cNvPicPr>
            <a:picLocks noChangeAspect="1" noChangeArrowheads="1"/>
          </p:cNvPicPr>
          <p:nvPr/>
        </p:nvPicPr>
        <p:blipFill>
          <a:blip r:embed="rId2"/>
          <a:srcRect/>
          <a:stretch>
            <a:fillRect/>
          </a:stretch>
        </p:blipFill>
        <p:spPr bwMode="auto">
          <a:xfrm>
            <a:off x="2136775" y="885825"/>
            <a:ext cx="3143250" cy="5695950"/>
          </a:xfrm>
          <a:prstGeom prst="rect">
            <a:avLst/>
          </a:prstGeom>
          <a:noFill/>
          <a:ln w="9525">
            <a:noFill/>
            <a:miter lim="800000"/>
            <a:headEnd/>
            <a:tailEnd/>
          </a:ln>
          <a:effectLst/>
        </p:spPr>
      </p:pic>
      <p:sp>
        <p:nvSpPr>
          <p:cNvPr id="5" name="TextBox 4"/>
          <p:cNvSpPr txBox="1"/>
          <p:nvPr/>
        </p:nvSpPr>
        <p:spPr>
          <a:xfrm>
            <a:off x="5994400" y="1333500"/>
            <a:ext cx="3987800" cy="1754326"/>
          </a:xfrm>
          <a:prstGeom prst="rect">
            <a:avLst/>
          </a:prstGeom>
          <a:noFill/>
        </p:spPr>
        <p:txBody>
          <a:bodyPr wrap="square" rtlCol="0">
            <a:spAutoFit/>
          </a:bodyPr>
          <a:lstStyle/>
          <a:p>
            <a:pPr marL="292100" indent="-292100">
              <a:buFont typeface="Arial" pitchFamily="34" charset="0"/>
              <a:buChar char="•"/>
            </a:pPr>
            <a:r>
              <a:rPr lang="en-US" dirty="0"/>
              <a:t>Interrupt Service Routine (ISR)</a:t>
            </a:r>
          </a:p>
          <a:p>
            <a:pPr marL="749300" lvl="1" indent="-292100">
              <a:buFont typeface="Arial" pitchFamily="34" charset="0"/>
              <a:buChar char="•"/>
            </a:pPr>
            <a:r>
              <a:rPr lang="en-US" dirty="0"/>
              <a:t>Vectored Interrupt</a:t>
            </a:r>
          </a:p>
          <a:p>
            <a:pPr marL="749300" lvl="1" indent="-292100">
              <a:buFont typeface="Arial" pitchFamily="34" charset="0"/>
              <a:buChar char="•"/>
            </a:pPr>
            <a:r>
              <a:rPr lang="en-US" dirty="0"/>
              <a:t>Non-vectored Interrupt</a:t>
            </a:r>
          </a:p>
          <a:p>
            <a:pPr marL="292100" indent="-292100">
              <a:buFont typeface="Arial" pitchFamily="34" charset="0"/>
              <a:buChar char="•"/>
            </a:pPr>
            <a:r>
              <a:rPr lang="en-US" dirty="0"/>
              <a:t>Priority of Interrupts</a:t>
            </a:r>
          </a:p>
          <a:p>
            <a:pPr marL="749300" lvl="1" indent="-292100">
              <a:buFont typeface="Arial" pitchFamily="34" charset="0"/>
              <a:buChar char="•"/>
            </a:pPr>
            <a:r>
              <a:rPr lang="en-US" dirty="0" err="1"/>
              <a:t>Maskable</a:t>
            </a:r>
            <a:r>
              <a:rPr lang="en-US" dirty="0"/>
              <a:t> Interrupts</a:t>
            </a:r>
          </a:p>
          <a:p>
            <a:pPr marL="749300" lvl="1" indent="-292100">
              <a:buFont typeface="Arial" pitchFamily="34" charset="0"/>
              <a:buChar char="•"/>
            </a:pPr>
            <a:r>
              <a:rPr lang="en-US" dirty="0"/>
              <a:t>Non </a:t>
            </a:r>
            <a:r>
              <a:rPr lang="en-US" dirty="0" err="1"/>
              <a:t>Maskable</a:t>
            </a:r>
            <a:r>
              <a:rPr lang="en-US" dirty="0"/>
              <a:t> Interrupts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1524000" y="198439"/>
            <a:ext cx="9004300" cy="606425"/>
          </a:xfrm>
          <a:noFill/>
          <a:ln w="12700">
            <a:miter lim="800000"/>
            <a:headEnd/>
            <a:tailEnd/>
          </a:ln>
        </p:spPr>
        <p:txBody>
          <a:bodyPr vert="horz" wrap="square" lIns="63500" tIns="25400" rIns="63500" bIns="25400" numCol="1" rtlCol="0" anchor="ctr" anchorCtr="0" compatLnSpc="1">
            <a:prstTxWarp prst="textNoShape">
              <a:avLst/>
            </a:prstTxWarp>
            <a:normAutofit/>
          </a:bodyPr>
          <a:lstStyle/>
          <a:p>
            <a:r>
              <a:rPr lang="en-US" altLang="ko-KR" sz="2800" dirty="0"/>
              <a:t>Interrupts and ISR</a:t>
            </a:r>
          </a:p>
        </p:txBody>
      </p:sp>
      <p:sp>
        <p:nvSpPr>
          <p:cNvPr id="22532" name="Rectangle 4"/>
          <p:cNvSpPr>
            <a:spLocks noChangeArrowheads="1"/>
          </p:cNvSpPr>
          <p:nvPr/>
        </p:nvSpPr>
        <p:spPr bwMode="auto">
          <a:xfrm>
            <a:off x="1768475" y="792163"/>
            <a:ext cx="8699500" cy="6183744"/>
          </a:xfrm>
          <a:prstGeom prst="rect">
            <a:avLst/>
          </a:prstGeom>
          <a:noFill/>
          <a:ln w="25400">
            <a:noFill/>
            <a:miter lim="800000"/>
            <a:headEnd/>
            <a:tailEnd/>
          </a:ln>
          <a:effectLst/>
        </p:spPr>
        <p:txBody>
          <a:bodyPr lIns="90488" tIns="44450" rIns="90488" bIns="44450">
            <a:spAutoFit/>
          </a:bodyPr>
          <a:lstStyle/>
          <a:p>
            <a:pPr defTabSz="762000"/>
            <a:r>
              <a:rPr lang="en-US" altLang="ko-KR" dirty="0"/>
              <a:t>In a number of conditions the processor may be interrupted from its normal processing activity. Some of these conditions are :</a:t>
            </a:r>
          </a:p>
          <a:p>
            <a:pPr defTabSz="762000"/>
            <a:endParaRPr lang="en-US" altLang="ko-KR" dirty="0"/>
          </a:p>
          <a:p>
            <a:pPr marL="342900" indent="-342900" defTabSz="762000">
              <a:buFont typeface="+mj-lt"/>
              <a:buAutoNum type="arabicPeriod"/>
            </a:pPr>
            <a:r>
              <a:rPr lang="en-US" altLang="ko-KR" dirty="0"/>
              <a:t>Power failure as detected by a sensor</a:t>
            </a:r>
          </a:p>
          <a:p>
            <a:pPr marL="342900" indent="-342900" defTabSz="762000">
              <a:buFont typeface="+mj-lt"/>
              <a:buAutoNum type="arabicPeriod"/>
            </a:pPr>
            <a:r>
              <a:rPr lang="en-US" altLang="ko-KR" dirty="0"/>
              <a:t>Arithmetic conditions such as </a:t>
            </a:r>
            <a:r>
              <a:rPr lang="en-US" altLang="ko-KR" dirty="0" err="1"/>
              <a:t>overﬂow</a:t>
            </a:r>
            <a:r>
              <a:rPr lang="en-US" altLang="ko-KR" dirty="0"/>
              <a:t> and </a:t>
            </a:r>
            <a:r>
              <a:rPr lang="en-US" altLang="ko-KR" dirty="0" err="1"/>
              <a:t>underﬂow</a:t>
            </a:r>
            <a:endParaRPr lang="en-US" altLang="ko-KR" dirty="0"/>
          </a:p>
          <a:p>
            <a:pPr marL="342900" indent="-342900" defTabSz="762000">
              <a:buFont typeface="+mj-lt"/>
              <a:buAutoNum type="arabicPeriod"/>
            </a:pPr>
            <a:r>
              <a:rPr lang="en-US" altLang="ko-KR" dirty="0"/>
              <a:t>Illegal data or illegal instruction code</a:t>
            </a:r>
          </a:p>
          <a:p>
            <a:pPr marL="342900" indent="-342900" defTabSz="762000">
              <a:buFont typeface="+mj-lt"/>
              <a:buAutoNum type="arabicPeriod"/>
            </a:pPr>
            <a:r>
              <a:rPr lang="en-US" altLang="ko-KR" dirty="0"/>
              <a:t>Errors in data transmission and storage</a:t>
            </a:r>
          </a:p>
          <a:p>
            <a:pPr marL="342900" indent="-342900" defTabSz="762000">
              <a:buFont typeface="+mj-lt"/>
              <a:buAutoNum type="arabicPeriod"/>
            </a:pPr>
            <a:r>
              <a:rPr lang="en-US" altLang="ko-KR" dirty="0"/>
              <a:t>Software-generated interrupts (as intended by the user)</a:t>
            </a:r>
          </a:p>
          <a:p>
            <a:pPr marL="342900" indent="-342900" defTabSz="762000">
              <a:buFont typeface="+mj-lt"/>
              <a:buAutoNum type="arabicPeriod"/>
            </a:pPr>
            <a:r>
              <a:rPr lang="en-US" altLang="ko-KR" dirty="0"/>
              <a:t>Normal completion of asynchronous transfer.</a:t>
            </a:r>
          </a:p>
          <a:p>
            <a:pPr defTabSz="762000"/>
            <a:endParaRPr lang="en-US" altLang="ko-KR" dirty="0"/>
          </a:p>
          <a:p>
            <a:pPr defTabSz="762000"/>
            <a:r>
              <a:rPr lang="en-US" altLang="ko-KR" dirty="0"/>
              <a:t>An interrupt service routine is a program preloaded into the machine memory that performs the following functions:</a:t>
            </a:r>
          </a:p>
          <a:p>
            <a:pPr defTabSz="762000"/>
            <a:endParaRPr lang="en-US" altLang="ko-KR" dirty="0"/>
          </a:p>
          <a:p>
            <a:pPr marL="342900" indent="-342900" defTabSz="762000">
              <a:buFont typeface="+mj-lt"/>
              <a:buAutoNum type="arabicPeriod"/>
            </a:pPr>
            <a:r>
              <a:rPr lang="en-US" altLang="ko-KR" dirty="0"/>
              <a:t>Disables further interrupts temporarily.</a:t>
            </a:r>
          </a:p>
          <a:p>
            <a:pPr marL="342900" indent="-342900" defTabSz="762000">
              <a:buFont typeface="+mj-lt"/>
              <a:buAutoNum type="arabicPeriod"/>
            </a:pPr>
            <a:r>
              <a:rPr lang="en-US" altLang="ko-KR" dirty="0"/>
              <a:t>Saves the processor status (all registers).</a:t>
            </a:r>
          </a:p>
          <a:p>
            <a:pPr marL="342900" indent="-342900" defTabSz="762000">
              <a:buFont typeface="+mj-lt"/>
              <a:buAutoNum type="arabicPeriod"/>
            </a:pPr>
            <a:r>
              <a:rPr lang="en-US" altLang="ko-KR" dirty="0"/>
              <a:t>Enables further interrupts.</a:t>
            </a:r>
          </a:p>
          <a:p>
            <a:pPr marL="342900" indent="-342900" defTabSz="762000">
              <a:buFont typeface="+mj-lt"/>
              <a:buAutoNum type="arabicPeriod"/>
            </a:pPr>
            <a:r>
              <a:rPr lang="en-US" altLang="ko-KR" dirty="0"/>
              <a:t>Determines the cause of interrupt.</a:t>
            </a:r>
          </a:p>
          <a:p>
            <a:pPr marL="342900" indent="-342900" defTabSz="762000">
              <a:buFont typeface="+mj-lt"/>
              <a:buAutoNum type="arabicPeriod"/>
            </a:pPr>
            <a:r>
              <a:rPr lang="en-US" altLang="ko-KR" dirty="0"/>
              <a:t>Services the interrupt.</a:t>
            </a:r>
          </a:p>
          <a:p>
            <a:pPr marL="342900" indent="-342900" defTabSz="762000">
              <a:buFont typeface="+mj-lt"/>
              <a:buAutoNum type="arabicPeriod"/>
            </a:pPr>
            <a:r>
              <a:rPr lang="en-US" altLang="ko-KR" dirty="0"/>
              <a:t>Disables interrupts.</a:t>
            </a:r>
          </a:p>
          <a:p>
            <a:pPr marL="342900" indent="-342900" defTabSz="762000">
              <a:buFont typeface="+mj-lt"/>
              <a:buAutoNum type="arabicPeriod"/>
            </a:pPr>
            <a:r>
              <a:rPr lang="en-US" altLang="ko-KR" dirty="0"/>
              <a:t>Restores processor status.</a:t>
            </a:r>
          </a:p>
          <a:p>
            <a:pPr marL="342900" indent="-342900" defTabSz="762000">
              <a:buFont typeface="+mj-lt"/>
              <a:buAutoNum type="arabicPeriod"/>
            </a:pPr>
            <a:r>
              <a:rPr lang="en-US" altLang="ko-KR" dirty="0"/>
              <a:t>Enables further interrupts.</a:t>
            </a:r>
          </a:p>
          <a:p>
            <a:pPr marL="342900" indent="-342900" defTabSz="762000">
              <a:buFont typeface="+mj-lt"/>
              <a:buAutoNum type="arabicPeriod"/>
            </a:pPr>
            <a:r>
              <a:rPr lang="en-US" altLang="ko-KR" dirty="0"/>
              <a:t>Returns from interrupt.</a:t>
            </a:r>
          </a:p>
        </p:txBody>
      </p:sp>
      <p:sp>
        <p:nvSpPr>
          <p:cNvPr id="22533" name="Rectangle 5"/>
          <p:cNvSpPr>
            <a:spLocks noChangeArrowheads="1"/>
          </p:cNvSpPr>
          <p:nvPr/>
        </p:nvSpPr>
        <p:spPr bwMode="auto">
          <a:xfrm>
            <a:off x="2174876" y="4838701"/>
            <a:ext cx="4748213" cy="227013"/>
          </a:xfrm>
          <a:prstGeom prst="rect">
            <a:avLst/>
          </a:prstGeom>
          <a:noFill/>
          <a:ln w="12700">
            <a:noFill/>
            <a:miter lim="800000"/>
            <a:headEnd/>
            <a:tailEnd/>
          </a:ln>
          <a:effectLst/>
        </p:spPr>
        <p:txBody>
          <a:bodyPr wrap="none" anchor="ctr"/>
          <a:lstStyle/>
          <a:p>
            <a:endParaRPr lang="en-US"/>
          </a:p>
        </p:txBody>
      </p:sp>
      <p:sp>
        <p:nvSpPr>
          <p:cNvPr id="22534" name="Rectangle 6"/>
          <p:cNvSpPr>
            <a:spLocks noChangeArrowheads="1"/>
          </p:cNvSpPr>
          <p:nvPr/>
        </p:nvSpPr>
        <p:spPr bwMode="auto">
          <a:xfrm>
            <a:off x="9147528" y="0"/>
            <a:ext cx="1401410" cy="305212"/>
          </a:xfrm>
          <a:prstGeom prst="rect">
            <a:avLst/>
          </a:prstGeom>
          <a:noFill/>
          <a:ln w="25400">
            <a:noFill/>
            <a:miter lim="800000"/>
            <a:headEnd/>
            <a:tailEnd/>
          </a:ln>
          <a:effectLst/>
        </p:spPr>
        <p:txBody>
          <a:bodyPr wrap="none" lIns="90488" tIns="44450" rIns="90488" bIns="44450">
            <a:spAutoFit/>
          </a:bodyPr>
          <a:lstStyle/>
          <a:p>
            <a:pPr algn="r" defTabSz="762000"/>
            <a:r>
              <a:rPr lang="en-US" altLang="ko-KR" sz="1400" i="1"/>
              <a:t>Priority Interrupt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1138"/>
            <a:ext cx="8229600" cy="474662"/>
          </a:xfrm>
        </p:spPr>
        <p:txBody>
          <a:bodyPr>
            <a:normAutofit fontScale="90000"/>
          </a:bodyPr>
          <a:lstStyle/>
          <a:p>
            <a:r>
              <a:rPr lang="en-US" dirty="0"/>
              <a:t>Direct Memory Access</a:t>
            </a:r>
          </a:p>
        </p:txBody>
      </p:sp>
      <p:pic>
        <p:nvPicPr>
          <p:cNvPr id="6146" name="Picture 2"/>
          <p:cNvPicPr>
            <a:picLocks noChangeAspect="1" noChangeArrowheads="1"/>
          </p:cNvPicPr>
          <p:nvPr/>
        </p:nvPicPr>
        <p:blipFill>
          <a:blip r:embed="rId2"/>
          <a:srcRect/>
          <a:stretch>
            <a:fillRect/>
          </a:stretch>
        </p:blipFill>
        <p:spPr bwMode="auto">
          <a:xfrm>
            <a:off x="3862389" y="1228725"/>
            <a:ext cx="4619625" cy="1733550"/>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2714625" y="3057525"/>
            <a:ext cx="6686550" cy="318135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1138"/>
            <a:ext cx="8229600" cy="474662"/>
          </a:xfrm>
        </p:spPr>
        <p:txBody>
          <a:bodyPr>
            <a:normAutofit fontScale="90000"/>
          </a:bodyPr>
          <a:lstStyle/>
          <a:p>
            <a:r>
              <a:rPr lang="en-US" dirty="0"/>
              <a:t>Direct Memory Access</a:t>
            </a:r>
          </a:p>
        </p:txBody>
      </p:sp>
      <p:pic>
        <p:nvPicPr>
          <p:cNvPr id="8195" name="Picture 3"/>
          <p:cNvPicPr>
            <a:picLocks noChangeAspect="1" noChangeArrowheads="1"/>
          </p:cNvPicPr>
          <p:nvPr/>
        </p:nvPicPr>
        <p:blipFill>
          <a:blip r:embed="rId2"/>
          <a:srcRect/>
          <a:stretch>
            <a:fillRect/>
          </a:stretch>
        </p:blipFill>
        <p:spPr bwMode="auto">
          <a:xfrm>
            <a:off x="1789114" y="947739"/>
            <a:ext cx="6581775" cy="3133725"/>
          </a:xfrm>
          <a:prstGeom prst="rect">
            <a:avLst/>
          </a:prstGeom>
          <a:noFill/>
          <a:ln w="9525">
            <a:noFill/>
            <a:miter lim="800000"/>
            <a:headEnd/>
            <a:tailEnd/>
          </a:ln>
          <a:effectLst/>
        </p:spPr>
      </p:pic>
      <p:sp>
        <p:nvSpPr>
          <p:cNvPr id="7" name="Rectangle 6"/>
          <p:cNvSpPr/>
          <p:nvPr/>
        </p:nvSpPr>
        <p:spPr>
          <a:xfrm>
            <a:off x="1790700" y="4382041"/>
            <a:ext cx="8597900" cy="2086725"/>
          </a:xfrm>
          <a:prstGeom prst="rect">
            <a:avLst/>
          </a:prstGeom>
        </p:spPr>
        <p:txBody>
          <a:bodyPr wrap="square">
            <a:spAutoFit/>
          </a:bodyPr>
          <a:lstStyle/>
          <a:p>
            <a:r>
              <a:rPr lang="en-US" sz="1600" dirty="0"/>
              <a:t>The DMA controller is a piece of hardware that controls one or more peripheral devices. It allows devices to transfer data to or from the system’s memory without the help of the processor. In a typical DMA transfer, some event </a:t>
            </a:r>
            <a:r>
              <a:rPr lang="en-US" sz="1600" dirty="0" err="1"/>
              <a:t>notiﬁes</a:t>
            </a:r>
            <a:r>
              <a:rPr lang="en-US" sz="1600" dirty="0"/>
              <a:t> the DMA controller that data needs to be transferred to or from memory. Both the DMA and CPU use memory bus and only one or the other can use the memory at the same time. The DMA controller then sends a request to the CPU asking its permission to use the bus. The CPU returns an acknowledgment to the DMA controller granting it bus access. The DMA can now take control of the bus to independently conduct memory transfer. When the transfer is complete the DMA relinquishes its control of the bus to the CPU.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1138"/>
            <a:ext cx="8229600" cy="474662"/>
          </a:xfrm>
        </p:spPr>
        <p:txBody>
          <a:bodyPr>
            <a:normAutofit fontScale="90000"/>
          </a:bodyPr>
          <a:lstStyle/>
          <a:p>
            <a:r>
              <a:rPr lang="en-US" dirty="0"/>
              <a:t>Direct Memory Access</a:t>
            </a:r>
          </a:p>
        </p:txBody>
      </p:sp>
      <p:pic>
        <p:nvPicPr>
          <p:cNvPr id="7170" name="Picture 2"/>
          <p:cNvPicPr>
            <a:picLocks noChangeAspect="1" noChangeArrowheads="1"/>
          </p:cNvPicPr>
          <p:nvPr/>
        </p:nvPicPr>
        <p:blipFill>
          <a:blip r:embed="rId2"/>
          <a:srcRect/>
          <a:stretch>
            <a:fillRect/>
          </a:stretch>
        </p:blipFill>
        <p:spPr bwMode="auto">
          <a:xfrm>
            <a:off x="4048125" y="981075"/>
            <a:ext cx="4095750" cy="489585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1138"/>
            <a:ext cx="8229600" cy="474662"/>
          </a:xfrm>
        </p:spPr>
        <p:txBody>
          <a:bodyPr>
            <a:normAutofit fontScale="90000"/>
          </a:bodyPr>
          <a:lstStyle/>
          <a:p>
            <a:r>
              <a:rPr lang="en-US" dirty="0"/>
              <a:t>Typical DMA Operation</a:t>
            </a:r>
          </a:p>
        </p:txBody>
      </p:sp>
      <p:sp>
        <p:nvSpPr>
          <p:cNvPr id="4" name="Rectangle 3"/>
          <p:cNvSpPr/>
          <p:nvPr/>
        </p:nvSpPr>
        <p:spPr>
          <a:xfrm>
            <a:off x="1892300" y="890943"/>
            <a:ext cx="8496300" cy="4647426"/>
          </a:xfrm>
          <a:prstGeom prst="rect">
            <a:avLst/>
          </a:prstGeom>
        </p:spPr>
        <p:txBody>
          <a:bodyPr wrap="square">
            <a:spAutoFit/>
          </a:bodyPr>
          <a:lstStyle/>
          <a:p>
            <a:endParaRPr lang="en-US" dirty="0"/>
          </a:p>
          <a:p>
            <a:pPr marL="228600" indent="-228600">
              <a:buFont typeface="+mj-lt"/>
              <a:buAutoNum type="arabicPeriod"/>
            </a:pPr>
            <a:r>
              <a:rPr lang="en-US" dirty="0"/>
              <a:t>The processor initiates the DMA controller by identifying the I/O device and supplying the memory address, byte count, and type of operation (input or output). This is referred to as channel initialization.   Once initialized, the channel is ready for data transfer between the associated I/O device and memory.</a:t>
            </a:r>
          </a:p>
          <a:p>
            <a:pPr marL="228600" indent="-228600">
              <a:buFont typeface="+mj-lt"/>
              <a:buAutoNum type="arabicPeriod"/>
            </a:pPr>
            <a:endParaRPr lang="en-US" dirty="0"/>
          </a:p>
          <a:p>
            <a:pPr marL="228600" indent="-228600">
              <a:buFont typeface="+mj-lt"/>
              <a:buAutoNum type="arabicPeriod"/>
            </a:pPr>
            <a:r>
              <a:rPr lang="en-US" dirty="0"/>
              <a:t>When the I/O device is ready to transfer data, it informs the DMA controller. The DMA controller starts the transfer operation. This step consists of the following </a:t>
            </a:r>
            <a:r>
              <a:rPr lang="en-US" dirty="0" err="1"/>
              <a:t>substeps</a:t>
            </a:r>
            <a:r>
              <a:rPr lang="en-US" dirty="0"/>
              <a:t>. </a:t>
            </a:r>
          </a:p>
          <a:p>
            <a:pPr marL="800100" lvl="1" indent="-342900">
              <a:buFont typeface="+mj-lt"/>
              <a:buAutoNum type="alphaLcParenR"/>
            </a:pPr>
            <a:r>
              <a:rPr lang="en-US" sz="1600" dirty="0"/>
              <a:t>Obtain the bus by going through the bus arbitration process </a:t>
            </a:r>
          </a:p>
          <a:p>
            <a:pPr marL="800100" lvl="1" indent="-342900">
              <a:buFont typeface="+mj-lt"/>
              <a:buAutoNum type="alphaLcParenR"/>
            </a:pPr>
            <a:r>
              <a:rPr lang="en-US" sz="1600" dirty="0"/>
              <a:t>Place the memory address and generate the appropriate read and write control signals; </a:t>
            </a:r>
          </a:p>
          <a:p>
            <a:pPr marL="800100" lvl="1" indent="-342900">
              <a:buFont typeface="+mj-lt"/>
              <a:buAutoNum type="alphaLcParenR"/>
            </a:pPr>
            <a:r>
              <a:rPr lang="en-US" sz="1600" dirty="0"/>
              <a:t>Complete the transfer and release the bus for use by the processor or other DMA devices; </a:t>
            </a:r>
          </a:p>
          <a:p>
            <a:pPr marL="800100" lvl="1" indent="-342900">
              <a:buFont typeface="+mj-lt"/>
              <a:buAutoNum type="alphaLcParenR"/>
            </a:pPr>
            <a:r>
              <a:rPr lang="en-US" sz="1600" dirty="0"/>
              <a:t>Update the memory address and count value; </a:t>
            </a:r>
          </a:p>
          <a:p>
            <a:pPr marL="800100" lvl="1" indent="-342900">
              <a:buFont typeface="+mj-lt"/>
              <a:buAutoNum type="alphaLcParenR"/>
            </a:pPr>
            <a:r>
              <a:rPr lang="en-US" sz="1600" dirty="0"/>
              <a:t>If more bytes are to be transferred, repeat the loop from Step (a). </a:t>
            </a:r>
          </a:p>
          <a:p>
            <a:pPr marL="228600" indent="-228600">
              <a:buFont typeface="+mj-lt"/>
              <a:buAutoNum type="arabicPeriod"/>
            </a:pPr>
            <a:endParaRPr lang="en-US" dirty="0"/>
          </a:p>
          <a:p>
            <a:pPr marL="228600" indent="-228600">
              <a:buFont typeface="+mj-lt"/>
              <a:buAutoNum type="arabicPeriod"/>
            </a:pPr>
            <a:r>
              <a:rPr lang="en-US" dirty="0"/>
              <a:t>After completing the operation, the processor is </a:t>
            </a:r>
            <a:r>
              <a:rPr lang="en-US" dirty="0" err="1"/>
              <a:t>notiﬁed</a:t>
            </a:r>
            <a:r>
              <a:rPr lang="en-US" dirty="0"/>
              <a:t>.  This </a:t>
            </a:r>
            <a:r>
              <a:rPr lang="en-US" dirty="0" err="1"/>
              <a:t>notiﬁcation</a:t>
            </a:r>
            <a:r>
              <a:rPr lang="en-US" dirty="0"/>
              <a:t> is done by an interrupt mechanism.  The processor can then check the status of the transfer (i.e., successful or failure).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Image result for thank you pic for ppt">
            <a:extLst>
              <a:ext uri="{FF2B5EF4-FFF2-40B4-BE49-F238E27FC236}">
                <a16:creationId xmlns:a16="http://schemas.microsoft.com/office/drawing/2014/main" id="{1D5CBD28-F489-4298-BC2F-4254CD77B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3860" y="1690688"/>
            <a:ext cx="3882887" cy="2786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8009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398</TotalTime>
  <Words>743</Words>
  <Application>Microsoft Office PowerPoint</Application>
  <PresentationFormat>Widescreen</PresentationFormat>
  <Paragraphs>73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 </vt:lpstr>
      <vt:lpstr>MODES  OF  TRANSFER - INTERRUPT  INITIATED  I/O &amp; DMA </vt:lpstr>
      <vt:lpstr>Interrupt Driven I/O</vt:lpstr>
      <vt:lpstr>Interrupts and ISR</vt:lpstr>
      <vt:lpstr>Direct Memory Access</vt:lpstr>
      <vt:lpstr>Direct Memory Access</vt:lpstr>
      <vt:lpstr>Direct Memory Access</vt:lpstr>
      <vt:lpstr>Typical DMA Operation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by Dr. Rizwan Khan</dc:title>
  <dc:creator>arun pandey</dc:creator>
  <cp:lastModifiedBy>admin</cp:lastModifiedBy>
  <cp:revision>41</cp:revision>
  <dcterms:created xsi:type="dcterms:W3CDTF">2020-06-18T04:00:41Z</dcterms:created>
  <dcterms:modified xsi:type="dcterms:W3CDTF">2020-10-03T11:21:31Z</dcterms:modified>
</cp:coreProperties>
</file>