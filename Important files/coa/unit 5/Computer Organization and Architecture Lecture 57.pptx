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06" r:id="rId3"/>
    <p:sldId id="285" r:id="rId4"/>
    <p:sldId id="309" r:id="rId5"/>
    <p:sldId id="2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11138"/>
            <a:ext cx="8229600" cy="474662"/>
          </a:xfrm>
        </p:spPr>
        <p:txBody>
          <a:bodyPr>
            <a:normAutofit fontScale="90000"/>
          </a:bodyPr>
          <a:lstStyle/>
          <a:p>
            <a:r>
              <a:rPr lang="en-US" dirty="0"/>
              <a:t>IOP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46275" y="1073150"/>
            <a:ext cx="619125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00213" y="180975"/>
            <a:ext cx="8774112" cy="641350"/>
          </a:xfrm>
          <a:noFill/>
          <a:ln w="12700">
            <a:miter lim="800000"/>
            <a:headEnd/>
            <a:tailEnd/>
          </a:ln>
        </p:spPr>
        <p:txBody>
          <a:bodyPr vert="horz" wrap="square" lIns="63500" tIns="25400" rIns="63500" bIns="2540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sz="2800"/>
              <a:t>CHANNEL / CPU  COMMUNICATION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3048001" y="1368805"/>
            <a:ext cx="1971136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Send instruction</a:t>
            </a:r>
          </a:p>
          <a:p>
            <a:pPr defTabSz="762000" latinLnBrk="1"/>
            <a:endParaRPr lang="en-US" altLang="ko-KR" dirty="0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3048002" y="1601030"/>
            <a:ext cx="1940974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to test </a:t>
            </a:r>
            <a:r>
              <a:rPr lang="en-US" altLang="ko-KR" dirty="0" err="1"/>
              <a:t>IOP.path</a:t>
            </a:r>
            <a:endParaRPr lang="en-US" altLang="ko-KR" dirty="0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2888992" y="1450976"/>
            <a:ext cx="2310071" cy="4794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2888992" y="2130482"/>
            <a:ext cx="2310071" cy="60160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2958569" y="2066475"/>
            <a:ext cx="2430952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If status OK, then send</a:t>
            </a:r>
          </a:p>
          <a:p>
            <a:pPr defTabSz="762000" latinLnBrk="1"/>
            <a:endParaRPr lang="en-US" altLang="ko-KR" dirty="0"/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3114034" y="2258185"/>
            <a:ext cx="2029467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start I/O instruction</a:t>
            </a:r>
          </a:p>
          <a:p>
            <a:pPr defTabSz="762000"/>
            <a:endParaRPr lang="en-US" altLang="ko-KR" dirty="0"/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3593019" y="2440701"/>
            <a:ext cx="789063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to IOP.</a:t>
            </a:r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2888992" y="3005138"/>
            <a:ext cx="2310071" cy="46990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3062462" y="2948887"/>
            <a:ext cx="2010936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CPU continues with</a:t>
            </a:r>
          </a:p>
          <a:p>
            <a:pPr defTabSz="762000"/>
            <a:endParaRPr lang="en-US" altLang="ko-KR" dirty="0"/>
          </a:p>
        </p:txBody>
      </p: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3141722" y="3131589"/>
            <a:ext cx="1783694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another program</a:t>
            </a:r>
          </a:p>
        </p:txBody>
      </p:sp>
      <p:sp>
        <p:nvSpPr>
          <p:cNvPr id="33805" name="Rectangle 13"/>
          <p:cNvSpPr>
            <a:spLocks noChangeArrowheads="1"/>
          </p:cNvSpPr>
          <p:nvPr/>
        </p:nvSpPr>
        <p:spPr bwMode="auto">
          <a:xfrm>
            <a:off x="6802481" y="1700621"/>
            <a:ext cx="2084290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Transfer status word</a:t>
            </a:r>
          </a:p>
          <a:p>
            <a:pPr defTabSz="762000"/>
            <a:endParaRPr lang="en-US" altLang="ko-KR" dirty="0"/>
          </a:p>
        </p:txBody>
      </p:sp>
      <p:sp>
        <p:nvSpPr>
          <p:cNvPr id="33806" name="Rectangle 14"/>
          <p:cNvSpPr>
            <a:spLocks noChangeArrowheads="1"/>
          </p:cNvSpPr>
          <p:nvPr/>
        </p:nvSpPr>
        <p:spPr bwMode="auto">
          <a:xfrm>
            <a:off x="7183568" y="1893462"/>
            <a:ext cx="1223606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to memory</a:t>
            </a:r>
          </a:p>
        </p:txBody>
      </p:sp>
      <p:sp>
        <p:nvSpPr>
          <p:cNvPr id="33807" name="Rectangle 15"/>
          <p:cNvSpPr>
            <a:spLocks noChangeArrowheads="1"/>
          </p:cNvSpPr>
          <p:nvPr/>
        </p:nvSpPr>
        <p:spPr bwMode="auto">
          <a:xfrm>
            <a:off x="6691314" y="1766889"/>
            <a:ext cx="2225576" cy="47148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Rectangle 16"/>
          <p:cNvSpPr>
            <a:spLocks noChangeArrowheads="1"/>
          </p:cNvSpPr>
          <p:nvPr/>
        </p:nvSpPr>
        <p:spPr bwMode="auto">
          <a:xfrm>
            <a:off x="6691314" y="2513013"/>
            <a:ext cx="2208114" cy="46990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9" name="Rectangle 17"/>
          <p:cNvSpPr>
            <a:spLocks noChangeArrowheads="1"/>
          </p:cNvSpPr>
          <p:nvPr/>
        </p:nvSpPr>
        <p:spPr bwMode="auto">
          <a:xfrm>
            <a:off x="6989606" y="2406549"/>
            <a:ext cx="1650646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Access memory</a:t>
            </a:r>
          </a:p>
          <a:p>
            <a:pPr defTabSz="762000"/>
            <a:endParaRPr lang="en-US" altLang="ko-KR" dirty="0"/>
          </a:p>
        </p:txBody>
      </p:sp>
      <p:sp>
        <p:nvSpPr>
          <p:cNvPr id="33810" name="Rectangle 18"/>
          <p:cNvSpPr>
            <a:spLocks noChangeArrowheads="1"/>
          </p:cNvSpPr>
          <p:nvPr/>
        </p:nvSpPr>
        <p:spPr bwMode="auto">
          <a:xfrm>
            <a:off x="7008109" y="2664530"/>
            <a:ext cx="1684245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for IOP program</a:t>
            </a:r>
          </a:p>
        </p:txBody>
      </p:sp>
      <p:sp>
        <p:nvSpPr>
          <p:cNvPr id="33811" name="Rectangle 19"/>
          <p:cNvSpPr>
            <a:spLocks noChangeArrowheads="1"/>
          </p:cNvSpPr>
          <p:nvPr/>
        </p:nvSpPr>
        <p:spPr bwMode="auto">
          <a:xfrm>
            <a:off x="6778532" y="3176473"/>
            <a:ext cx="2192332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Conduct I/O transfers</a:t>
            </a:r>
          </a:p>
          <a:p>
            <a:pPr defTabSz="762000"/>
            <a:endParaRPr lang="en-US" altLang="ko-KR" dirty="0"/>
          </a:p>
        </p:txBody>
      </p:sp>
      <p:sp>
        <p:nvSpPr>
          <p:cNvPr id="33812" name="Rectangle 20"/>
          <p:cNvSpPr>
            <a:spLocks noChangeArrowheads="1"/>
          </p:cNvSpPr>
          <p:nvPr/>
        </p:nvSpPr>
        <p:spPr bwMode="auto">
          <a:xfrm>
            <a:off x="7124698" y="3354291"/>
            <a:ext cx="1266373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using DMA;</a:t>
            </a:r>
          </a:p>
          <a:p>
            <a:pPr defTabSz="762000"/>
            <a:endParaRPr lang="en-US" altLang="ko-KR" dirty="0"/>
          </a:p>
        </p:txBody>
      </p:sp>
      <p:sp>
        <p:nvSpPr>
          <p:cNvPr id="33813" name="Rectangle 21"/>
          <p:cNvSpPr>
            <a:spLocks noChangeArrowheads="1"/>
          </p:cNvSpPr>
          <p:nvPr/>
        </p:nvSpPr>
        <p:spPr bwMode="auto">
          <a:xfrm>
            <a:off x="6757661" y="3511469"/>
            <a:ext cx="2234074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Prepare status report.</a:t>
            </a:r>
          </a:p>
        </p:txBody>
      </p:sp>
      <p:sp>
        <p:nvSpPr>
          <p:cNvPr id="33814" name="Rectangle 22"/>
          <p:cNvSpPr>
            <a:spLocks noChangeArrowheads="1"/>
          </p:cNvSpPr>
          <p:nvPr/>
        </p:nvSpPr>
        <p:spPr bwMode="auto">
          <a:xfrm>
            <a:off x="6691314" y="3255963"/>
            <a:ext cx="2225576" cy="53816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" name="Rectangle 23"/>
          <p:cNvSpPr>
            <a:spLocks noChangeArrowheads="1"/>
          </p:cNvSpPr>
          <p:nvPr/>
        </p:nvSpPr>
        <p:spPr bwMode="auto">
          <a:xfrm>
            <a:off x="6691314" y="4057649"/>
            <a:ext cx="2320164" cy="47148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6" name="Rectangle 24"/>
          <p:cNvSpPr>
            <a:spLocks noChangeArrowheads="1"/>
          </p:cNvSpPr>
          <p:nvPr/>
        </p:nvSpPr>
        <p:spPr bwMode="auto">
          <a:xfrm>
            <a:off x="6699043" y="4007554"/>
            <a:ext cx="2386232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I/O transfer completed;</a:t>
            </a:r>
          </a:p>
          <a:p>
            <a:pPr defTabSz="762000"/>
            <a:endParaRPr lang="en-US" altLang="ko-KR" dirty="0"/>
          </a:p>
        </p:txBody>
      </p:sp>
      <p:sp>
        <p:nvSpPr>
          <p:cNvPr id="33817" name="Rectangle 25"/>
          <p:cNvSpPr>
            <a:spLocks noChangeArrowheads="1"/>
          </p:cNvSpPr>
          <p:nvPr/>
        </p:nvSpPr>
        <p:spPr bwMode="auto">
          <a:xfrm>
            <a:off x="7086601" y="4214814"/>
            <a:ext cx="1472327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Interrupt CPU</a:t>
            </a:r>
          </a:p>
        </p:txBody>
      </p:sp>
      <p:sp>
        <p:nvSpPr>
          <p:cNvPr id="33818" name="Rectangle 26"/>
          <p:cNvSpPr>
            <a:spLocks noChangeArrowheads="1"/>
          </p:cNvSpPr>
          <p:nvPr/>
        </p:nvSpPr>
        <p:spPr bwMode="auto">
          <a:xfrm>
            <a:off x="2875666" y="4308476"/>
            <a:ext cx="2323397" cy="396821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9" name="Rectangle 27"/>
          <p:cNvSpPr>
            <a:spLocks noChangeArrowheads="1"/>
          </p:cNvSpPr>
          <p:nvPr/>
        </p:nvSpPr>
        <p:spPr bwMode="auto">
          <a:xfrm>
            <a:off x="3062462" y="4359276"/>
            <a:ext cx="2274697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Request IOP status</a:t>
            </a:r>
          </a:p>
        </p:txBody>
      </p:sp>
      <p:sp>
        <p:nvSpPr>
          <p:cNvPr id="33820" name="Rectangle 28"/>
          <p:cNvSpPr>
            <a:spLocks noChangeArrowheads="1"/>
          </p:cNvSpPr>
          <p:nvPr/>
        </p:nvSpPr>
        <p:spPr bwMode="auto">
          <a:xfrm>
            <a:off x="6832600" y="4686301"/>
            <a:ext cx="2084290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Transfer status word</a:t>
            </a:r>
          </a:p>
          <a:p>
            <a:pPr defTabSz="762000"/>
            <a:endParaRPr lang="en-US" altLang="ko-KR" dirty="0"/>
          </a:p>
        </p:txBody>
      </p:sp>
      <p:sp>
        <p:nvSpPr>
          <p:cNvPr id="33821" name="Rectangle 29"/>
          <p:cNvSpPr>
            <a:spLocks noChangeArrowheads="1"/>
          </p:cNvSpPr>
          <p:nvPr/>
        </p:nvSpPr>
        <p:spPr bwMode="auto">
          <a:xfrm>
            <a:off x="6887807" y="4864749"/>
            <a:ext cx="2029083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to memory location</a:t>
            </a:r>
          </a:p>
        </p:txBody>
      </p:sp>
      <p:sp>
        <p:nvSpPr>
          <p:cNvPr id="33822" name="Rectangle 30"/>
          <p:cNvSpPr>
            <a:spLocks noChangeArrowheads="1"/>
          </p:cNvSpPr>
          <p:nvPr/>
        </p:nvSpPr>
        <p:spPr bwMode="auto">
          <a:xfrm>
            <a:off x="6691314" y="4746625"/>
            <a:ext cx="2288048" cy="47148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3" name="Rectangle 31"/>
          <p:cNvSpPr>
            <a:spLocks noChangeArrowheads="1"/>
          </p:cNvSpPr>
          <p:nvPr/>
        </p:nvSpPr>
        <p:spPr bwMode="auto">
          <a:xfrm>
            <a:off x="2875666" y="4933950"/>
            <a:ext cx="2323397" cy="46990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4" name="Rectangle 32"/>
          <p:cNvSpPr>
            <a:spLocks noChangeArrowheads="1"/>
          </p:cNvSpPr>
          <p:nvPr/>
        </p:nvSpPr>
        <p:spPr bwMode="auto">
          <a:xfrm>
            <a:off x="3086963" y="4847466"/>
            <a:ext cx="1893212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Check status word</a:t>
            </a:r>
          </a:p>
          <a:p>
            <a:pPr defTabSz="762000"/>
            <a:endParaRPr lang="en-US" altLang="ko-KR"/>
          </a:p>
        </p:txBody>
      </p:sp>
      <p:sp>
        <p:nvSpPr>
          <p:cNvPr id="33825" name="Rectangle 33"/>
          <p:cNvSpPr>
            <a:spLocks noChangeArrowheads="1"/>
          </p:cNvSpPr>
          <p:nvPr/>
        </p:nvSpPr>
        <p:spPr bwMode="auto">
          <a:xfrm>
            <a:off x="3073650" y="5072768"/>
            <a:ext cx="1988559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 dirty="0"/>
              <a:t>for correct transfer.</a:t>
            </a:r>
          </a:p>
        </p:txBody>
      </p:sp>
      <p:sp>
        <p:nvSpPr>
          <p:cNvPr id="33826" name="Rectangle 34"/>
          <p:cNvSpPr>
            <a:spLocks noChangeArrowheads="1"/>
          </p:cNvSpPr>
          <p:nvPr/>
        </p:nvSpPr>
        <p:spPr bwMode="auto">
          <a:xfrm>
            <a:off x="3633789" y="5662614"/>
            <a:ext cx="1036631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Continue</a:t>
            </a:r>
          </a:p>
        </p:txBody>
      </p:sp>
      <p:sp>
        <p:nvSpPr>
          <p:cNvPr id="33827" name="Rectangle 35"/>
          <p:cNvSpPr>
            <a:spLocks noChangeArrowheads="1"/>
          </p:cNvSpPr>
          <p:nvPr/>
        </p:nvSpPr>
        <p:spPr bwMode="auto">
          <a:xfrm>
            <a:off x="3244850" y="1098551"/>
            <a:ext cx="1631410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CPU operations</a:t>
            </a:r>
          </a:p>
        </p:txBody>
      </p:sp>
      <p:sp>
        <p:nvSpPr>
          <p:cNvPr id="33828" name="Rectangle 36"/>
          <p:cNvSpPr>
            <a:spLocks noChangeArrowheads="1"/>
          </p:cNvSpPr>
          <p:nvPr/>
        </p:nvSpPr>
        <p:spPr bwMode="auto">
          <a:xfrm>
            <a:off x="6615113" y="1108076"/>
            <a:ext cx="1570496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/>
            <a:r>
              <a:rPr lang="en-US" altLang="ko-KR"/>
              <a:t>IOP operations</a:t>
            </a:r>
          </a:p>
        </p:txBody>
      </p:sp>
      <p:sp>
        <p:nvSpPr>
          <p:cNvPr id="33829" name="Arc 37"/>
          <p:cNvSpPr>
            <a:spLocks/>
          </p:cNvSpPr>
          <p:nvPr/>
        </p:nvSpPr>
        <p:spPr bwMode="auto">
          <a:xfrm>
            <a:off x="6548439" y="1814514"/>
            <a:ext cx="136525" cy="85725"/>
          </a:xfrm>
          <a:custGeom>
            <a:avLst/>
            <a:gdLst>
              <a:gd name="G0" fmla="+- 21600 0 0"/>
              <a:gd name="G1" fmla="+- 11851 0 0"/>
              <a:gd name="G2" fmla="+- 21600 0 0"/>
              <a:gd name="T0" fmla="*/ 679 w 21600"/>
              <a:gd name="T1" fmla="*/ 17223 h 17223"/>
              <a:gd name="T2" fmla="*/ 3541 w 21600"/>
              <a:gd name="T3" fmla="*/ 0 h 17223"/>
              <a:gd name="T4" fmla="*/ 21600 w 21600"/>
              <a:gd name="T5" fmla="*/ 11851 h 17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23" fill="none" extrusionOk="0">
                <a:moveTo>
                  <a:pt x="678" y="17223"/>
                </a:moveTo>
                <a:cubicBezTo>
                  <a:pt x="228" y="15467"/>
                  <a:pt x="0" y="13663"/>
                  <a:pt x="0" y="11851"/>
                </a:cubicBezTo>
                <a:cubicBezTo>
                  <a:pt x="-1" y="7639"/>
                  <a:pt x="1230" y="3520"/>
                  <a:pt x="3541" y="0"/>
                </a:cubicBezTo>
              </a:path>
              <a:path w="21600" h="17223" stroke="0" extrusionOk="0">
                <a:moveTo>
                  <a:pt x="678" y="17223"/>
                </a:moveTo>
                <a:cubicBezTo>
                  <a:pt x="228" y="15467"/>
                  <a:pt x="0" y="13663"/>
                  <a:pt x="0" y="11851"/>
                </a:cubicBezTo>
                <a:cubicBezTo>
                  <a:pt x="-1" y="7639"/>
                  <a:pt x="1230" y="3520"/>
                  <a:pt x="3541" y="0"/>
                </a:cubicBezTo>
                <a:lnTo>
                  <a:pt x="21600" y="11851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0" name="Line 38"/>
          <p:cNvSpPr>
            <a:spLocks noChangeShapeType="1"/>
          </p:cNvSpPr>
          <p:nvPr/>
        </p:nvSpPr>
        <p:spPr bwMode="auto">
          <a:xfrm>
            <a:off x="5227638" y="1708150"/>
            <a:ext cx="1320800" cy="1524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1" name="Arc 39"/>
          <p:cNvSpPr>
            <a:spLocks/>
          </p:cNvSpPr>
          <p:nvPr/>
        </p:nvSpPr>
        <p:spPr bwMode="auto">
          <a:xfrm>
            <a:off x="5219701" y="2254250"/>
            <a:ext cx="136525" cy="82550"/>
          </a:xfrm>
          <a:custGeom>
            <a:avLst/>
            <a:gdLst>
              <a:gd name="G0" fmla="+- 0 0 0"/>
              <a:gd name="G1" fmla="+- 11982 0 0"/>
              <a:gd name="G2" fmla="+- 21600 0 0"/>
              <a:gd name="T0" fmla="*/ 17972 w 21600"/>
              <a:gd name="T1" fmla="*/ 0 h 17423"/>
              <a:gd name="T2" fmla="*/ 20904 w 21600"/>
              <a:gd name="T3" fmla="*/ 17423 h 17423"/>
              <a:gd name="T4" fmla="*/ 0 w 21600"/>
              <a:gd name="T5" fmla="*/ 11982 h 17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23" fill="none" extrusionOk="0">
                <a:moveTo>
                  <a:pt x="17971" y="0"/>
                </a:moveTo>
                <a:cubicBezTo>
                  <a:pt x="20337" y="3548"/>
                  <a:pt x="21600" y="7717"/>
                  <a:pt x="21600" y="11982"/>
                </a:cubicBezTo>
                <a:cubicBezTo>
                  <a:pt x="21600" y="13817"/>
                  <a:pt x="21365" y="15646"/>
                  <a:pt x="20903" y="17422"/>
                </a:cubicBezTo>
              </a:path>
              <a:path w="21600" h="17423" stroke="0" extrusionOk="0">
                <a:moveTo>
                  <a:pt x="17971" y="0"/>
                </a:moveTo>
                <a:cubicBezTo>
                  <a:pt x="20337" y="3548"/>
                  <a:pt x="21600" y="7717"/>
                  <a:pt x="21600" y="11982"/>
                </a:cubicBezTo>
                <a:cubicBezTo>
                  <a:pt x="21600" y="13817"/>
                  <a:pt x="21365" y="15646"/>
                  <a:pt x="20903" y="17422"/>
                </a:cubicBezTo>
                <a:lnTo>
                  <a:pt x="0" y="1198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2" name="Line 40"/>
          <p:cNvSpPr>
            <a:spLocks noChangeShapeType="1"/>
          </p:cNvSpPr>
          <p:nvPr/>
        </p:nvSpPr>
        <p:spPr bwMode="auto">
          <a:xfrm flipH="1">
            <a:off x="5313363" y="2144714"/>
            <a:ext cx="1377950" cy="1539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3" name="Arc 41"/>
          <p:cNvSpPr>
            <a:spLocks/>
          </p:cNvSpPr>
          <p:nvPr/>
        </p:nvSpPr>
        <p:spPr bwMode="auto">
          <a:xfrm>
            <a:off x="6548439" y="2681288"/>
            <a:ext cx="136525" cy="82550"/>
          </a:xfrm>
          <a:custGeom>
            <a:avLst/>
            <a:gdLst>
              <a:gd name="G0" fmla="+- 21600 0 0"/>
              <a:gd name="G1" fmla="+- 11851 0 0"/>
              <a:gd name="G2" fmla="+- 21600 0 0"/>
              <a:gd name="T0" fmla="*/ 679 w 21600"/>
              <a:gd name="T1" fmla="*/ 17223 h 17223"/>
              <a:gd name="T2" fmla="*/ 3541 w 21600"/>
              <a:gd name="T3" fmla="*/ 0 h 17223"/>
              <a:gd name="T4" fmla="*/ 21600 w 21600"/>
              <a:gd name="T5" fmla="*/ 11851 h 17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23" fill="none" extrusionOk="0">
                <a:moveTo>
                  <a:pt x="678" y="17223"/>
                </a:moveTo>
                <a:cubicBezTo>
                  <a:pt x="228" y="15467"/>
                  <a:pt x="0" y="13663"/>
                  <a:pt x="0" y="11851"/>
                </a:cubicBezTo>
                <a:cubicBezTo>
                  <a:pt x="-1" y="7639"/>
                  <a:pt x="1230" y="3520"/>
                  <a:pt x="3541" y="0"/>
                </a:cubicBezTo>
              </a:path>
              <a:path w="21600" h="17223" stroke="0" extrusionOk="0">
                <a:moveTo>
                  <a:pt x="678" y="17223"/>
                </a:moveTo>
                <a:cubicBezTo>
                  <a:pt x="228" y="15467"/>
                  <a:pt x="0" y="13663"/>
                  <a:pt x="0" y="11851"/>
                </a:cubicBezTo>
                <a:cubicBezTo>
                  <a:pt x="-1" y="7639"/>
                  <a:pt x="1230" y="3520"/>
                  <a:pt x="3541" y="0"/>
                </a:cubicBezTo>
                <a:lnTo>
                  <a:pt x="21600" y="11851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4" name="Line 42"/>
          <p:cNvSpPr>
            <a:spLocks noChangeShapeType="1"/>
          </p:cNvSpPr>
          <p:nvPr/>
        </p:nvSpPr>
        <p:spPr bwMode="auto">
          <a:xfrm>
            <a:off x="5205414" y="2555876"/>
            <a:ext cx="1343025" cy="1698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5" name="Arc 43"/>
          <p:cNvSpPr>
            <a:spLocks/>
          </p:cNvSpPr>
          <p:nvPr/>
        </p:nvSpPr>
        <p:spPr bwMode="auto">
          <a:xfrm>
            <a:off x="4105275" y="2886075"/>
            <a:ext cx="107950" cy="103188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6" name="Line 44"/>
          <p:cNvSpPr>
            <a:spLocks noChangeShapeType="1"/>
          </p:cNvSpPr>
          <p:nvPr/>
        </p:nvSpPr>
        <p:spPr bwMode="auto">
          <a:xfrm>
            <a:off x="4159250" y="2732088"/>
            <a:ext cx="0" cy="1635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" name="Arc 45"/>
          <p:cNvSpPr>
            <a:spLocks/>
          </p:cNvSpPr>
          <p:nvPr/>
        </p:nvSpPr>
        <p:spPr bwMode="auto">
          <a:xfrm>
            <a:off x="7677151" y="3136901"/>
            <a:ext cx="111125" cy="104775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8" name="Line 46"/>
          <p:cNvSpPr>
            <a:spLocks noChangeShapeType="1"/>
          </p:cNvSpPr>
          <p:nvPr/>
        </p:nvSpPr>
        <p:spPr bwMode="auto">
          <a:xfrm>
            <a:off x="7731125" y="2989263"/>
            <a:ext cx="0" cy="1587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9" name="Arc 47"/>
          <p:cNvSpPr>
            <a:spLocks/>
          </p:cNvSpPr>
          <p:nvPr/>
        </p:nvSpPr>
        <p:spPr bwMode="auto">
          <a:xfrm>
            <a:off x="7677151" y="3937001"/>
            <a:ext cx="111125" cy="104775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0" name="Line 48"/>
          <p:cNvSpPr>
            <a:spLocks noChangeShapeType="1"/>
          </p:cNvSpPr>
          <p:nvPr/>
        </p:nvSpPr>
        <p:spPr bwMode="auto">
          <a:xfrm>
            <a:off x="7731125" y="3794125"/>
            <a:ext cx="0" cy="1524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1" name="Arc 49"/>
          <p:cNvSpPr>
            <a:spLocks/>
          </p:cNvSpPr>
          <p:nvPr/>
        </p:nvSpPr>
        <p:spPr bwMode="auto">
          <a:xfrm>
            <a:off x="4105275" y="4189414"/>
            <a:ext cx="107950" cy="103187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2" name="Line 50"/>
          <p:cNvSpPr>
            <a:spLocks noChangeShapeType="1"/>
          </p:cNvSpPr>
          <p:nvPr/>
        </p:nvSpPr>
        <p:spPr bwMode="auto">
          <a:xfrm>
            <a:off x="4159250" y="3478214"/>
            <a:ext cx="0" cy="7207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" name="Arc 51"/>
          <p:cNvSpPr>
            <a:spLocks/>
          </p:cNvSpPr>
          <p:nvPr/>
        </p:nvSpPr>
        <p:spPr bwMode="auto">
          <a:xfrm>
            <a:off x="5219701" y="4398964"/>
            <a:ext cx="136525" cy="85725"/>
          </a:xfrm>
          <a:custGeom>
            <a:avLst/>
            <a:gdLst>
              <a:gd name="G0" fmla="+- 0 0 0"/>
              <a:gd name="G1" fmla="+- 11982 0 0"/>
              <a:gd name="G2" fmla="+- 21600 0 0"/>
              <a:gd name="T0" fmla="*/ 17972 w 21600"/>
              <a:gd name="T1" fmla="*/ 0 h 17423"/>
              <a:gd name="T2" fmla="*/ 20904 w 21600"/>
              <a:gd name="T3" fmla="*/ 17423 h 17423"/>
              <a:gd name="T4" fmla="*/ 0 w 21600"/>
              <a:gd name="T5" fmla="*/ 11982 h 17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23" fill="none" extrusionOk="0">
                <a:moveTo>
                  <a:pt x="17971" y="0"/>
                </a:moveTo>
                <a:cubicBezTo>
                  <a:pt x="20337" y="3548"/>
                  <a:pt x="21600" y="7717"/>
                  <a:pt x="21600" y="11982"/>
                </a:cubicBezTo>
                <a:cubicBezTo>
                  <a:pt x="21600" y="13817"/>
                  <a:pt x="21365" y="15646"/>
                  <a:pt x="20903" y="17422"/>
                </a:cubicBezTo>
              </a:path>
              <a:path w="21600" h="17423" stroke="0" extrusionOk="0">
                <a:moveTo>
                  <a:pt x="17971" y="0"/>
                </a:moveTo>
                <a:cubicBezTo>
                  <a:pt x="20337" y="3548"/>
                  <a:pt x="21600" y="7717"/>
                  <a:pt x="21600" y="11982"/>
                </a:cubicBezTo>
                <a:cubicBezTo>
                  <a:pt x="21600" y="13817"/>
                  <a:pt x="21365" y="15646"/>
                  <a:pt x="20903" y="17422"/>
                </a:cubicBezTo>
                <a:lnTo>
                  <a:pt x="0" y="1198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4" name="Line 52"/>
          <p:cNvSpPr>
            <a:spLocks noChangeShapeType="1"/>
          </p:cNvSpPr>
          <p:nvPr/>
        </p:nvSpPr>
        <p:spPr bwMode="auto">
          <a:xfrm flipH="1">
            <a:off x="5313363" y="4292600"/>
            <a:ext cx="1377950" cy="1524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5" name="Arc 53"/>
          <p:cNvSpPr>
            <a:spLocks/>
          </p:cNvSpPr>
          <p:nvPr/>
        </p:nvSpPr>
        <p:spPr bwMode="auto">
          <a:xfrm>
            <a:off x="6548439" y="4849814"/>
            <a:ext cx="136525" cy="79375"/>
          </a:xfrm>
          <a:custGeom>
            <a:avLst/>
            <a:gdLst>
              <a:gd name="G0" fmla="+- 21600 0 0"/>
              <a:gd name="G1" fmla="+- 13800 0 0"/>
              <a:gd name="G2" fmla="+- 21600 0 0"/>
              <a:gd name="T0" fmla="*/ 185 w 21600"/>
              <a:gd name="T1" fmla="*/ 16618 h 16618"/>
              <a:gd name="T2" fmla="*/ 4983 w 21600"/>
              <a:gd name="T3" fmla="*/ 0 h 16618"/>
              <a:gd name="T4" fmla="*/ 21600 w 21600"/>
              <a:gd name="T5" fmla="*/ 13800 h 16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618" fill="none" extrusionOk="0">
                <a:moveTo>
                  <a:pt x="184" y="16618"/>
                </a:moveTo>
                <a:cubicBezTo>
                  <a:pt x="61" y="15683"/>
                  <a:pt x="0" y="14742"/>
                  <a:pt x="0" y="13800"/>
                </a:cubicBezTo>
                <a:cubicBezTo>
                  <a:pt x="-1" y="8759"/>
                  <a:pt x="1762" y="3877"/>
                  <a:pt x="4983" y="0"/>
                </a:cubicBezTo>
              </a:path>
              <a:path w="21600" h="16618" stroke="0" extrusionOk="0">
                <a:moveTo>
                  <a:pt x="184" y="16618"/>
                </a:moveTo>
                <a:cubicBezTo>
                  <a:pt x="61" y="15683"/>
                  <a:pt x="0" y="14742"/>
                  <a:pt x="0" y="13800"/>
                </a:cubicBezTo>
                <a:cubicBezTo>
                  <a:pt x="-1" y="8759"/>
                  <a:pt x="1762" y="3877"/>
                  <a:pt x="4983" y="0"/>
                </a:cubicBezTo>
                <a:lnTo>
                  <a:pt x="21600" y="138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6" name="Line 54"/>
          <p:cNvSpPr>
            <a:spLocks noChangeShapeType="1"/>
          </p:cNvSpPr>
          <p:nvPr/>
        </p:nvSpPr>
        <p:spPr bwMode="auto">
          <a:xfrm>
            <a:off x="5205413" y="4573589"/>
            <a:ext cx="1363662" cy="3206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7" name="Arc 55"/>
          <p:cNvSpPr>
            <a:spLocks/>
          </p:cNvSpPr>
          <p:nvPr/>
        </p:nvSpPr>
        <p:spPr bwMode="auto">
          <a:xfrm>
            <a:off x="5219701" y="5146675"/>
            <a:ext cx="136525" cy="82550"/>
          </a:xfrm>
          <a:custGeom>
            <a:avLst/>
            <a:gdLst>
              <a:gd name="G0" fmla="+- 0 0 0"/>
              <a:gd name="G1" fmla="+- 11652 0 0"/>
              <a:gd name="G2" fmla="+- 21600 0 0"/>
              <a:gd name="T0" fmla="*/ 18188 w 21600"/>
              <a:gd name="T1" fmla="*/ 0 h 17359"/>
              <a:gd name="T2" fmla="*/ 20832 w 21600"/>
              <a:gd name="T3" fmla="*/ 17359 h 17359"/>
              <a:gd name="T4" fmla="*/ 0 w 21600"/>
              <a:gd name="T5" fmla="*/ 11652 h 17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359" fill="none" extrusionOk="0">
                <a:moveTo>
                  <a:pt x="18187" y="0"/>
                </a:moveTo>
                <a:cubicBezTo>
                  <a:pt x="20415" y="3477"/>
                  <a:pt x="21600" y="7521"/>
                  <a:pt x="21600" y="11652"/>
                </a:cubicBezTo>
                <a:cubicBezTo>
                  <a:pt x="21600" y="13580"/>
                  <a:pt x="21341" y="15499"/>
                  <a:pt x="20832" y="17359"/>
                </a:cubicBezTo>
              </a:path>
              <a:path w="21600" h="17359" stroke="0" extrusionOk="0">
                <a:moveTo>
                  <a:pt x="18187" y="0"/>
                </a:moveTo>
                <a:cubicBezTo>
                  <a:pt x="20415" y="3477"/>
                  <a:pt x="21600" y="7521"/>
                  <a:pt x="21600" y="11652"/>
                </a:cubicBezTo>
                <a:cubicBezTo>
                  <a:pt x="21600" y="13580"/>
                  <a:pt x="21341" y="15499"/>
                  <a:pt x="20832" y="17359"/>
                </a:cubicBezTo>
                <a:lnTo>
                  <a:pt x="0" y="116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8" name="Line 56"/>
          <p:cNvSpPr>
            <a:spLocks noChangeShapeType="1"/>
          </p:cNvSpPr>
          <p:nvPr/>
        </p:nvSpPr>
        <p:spPr bwMode="auto">
          <a:xfrm flipH="1">
            <a:off x="5313363" y="5057775"/>
            <a:ext cx="1377950" cy="1333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9" name="Arc 57"/>
          <p:cNvSpPr>
            <a:spLocks/>
          </p:cNvSpPr>
          <p:nvPr/>
        </p:nvSpPr>
        <p:spPr bwMode="auto">
          <a:xfrm>
            <a:off x="4105275" y="5557839"/>
            <a:ext cx="107950" cy="104775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50" name="Line 58"/>
          <p:cNvSpPr>
            <a:spLocks noChangeShapeType="1"/>
          </p:cNvSpPr>
          <p:nvPr/>
        </p:nvSpPr>
        <p:spPr bwMode="auto">
          <a:xfrm>
            <a:off x="4159250" y="5410201"/>
            <a:ext cx="0" cy="1571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52" name="Rectangle 60"/>
          <p:cNvSpPr>
            <a:spLocks noChangeArrowheads="1"/>
          </p:cNvSpPr>
          <p:nvPr/>
        </p:nvSpPr>
        <p:spPr bwMode="auto">
          <a:xfrm>
            <a:off x="8776006" y="0"/>
            <a:ext cx="1891994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/>
            <a:r>
              <a:rPr lang="en-US" altLang="ko-KR" sz="1400" i="1"/>
              <a:t>Input/Output Processor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11138"/>
            <a:ext cx="8229600" cy="474662"/>
          </a:xfrm>
        </p:spPr>
        <p:txBody>
          <a:bodyPr>
            <a:normAutofit fontScale="90000"/>
          </a:bodyPr>
          <a:lstStyle/>
          <a:p>
            <a:r>
              <a:rPr lang="en-US" dirty="0"/>
              <a:t>IOP Types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0700" y="839789"/>
            <a:ext cx="4927600" cy="447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629400" y="937839"/>
            <a:ext cx="37211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6400" indent="-406400">
              <a:buFont typeface="Arial" pitchFamily="34" charset="0"/>
              <a:buChar char="•"/>
            </a:pPr>
            <a:r>
              <a:rPr lang="en-US" sz="1500" dirty="0"/>
              <a:t>A Selector Channel controls several devices, but handles transfers for a single device at a time. </a:t>
            </a:r>
          </a:p>
          <a:p>
            <a:pPr marL="406400" indent="-406400">
              <a:buFont typeface="Arial" pitchFamily="34" charset="0"/>
              <a:buChar char="•"/>
            </a:pPr>
            <a:endParaRPr lang="en-US" sz="1500" dirty="0"/>
          </a:p>
          <a:p>
            <a:pPr marL="406400" indent="-406400">
              <a:buFont typeface="Arial" pitchFamily="34" charset="0"/>
              <a:buChar char="•"/>
            </a:pPr>
            <a:r>
              <a:rPr lang="en-US" sz="1500" dirty="0"/>
              <a:t>A selector channel is typically used for high speed devices like hard disks. </a:t>
            </a:r>
          </a:p>
          <a:p>
            <a:pPr marL="406400" indent="-406400">
              <a:buFont typeface="Arial" pitchFamily="34" charset="0"/>
              <a:buChar char="•"/>
            </a:pPr>
            <a:endParaRPr lang="en-US" sz="1500" dirty="0"/>
          </a:p>
          <a:p>
            <a:pPr marL="406400" indent="-406400">
              <a:buFont typeface="Arial" pitchFamily="34" charset="0"/>
              <a:buChar char="•"/>
            </a:pPr>
            <a:r>
              <a:rPr lang="en-US" sz="1500" dirty="0"/>
              <a:t>A multiplexor channel handles transfers for several devices at a time. </a:t>
            </a:r>
          </a:p>
          <a:p>
            <a:pPr marL="406400" indent="-406400">
              <a:buFont typeface="Arial" pitchFamily="34" charset="0"/>
              <a:buChar char="•"/>
            </a:pPr>
            <a:endParaRPr lang="en-US" sz="1500" dirty="0"/>
          </a:p>
          <a:p>
            <a:pPr marL="406400" indent="-406400">
              <a:buFont typeface="Arial" pitchFamily="34" charset="0"/>
              <a:buChar char="•"/>
            </a:pPr>
            <a:r>
              <a:rPr lang="en-US" sz="1500" dirty="0"/>
              <a:t>A multiplexor channel comes in two forms: </a:t>
            </a:r>
          </a:p>
          <a:p>
            <a:pPr marL="406400" indent="-406400">
              <a:buFont typeface="Arial" pitchFamily="34" charset="0"/>
              <a:buChar char="•"/>
            </a:pPr>
            <a:endParaRPr lang="en-US" sz="1500" dirty="0"/>
          </a:p>
          <a:p>
            <a:pPr marL="406400" indent="-406400">
              <a:buFont typeface="Arial" pitchFamily="34" charset="0"/>
              <a:buChar char="•"/>
            </a:pPr>
            <a:r>
              <a:rPr lang="en-US" sz="1500" dirty="0"/>
              <a:t>a byte multiplexor, which interleaves bytes from a number of low speed devices into a single stream, </a:t>
            </a:r>
          </a:p>
          <a:p>
            <a:pPr marL="406400" indent="-406400">
              <a:buFont typeface="Arial" pitchFamily="34" charset="0"/>
              <a:buChar char="•"/>
            </a:pPr>
            <a:endParaRPr lang="en-US" sz="1500" dirty="0"/>
          </a:p>
          <a:p>
            <a:pPr marL="406400" indent="-406400">
              <a:buFont typeface="Arial" pitchFamily="34" charset="0"/>
              <a:buChar char="•"/>
            </a:pPr>
            <a:r>
              <a:rPr lang="en-US" sz="1500" dirty="0"/>
              <a:t>block multiplexor, which interleaves blocks from a number of high speed devices into a single stream.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206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 </vt:lpstr>
      <vt:lpstr>IOP</vt:lpstr>
      <vt:lpstr>CHANNEL / CPU  COMMUNICATION</vt:lpstr>
      <vt:lpstr>IOP Types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admin</cp:lastModifiedBy>
  <cp:revision>41</cp:revision>
  <dcterms:created xsi:type="dcterms:W3CDTF">2020-06-18T04:00:41Z</dcterms:created>
  <dcterms:modified xsi:type="dcterms:W3CDTF">2020-09-25T11:17:22Z</dcterms:modified>
</cp:coreProperties>
</file>