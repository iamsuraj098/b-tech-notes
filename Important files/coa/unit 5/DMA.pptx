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303" r:id="rId3"/>
    <p:sldId id="305" r:id="rId4"/>
    <p:sldId id="304" r:id="rId5"/>
    <p:sldId id="307" r:id="rId6"/>
    <p:sldId id="278"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E3793C-9F6E-4CE1-B94E-78F167BB0663}" type="datetimeFigureOut">
              <a:rPr lang="en-US" smtClean="0"/>
              <a:t>11/21/2020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BAF78A-2270-4721-AA5A-1B675F5A1ABB}" type="slidenum">
              <a:rPr lang="en-US" smtClean="0"/>
              <a:t>‹#›</a:t>
            </a:fld>
            <a:endParaRPr lang="en-US"/>
          </a:p>
        </p:txBody>
      </p:sp>
    </p:spTree>
    <p:extLst>
      <p:ext uri="{BB962C8B-B14F-4D97-AF65-F5344CB8AC3E}">
        <p14:creationId xmlns:p14="http://schemas.microsoft.com/office/powerpoint/2010/main" val="2745719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F4A7E-81F0-4134-BD15-5C170C069D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ABCD674-A3BA-4C42-9005-763EDB025B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C8A7EDD-DFA4-4A1A-83E3-25AA585BA9A2}"/>
              </a:ext>
            </a:extLst>
          </p:cNvPr>
          <p:cNvSpPr>
            <a:spLocks noGrp="1"/>
          </p:cNvSpPr>
          <p:nvPr>
            <p:ph type="dt" sz="half" idx="10"/>
          </p:nvPr>
        </p:nvSpPr>
        <p:spPr/>
        <p:txBody>
          <a:bodyPr/>
          <a:lstStyle/>
          <a:p>
            <a:fld id="{87864072-6A20-4DBD-9873-382B57A9CEBC}" type="datetimeFigureOut">
              <a:rPr lang="en-US" smtClean="0"/>
              <a:t>11/21/2020</a:t>
            </a:fld>
            <a:endParaRPr lang="en-US"/>
          </a:p>
        </p:txBody>
      </p:sp>
      <p:sp>
        <p:nvSpPr>
          <p:cNvPr id="5" name="Footer Placeholder 4">
            <a:extLst>
              <a:ext uri="{FF2B5EF4-FFF2-40B4-BE49-F238E27FC236}">
                <a16:creationId xmlns:a16="http://schemas.microsoft.com/office/drawing/2014/main" id="{3EBDDD35-3124-45BE-8281-89DADE36D9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34DDAB-06E4-4EA3-94AC-1B24D0666712}"/>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3172498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3C73F-1D55-4331-B6FC-3AA2B609FE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A4E085-C58E-496B-98D7-1B99D1C33C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92F368-288E-4BA1-BE87-29FB8F830832}"/>
              </a:ext>
            </a:extLst>
          </p:cNvPr>
          <p:cNvSpPr>
            <a:spLocks noGrp="1"/>
          </p:cNvSpPr>
          <p:nvPr>
            <p:ph type="dt" sz="half" idx="10"/>
          </p:nvPr>
        </p:nvSpPr>
        <p:spPr/>
        <p:txBody>
          <a:bodyPr/>
          <a:lstStyle/>
          <a:p>
            <a:fld id="{87864072-6A20-4DBD-9873-382B57A9CEBC}" type="datetimeFigureOut">
              <a:rPr lang="en-US" smtClean="0"/>
              <a:t>11/21/2020</a:t>
            </a:fld>
            <a:endParaRPr lang="en-US"/>
          </a:p>
        </p:txBody>
      </p:sp>
      <p:sp>
        <p:nvSpPr>
          <p:cNvPr id="5" name="Footer Placeholder 4">
            <a:extLst>
              <a:ext uri="{FF2B5EF4-FFF2-40B4-BE49-F238E27FC236}">
                <a16:creationId xmlns:a16="http://schemas.microsoft.com/office/drawing/2014/main" id="{4D7250FE-6DBD-4289-9511-5D05D19CF1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10A08E-4AE5-4672-8C44-34B86EEC82CE}"/>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2748247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32352-8481-41AD-8AC0-D532E19E6E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B668B2E-6852-4395-B254-EEA8009551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9FC224-D401-4126-8A4C-A88089EBB83C}"/>
              </a:ext>
            </a:extLst>
          </p:cNvPr>
          <p:cNvSpPr>
            <a:spLocks noGrp="1"/>
          </p:cNvSpPr>
          <p:nvPr>
            <p:ph type="dt" sz="half" idx="10"/>
          </p:nvPr>
        </p:nvSpPr>
        <p:spPr/>
        <p:txBody>
          <a:bodyPr/>
          <a:lstStyle/>
          <a:p>
            <a:fld id="{87864072-6A20-4DBD-9873-382B57A9CEBC}" type="datetimeFigureOut">
              <a:rPr lang="en-US" smtClean="0"/>
              <a:t>11/21/2020</a:t>
            </a:fld>
            <a:endParaRPr lang="en-US"/>
          </a:p>
        </p:txBody>
      </p:sp>
      <p:sp>
        <p:nvSpPr>
          <p:cNvPr id="5" name="Footer Placeholder 4">
            <a:extLst>
              <a:ext uri="{FF2B5EF4-FFF2-40B4-BE49-F238E27FC236}">
                <a16:creationId xmlns:a16="http://schemas.microsoft.com/office/drawing/2014/main" id="{A08A6F80-1254-4085-9631-EF3BFB215E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B5BEC7-7EFD-4172-A6EB-324F550B1E92}"/>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4033276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1B8EF-7756-480B-8AC4-884B456ADA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DD0B1B-47A0-4232-BAF8-F717551F617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E1A325D-5F45-4CA3-ABCC-3A07EE07CB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A03B7B7-5A8B-48EE-8F45-38809D0AA093}"/>
              </a:ext>
            </a:extLst>
          </p:cNvPr>
          <p:cNvSpPr>
            <a:spLocks noGrp="1"/>
          </p:cNvSpPr>
          <p:nvPr>
            <p:ph type="dt" sz="half" idx="10"/>
          </p:nvPr>
        </p:nvSpPr>
        <p:spPr/>
        <p:txBody>
          <a:bodyPr/>
          <a:lstStyle/>
          <a:p>
            <a:fld id="{87864072-6A20-4DBD-9873-382B57A9CEBC}" type="datetimeFigureOut">
              <a:rPr lang="en-US" smtClean="0"/>
              <a:t>11/21/2020</a:t>
            </a:fld>
            <a:endParaRPr lang="en-US"/>
          </a:p>
        </p:txBody>
      </p:sp>
      <p:sp>
        <p:nvSpPr>
          <p:cNvPr id="6" name="Footer Placeholder 5">
            <a:extLst>
              <a:ext uri="{FF2B5EF4-FFF2-40B4-BE49-F238E27FC236}">
                <a16:creationId xmlns:a16="http://schemas.microsoft.com/office/drawing/2014/main" id="{23D7EE25-F5A8-40CF-AED4-6A8B4153C1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0EF098-D06A-4D79-A934-F11F1217AE8B}"/>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479507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817B3-8B64-4F56-9165-9D1F1B69965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12F572-116B-4FBC-80A1-B160E910E8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BDAA3B-BF40-498F-910E-D6FE62C725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37089C-079C-4C6E-9481-3975BCB5DE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8D0D08-DF36-4271-880D-5E9F0DBDEC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8D17495-0CEE-4E07-B1EE-B6519BFEFF1A}"/>
              </a:ext>
            </a:extLst>
          </p:cNvPr>
          <p:cNvSpPr>
            <a:spLocks noGrp="1"/>
          </p:cNvSpPr>
          <p:nvPr>
            <p:ph type="dt" sz="half" idx="10"/>
          </p:nvPr>
        </p:nvSpPr>
        <p:spPr/>
        <p:txBody>
          <a:bodyPr/>
          <a:lstStyle/>
          <a:p>
            <a:fld id="{87864072-6A20-4DBD-9873-382B57A9CEBC}" type="datetimeFigureOut">
              <a:rPr lang="en-US" smtClean="0"/>
              <a:t>11/21/2020</a:t>
            </a:fld>
            <a:endParaRPr lang="en-US"/>
          </a:p>
        </p:txBody>
      </p:sp>
      <p:sp>
        <p:nvSpPr>
          <p:cNvPr id="8" name="Footer Placeholder 7">
            <a:extLst>
              <a:ext uri="{FF2B5EF4-FFF2-40B4-BE49-F238E27FC236}">
                <a16:creationId xmlns:a16="http://schemas.microsoft.com/office/drawing/2014/main" id="{2C8416FD-C3A3-4B77-9678-C5082E628E9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E038-F659-4CEC-893C-EE00681F5F73}"/>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2569835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5EC38-A637-413A-ADAE-BE0CFC8B87B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9CF607-1E75-4E3B-9910-AF15505BCFA0}"/>
              </a:ext>
            </a:extLst>
          </p:cNvPr>
          <p:cNvSpPr>
            <a:spLocks noGrp="1"/>
          </p:cNvSpPr>
          <p:nvPr>
            <p:ph type="dt" sz="half" idx="10"/>
          </p:nvPr>
        </p:nvSpPr>
        <p:spPr/>
        <p:txBody>
          <a:bodyPr/>
          <a:lstStyle/>
          <a:p>
            <a:fld id="{87864072-6A20-4DBD-9873-382B57A9CEBC}" type="datetimeFigureOut">
              <a:rPr lang="en-US" smtClean="0"/>
              <a:t>11/21/2020</a:t>
            </a:fld>
            <a:endParaRPr lang="en-US"/>
          </a:p>
        </p:txBody>
      </p:sp>
      <p:sp>
        <p:nvSpPr>
          <p:cNvPr id="4" name="Footer Placeholder 3">
            <a:extLst>
              <a:ext uri="{FF2B5EF4-FFF2-40B4-BE49-F238E27FC236}">
                <a16:creationId xmlns:a16="http://schemas.microsoft.com/office/drawing/2014/main" id="{298C001C-1627-4AD3-A0D3-B3339FC11CF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503E4DC-41E9-49A6-9047-6E1F7BF34CF1}"/>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316425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CCE46B-A1F2-4FE7-BE62-EA0E275D0B6A}"/>
              </a:ext>
            </a:extLst>
          </p:cNvPr>
          <p:cNvSpPr>
            <a:spLocks noGrp="1"/>
          </p:cNvSpPr>
          <p:nvPr>
            <p:ph type="dt" sz="half" idx="10"/>
          </p:nvPr>
        </p:nvSpPr>
        <p:spPr/>
        <p:txBody>
          <a:bodyPr/>
          <a:lstStyle/>
          <a:p>
            <a:fld id="{87864072-6A20-4DBD-9873-382B57A9CEBC}" type="datetimeFigureOut">
              <a:rPr lang="en-US" smtClean="0"/>
              <a:t>11/21/2020</a:t>
            </a:fld>
            <a:endParaRPr lang="en-US"/>
          </a:p>
        </p:txBody>
      </p:sp>
      <p:sp>
        <p:nvSpPr>
          <p:cNvPr id="3" name="Footer Placeholder 2">
            <a:extLst>
              <a:ext uri="{FF2B5EF4-FFF2-40B4-BE49-F238E27FC236}">
                <a16:creationId xmlns:a16="http://schemas.microsoft.com/office/drawing/2014/main" id="{EF188AA1-14B3-435D-88D6-94512D0E893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BF83966-455F-4672-A770-389923924051}"/>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3711392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37F8D-EF09-4BE8-A8AA-A3E2AB642E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BEB90AC-FF6F-4700-8FDC-3A3EC0FF8D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B719B4C-AF9F-4A5E-9702-FB58A7B26F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98C2B0-1797-4CA4-91C5-DF4B4A45FCC6}"/>
              </a:ext>
            </a:extLst>
          </p:cNvPr>
          <p:cNvSpPr>
            <a:spLocks noGrp="1"/>
          </p:cNvSpPr>
          <p:nvPr>
            <p:ph type="dt" sz="half" idx="10"/>
          </p:nvPr>
        </p:nvSpPr>
        <p:spPr/>
        <p:txBody>
          <a:bodyPr/>
          <a:lstStyle/>
          <a:p>
            <a:fld id="{87864072-6A20-4DBD-9873-382B57A9CEBC}" type="datetimeFigureOut">
              <a:rPr lang="en-US" smtClean="0"/>
              <a:t>11/21/2020</a:t>
            </a:fld>
            <a:endParaRPr lang="en-US"/>
          </a:p>
        </p:txBody>
      </p:sp>
      <p:sp>
        <p:nvSpPr>
          <p:cNvPr id="6" name="Footer Placeholder 5">
            <a:extLst>
              <a:ext uri="{FF2B5EF4-FFF2-40B4-BE49-F238E27FC236}">
                <a16:creationId xmlns:a16="http://schemas.microsoft.com/office/drawing/2014/main" id="{8BE09123-8FCE-4335-90FF-B38FF42782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115DF9-1BB0-4D73-8CE7-BE42FC1A576F}"/>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862667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0001E-159E-4C6B-904E-108CE8ECFE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6FE07AB-277F-44EB-9550-9E948F6ED0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4C6601-2A79-4B56-9BD2-9FFCD85C1C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A6FD8E-BD42-4380-A704-79AD7BEB4212}"/>
              </a:ext>
            </a:extLst>
          </p:cNvPr>
          <p:cNvSpPr>
            <a:spLocks noGrp="1"/>
          </p:cNvSpPr>
          <p:nvPr>
            <p:ph type="dt" sz="half" idx="10"/>
          </p:nvPr>
        </p:nvSpPr>
        <p:spPr/>
        <p:txBody>
          <a:bodyPr/>
          <a:lstStyle/>
          <a:p>
            <a:fld id="{87864072-6A20-4DBD-9873-382B57A9CEBC}" type="datetimeFigureOut">
              <a:rPr lang="en-US" smtClean="0"/>
              <a:t>11/21/2020</a:t>
            </a:fld>
            <a:endParaRPr lang="en-US"/>
          </a:p>
        </p:txBody>
      </p:sp>
      <p:sp>
        <p:nvSpPr>
          <p:cNvPr id="6" name="Footer Placeholder 5">
            <a:extLst>
              <a:ext uri="{FF2B5EF4-FFF2-40B4-BE49-F238E27FC236}">
                <a16:creationId xmlns:a16="http://schemas.microsoft.com/office/drawing/2014/main" id="{AA504562-B91A-4A31-B18F-2CE9197E16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097E42-70ED-44AC-8D83-F71879FFE9B7}"/>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237527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792E7-DD2D-4D70-82F6-D9725B3710F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27CEF2-37E8-4EA3-895A-13883A2168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AF8EF2-460E-4E7D-A56E-13C49CA0173D}"/>
              </a:ext>
            </a:extLst>
          </p:cNvPr>
          <p:cNvSpPr>
            <a:spLocks noGrp="1"/>
          </p:cNvSpPr>
          <p:nvPr>
            <p:ph type="dt" sz="half" idx="10"/>
          </p:nvPr>
        </p:nvSpPr>
        <p:spPr/>
        <p:txBody>
          <a:bodyPr/>
          <a:lstStyle/>
          <a:p>
            <a:fld id="{87864072-6A20-4DBD-9873-382B57A9CEBC}" type="datetimeFigureOut">
              <a:rPr lang="en-US" smtClean="0"/>
              <a:t>11/21/2020</a:t>
            </a:fld>
            <a:endParaRPr lang="en-US"/>
          </a:p>
        </p:txBody>
      </p:sp>
      <p:sp>
        <p:nvSpPr>
          <p:cNvPr id="5" name="Footer Placeholder 4">
            <a:extLst>
              <a:ext uri="{FF2B5EF4-FFF2-40B4-BE49-F238E27FC236}">
                <a16:creationId xmlns:a16="http://schemas.microsoft.com/office/drawing/2014/main" id="{0D1DE7C8-D345-4CEE-B7B9-E056DB7853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00CDD-B8DE-434D-8CD1-8D73E0465BDF}"/>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21487484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1BF484-8DF8-4359-A45F-3550A7C91D5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412163-A279-4DFE-9D2D-E78F9BB203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A9479B-855F-41CF-8B9D-86AEE460424B}"/>
              </a:ext>
            </a:extLst>
          </p:cNvPr>
          <p:cNvSpPr>
            <a:spLocks noGrp="1"/>
          </p:cNvSpPr>
          <p:nvPr>
            <p:ph type="dt" sz="half" idx="10"/>
          </p:nvPr>
        </p:nvSpPr>
        <p:spPr/>
        <p:txBody>
          <a:bodyPr/>
          <a:lstStyle/>
          <a:p>
            <a:fld id="{87864072-6A20-4DBD-9873-382B57A9CEBC}" type="datetimeFigureOut">
              <a:rPr lang="en-US" smtClean="0"/>
              <a:t>11/21/2020</a:t>
            </a:fld>
            <a:endParaRPr lang="en-US"/>
          </a:p>
        </p:txBody>
      </p:sp>
      <p:sp>
        <p:nvSpPr>
          <p:cNvPr id="5" name="Footer Placeholder 4">
            <a:extLst>
              <a:ext uri="{FF2B5EF4-FFF2-40B4-BE49-F238E27FC236}">
                <a16:creationId xmlns:a16="http://schemas.microsoft.com/office/drawing/2014/main" id="{6EAE8C7C-204E-4E9D-B2DF-712E4B427B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57DAE8-C3F7-47A0-ACCB-36C329E6530B}"/>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404400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63EC23-EE39-4728-B8BB-EAA6185060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7CCE27-E475-4C15-9FE6-8CAEA1D4E7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9445BA-1B4C-44B9-8E59-F3B0BDD73D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864072-6A20-4DBD-9873-382B57A9CEBC}" type="datetimeFigureOut">
              <a:rPr lang="en-US" smtClean="0"/>
              <a:t>11/21/2020</a:t>
            </a:fld>
            <a:endParaRPr lang="en-US"/>
          </a:p>
        </p:txBody>
      </p:sp>
      <p:sp>
        <p:nvSpPr>
          <p:cNvPr id="5" name="Footer Placeholder 4">
            <a:extLst>
              <a:ext uri="{FF2B5EF4-FFF2-40B4-BE49-F238E27FC236}">
                <a16:creationId xmlns:a16="http://schemas.microsoft.com/office/drawing/2014/main" id="{77875FA0-C085-4441-B672-E2C970C430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2623047-2BBF-4763-A0EE-1941F70D5D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E914E4-B421-41C6-A5C3-592ADA163034}" type="slidenum">
              <a:rPr lang="en-US" smtClean="0"/>
              <a:t>‹#›</a:t>
            </a:fld>
            <a:endParaRPr lang="en-US"/>
          </a:p>
        </p:txBody>
      </p:sp>
    </p:spTree>
    <p:extLst>
      <p:ext uri="{BB962C8B-B14F-4D97-AF65-F5344CB8AC3E}">
        <p14:creationId xmlns:p14="http://schemas.microsoft.com/office/powerpoint/2010/main" val="26066242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 name="Rectangle 77">
            <a:extLst>
              <a:ext uri="{FF2B5EF4-FFF2-40B4-BE49-F238E27FC236}">
                <a16:creationId xmlns:a16="http://schemas.microsoft.com/office/drawing/2014/main" id="{0700D48D-C9AA-4000-A912-29A4FEA98A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5138" y="394887"/>
            <a:ext cx="5720862" cy="606822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C1DA4F3-9EF8-4369-8046-62460F132A30}"/>
              </a:ext>
            </a:extLst>
          </p:cNvPr>
          <p:cNvSpPr>
            <a:spLocks noGrp="1"/>
          </p:cNvSpPr>
          <p:nvPr>
            <p:ph type="ctrTitle"/>
          </p:nvPr>
        </p:nvSpPr>
        <p:spPr>
          <a:xfrm>
            <a:off x="1018604" y="1053042"/>
            <a:ext cx="4458424" cy="3068357"/>
          </a:xfrm>
        </p:spPr>
        <p:txBody>
          <a:bodyPr>
            <a:normAutofit/>
          </a:bodyPr>
          <a:lstStyle/>
          <a:p>
            <a:pPr algn="l"/>
            <a:br>
              <a:rPr lang="en-US">
                <a:solidFill>
                  <a:srgbClr val="FFFFFF"/>
                </a:solidFill>
              </a:rPr>
            </a:br>
            <a:endParaRPr lang="en-US">
              <a:solidFill>
                <a:srgbClr val="FFFFFF"/>
              </a:solidFill>
            </a:endParaRPr>
          </a:p>
        </p:txBody>
      </p:sp>
      <p:sp>
        <p:nvSpPr>
          <p:cNvPr id="3" name="Subtitle 2">
            <a:extLst>
              <a:ext uri="{FF2B5EF4-FFF2-40B4-BE49-F238E27FC236}">
                <a16:creationId xmlns:a16="http://schemas.microsoft.com/office/drawing/2014/main" id="{FD3F6E6A-CA2C-4D7C-95F1-0463554CE732}"/>
              </a:ext>
            </a:extLst>
          </p:cNvPr>
          <p:cNvSpPr>
            <a:spLocks noGrp="1"/>
          </p:cNvSpPr>
          <p:nvPr>
            <p:ph type="subTitle" idx="1"/>
          </p:nvPr>
        </p:nvSpPr>
        <p:spPr>
          <a:xfrm>
            <a:off x="1018604" y="4292070"/>
            <a:ext cx="4458424" cy="1512888"/>
          </a:xfrm>
        </p:spPr>
        <p:txBody>
          <a:bodyPr>
            <a:normAutofit/>
          </a:bodyPr>
          <a:lstStyle/>
          <a:p>
            <a:pPr algn="l"/>
            <a:r>
              <a:rPr lang="en-US" sz="1500">
                <a:solidFill>
                  <a:srgbClr val="ABCD81"/>
                </a:solidFill>
              </a:rPr>
              <a:t>Dr. Rizwan Khan</a:t>
            </a:r>
          </a:p>
          <a:p>
            <a:pPr algn="l"/>
            <a:r>
              <a:rPr lang="en-US" sz="1500">
                <a:solidFill>
                  <a:srgbClr val="ABCD81"/>
                </a:solidFill>
              </a:rPr>
              <a:t>Head – Department of Computer Science and Engineering</a:t>
            </a:r>
          </a:p>
          <a:p>
            <a:pPr algn="l"/>
            <a:r>
              <a:rPr lang="en-US" sz="1500">
                <a:solidFill>
                  <a:srgbClr val="ABCD81"/>
                </a:solidFill>
              </a:rPr>
              <a:t>(An NBA Accredited Program)</a:t>
            </a:r>
          </a:p>
          <a:p>
            <a:pPr algn="l"/>
            <a:r>
              <a:rPr lang="en-US" sz="1500">
                <a:solidFill>
                  <a:srgbClr val="ABCD81"/>
                </a:solidFill>
              </a:rPr>
              <a:t>ABES Institute of Technology, Ghaziabad</a:t>
            </a:r>
          </a:p>
        </p:txBody>
      </p:sp>
      <p:cxnSp>
        <p:nvCxnSpPr>
          <p:cNvPr id="80" name="Straight Connector 79">
            <a:extLst>
              <a:ext uri="{FF2B5EF4-FFF2-40B4-BE49-F238E27FC236}">
                <a16:creationId xmlns:a16="http://schemas.microsoft.com/office/drawing/2014/main" id="{805E69BC-D844-4AB5-9E35-ED458EE2965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6200000">
            <a:off x="9184178" y="1874520"/>
            <a:ext cx="0" cy="310896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312C673-8179-457E-AD2A-D1FAE4CC96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14009" y="4201833"/>
            <a:ext cx="3400425"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graphicFrame>
        <p:nvGraphicFramePr>
          <p:cNvPr id="6" name="Table 5">
            <a:extLst>
              <a:ext uri="{FF2B5EF4-FFF2-40B4-BE49-F238E27FC236}">
                <a16:creationId xmlns:a16="http://schemas.microsoft.com/office/drawing/2014/main" id="{8E6B5078-279F-496A-B100-835C91465BD5}"/>
              </a:ext>
            </a:extLst>
          </p:cNvPr>
          <p:cNvGraphicFramePr>
            <a:graphicFrameLocks noGrp="1"/>
          </p:cNvGraphicFramePr>
          <p:nvPr>
            <p:extLst>
              <p:ext uri="{D42A27DB-BD31-4B8C-83A1-F6EECF244321}">
                <p14:modId xmlns:p14="http://schemas.microsoft.com/office/powerpoint/2010/main" val="1133047617"/>
              </p:ext>
            </p:extLst>
          </p:nvPr>
        </p:nvGraphicFramePr>
        <p:xfrm>
          <a:off x="7517296" y="1053042"/>
          <a:ext cx="3999192" cy="1554480"/>
        </p:xfrm>
        <a:graphic>
          <a:graphicData uri="http://schemas.openxmlformats.org/drawingml/2006/table">
            <a:tbl>
              <a:tblPr firstRow="1" bandRow="1">
                <a:tableStyleId>{5C22544A-7EE6-4342-B048-85BDC9FD1C3A}</a:tableStyleId>
              </a:tblPr>
              <a:tblGrid>
                <a:gridCol w="3999192">
                  <a:extLst>
                    <a:ext uri="{9D8B030D-6E8A-4147-A177-3AD203B41FA5}">
                      <a16:colId xmlns:a16="http://schemas.microsoft.com/office/drawing/2014/main" val="3518561318"/>
                    </a:ext>
                  </a:extLst>
                </a:gridCol>
              </a:tblGrid>
              <a:tr h="1474163">
                <a:tc>
                  <a:txBody>
                    <a:bodyPr/>
                    <a:lstStyle/>
                    <a:p>
                      <a:r>
                        <a:rPr lang="en-US" sz="3200" dirty="0"/>
                        <a:t>COMPUTER ORGANIZATION AND ARCHITECTURE</a:t>
                      </a:r>
                    </a:p>
                  </a:txBody>
                  <a:tcPr/>
                </a:tc>
                <a:extLst>
                  <a:ext uri="{0D108BD9-81ED-4DB2-BD59-A6C34878D82A}">
                    <a16:rowId xmlns:a16="http://schemas.microsoft.com/office/drawing/2014/main" val="1796247831"/>
                  </a:ext>
                </a:extLst>
              </a:tr>
            </a:tbl>
          </a:graphicData>
        </a:graphic>
      </p:graphicFrame>
    </p:spTree>
    <p:extLst>
      <p:ext uri="{BB962C8B-B14F-4D97-AF65-F5344CB8AC3E}">
        <p14:creationId xmlns:p14="http://schemas.microsoft.com/office/powerpoint/2010/main" val="1407932584"/>
      </p:ext>
    </p:extLst>
  </p:cSld>
  <p:clrMapOvr>
    <a:masterClrMapping/>
  </p:clrMapOvr>
  <mc:AlternateContent xmlns:mc="http://schemas.openxmlformats.org/markup-compatibility/2006" xmlns:p14="http://schemas.microsoft.com/office/powerpoint/2010/main">
    <mc:Choice Requires="p14">
      <p:transition spd="slow" p14:dur="2000" advTm="7530"/>
    </mc:Choice>
    <mc:Fallback xmlns="">
      <p:transition spd="slow" advTm="753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11138"/>
            <a:ext cx="8229600" cy="474662"/>
          </a:xfrm>
        </p:spPr>
        <p:txBody>
          <a:bodyPr>
            <a:normAutofit fontScale="90000"/>
          </a:bodyPr>
          <a:lstStyle/>
          <a:p>
            <a:r>
              <a:rPr lang="en-US" dirty="0"/>
              <a:t>Direct Memory Access</a:t>
            </a:r>
          </a:p>
        </p:txBody>
      </p:sp>
      <p:pic>
        <p:nvPicPr>
          <p:cNvPr id="6146" name="Picture 2"/>
          <p:cNvPicPr>
            <a:picLocks noChangeAspect="1" noChangeArrowheads="1"/>
          </p:cNvPicPr>
          <p:nvPr/>
        </p:nvPicPr>
        <p:blipFill>
          <a:blip r:embed="rId2"/>
          <a:srcRect/>
          <a:stretch>
            <a:fillRect/>
          </a:stretch>
        </p:blipFill>
        <p:spPr bwMode="auto">
          <a:xfrm>
            <a:off x="3862389" y="1228725"/>
            <a:ext cx="4619625" cy="1733550"/>
          </a:xfrm>
          <a:prstGeom prst="rect">
            <a:avLst/>
          </a:prstGeom>
          <a:noFill/>
          <a:ln w="9525">
            <a:noFill/>
            <a:miter lim="800000"/>
            <a:headEnd/>
            <a:tailEnd/>
          </a:ln>
          <a:effectLst/>
        </p:spPr>
      </p:pic>
      <p:pic>
        <p:nvPicPr>
          <p:cNvPr id="6147" name="Picture 3"/>
          <p:cNvPicPr>
            <a:picLocks noChangeAspect="1" noChangeArrowheads="1"/>
          </p:cNvPicPr>
          <p:nvPr/>
        </p:nvPicPr>
        <p:blipFill>
          <a:blip r:embed="rId3"/>
          <a:srcRect/>
          <a:stretch>
            <a:fillRect/>
          </a:stretch>
        </p:blipFill>
        <p:spPr bwMode="auto">
          <a:xfrm>
            <a:off x="2714625" y="3057525"/>
            <a:ext cx="6686550" cy="3181350"/>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11138"/>
            <a:ext cx="8229600" cy="474662"/>
          </a:xfrm>
        </p:spPr>
        <p:txBody>
          <a:bodyPr>
            <a:normAutofit fontScale="90000"/>
          </a:bodyPr>
          <a:lstStyle/>
          <a:p>
            <a:r>
              <a:rPr lang="en-US" dirty="0"/>
              <a:t>Direct Memory Access</a:t>
            </a:r>
          </a:p>
        </p:txBody>
      </p:sp>
      <p:pic>
        <p:nvPicPr>
          <p:cNvPr id="8195" name="Picture 3"/>
          <p:cNvPicPr>
            <a:picLocks noChangeAspect="1" noChangeArrowheads="1"/>
          </p:cNvPicPr>
          <p:nvPr/>
        </p:nvPicPr>
        <p:blipFill>
          <a:blip r:embed="rId2"/>
          <a:srcRect/>
          <a:stretch>
            <a:fillRect/>
          </a:stretch>
        </p:blipFill>
        <p:spPr bwMode="auto">
          <a:xfrm>
            <a:off x="1789114" y="947739"/>
            <a:ext cx="6581775" cy="3133725"/>
          </a:xfrm>
          <a:prstGeom prst="rect">
            <a:avLst/>
          </a:prstGeom>
          <a:noFill/>
          <a:ln w="9525">
            <a:noFill/>
            <a:miter lim="800000"/>
            <a:headEnd/>
            <a:tailEnd/>
          </a:ln>
          <a:effectLst/>
        </p:spPr>
      </p:pic>
      <p:sp>
        <p:nvSpPr>
          <p:cNvPr id="7" name="Rectangle 6"/>
          <p:cNvSpPr/>
          <p:nvPr/>
        </p:nvSpPr>
        <p:spPr>
          <a:xfrm>
            <a:off x="1790700" y="4382041"/>
            <a:ext cx="8597900" cy="2086725"/>
          </a:xfrm>
          <a:prstGeom prst="rect">
            <a:avLst/>
          </a:prstGeom>
        </p:spPr>
        <p:txBody>
          <a:bodyPr wrap="square">
            <a:spAutoFit/>
          </a:bodyPr>
          <a:lstStyle/>
          <a:p>
            <a:r>
              <a:rPr lang="en-US" sz="1600" dirty="0"/>
              <a:t>The DMA controller is a piece of hardware that controls one or more peripheral devices. It allows devices to transfer data to or from the system’s memory without the help of the processor. In a typical DMA transfer, some event </a:t>
            </a:r>
            <a:r>
              <a:rPr lang="en-US" sz="1600" dirty="0" err="1"/>
              <a:t>notiﬁes</a:t>
            </a:r>
            <a:r>
              <a:rPr lang="en-US" sz="1600" dirty="0"/>
              <a:t> the DMA controller that data needs to be transferred to or from memory. Both the DMA and CPU use memory bus and only one or the other can use the memory at the same time. The DMA controller then sends a request to the CPU asking its permission to use the bus. The CPU returns an acknowledgment to the DMA controller granting it bus access. The DMA can now take control of the bus to independently conduct memory transfer. When the transfer is complete the DMA relinquishes its control of the bus to the CPU.</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11138"/>
            <a:ext cx="8229600" cy="474662"/>
          </a:xfrm>
        </p:spPr>
        <p:txBody>
          <a:bodyPr>
            <a:normAutofit fontScale="90000"/>
          </a:bodyPr>
          <a:lstStyle/>
          <a:p>
            <a:r>
              <a:rPr lang="en-US" dirty="0"/>
              <a:t>Direct Memory Access</a:t>
            </a:r>
          </a:p>
        </p:txBody>
      </p:sp>
      <p:pic>
        <p:nvPicPr>
          <p:cNvPr id="7170" name="Picture 2"/>
          <p:cNvPicPr>
            <a:picLocks noChangeAspect="1" noChangeArrowheads="1"/>
          </p:cNvPicPr>
          <p:nvPr/>
        </p:nvPicPr>
        <p:blipFill>
          <a:blip r:embed="rId2"/>
          <a:srcRect/>
          <a:stretch>
            <a:fillRect/>
          </a:stretch>
        </p:blipFill>
        <p:spPr bwMode="auto">
          <a:xfrm>
            <a:off x="4048125" y="981075"/>
            <a:ext cx="4095750" cy="4895850"/>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11138"/>
            <a:ext cx="8229600" cy="474662"/>
          </a:xfrm>
        </p:spPr>
        <p:txBody>
          <a:bodyPr>
            <a:normAutofit fontScale="90000"/>
          </a:bodyPr>
          <a:lstStyle/>
          <a:p>
            <a:r>
              <a:rPr lang="en-US" dirty="0"/>
              <a:t>Typical DMA Operation</a:t>
            </a:r>
          </a:p>
        </p:txBody>
      </p:sp>
      <p:sp>
        <p:nvSpPr>
          <p:cNvPr id="4" name="Rectangle 3"/>
          <p:cNvSpPr/>
          <p:nvPr/>
        </p:nvSpPr>
        <p:spPr>
          <a:xfrm>
            <a:off x="1892300" y="890943"/>
            <a:ext cx="8496300" cy="4647426"/>
          </a:xfrm>
          <a:prstGeom prst="rect">
            <a:avLst/>
          </a:prstGeom>
        </p:spPr>
        <p:txBody>
          <a:bodyPr wrap="square">
            <a:spAutoFit/>
          </a:bodyPr>
          <a:lstStyle/>
          <a:p>
            <a:endParaRPr lang="en-US" dirty="0"/>
          </a:p>
          <a:p>
            <a:pPr marL="228600" indent="-228600">
              <a:buFont typeface="+mj-lt"/>
              <a:buAutoNum type="arabicPeriod"/>
            </a:pPr>
            <a:r>
              <a:rPr lang="en-US" dirty="0"/>
              <a:t>The processor initiates the DMA controller by identifying the I/O device and supplying the memory address, byte count, and type of operation (input or output). This is referred to as channel initialization.   Once initialized, the channel is ready for data transfer between the associated I/O device and memory.</a:t>
            </a:r>
          </a:p>
          <a:p>
            <a:pPr marL="228600" indent="-228600">
              <a:buFont typeface="+mj-lt"/>
              <a:buAutoNum type="arabicPeriod"/>
            </a:pPr>
            <a:endParaRPr lang="en-US" dirty="0"/>
          </a:p>
          <a:p>
            <a:pPr marL="228600" indent="-228600">
              <a:buFont typeface="+mj-lt"/>
              <a:buAutoNum type="arabicPeriod"/>
            </a:pPr>
            <a:r>
              <a:rPr lang="en-US" dirty="0"/>
              <a:t>When the I/O device is ready to transfer data, it informs the DMA controller. The DMA controller starts the transfer operation. This step consists of the following </a:t>
            </a:r>
            <a:r>
              <a:rPr lang="en-US" dirty="0" err="1"/>
              <a:t>substeps</a:t>
            </a:r>
            <a:r>
              <a:rPr lang="en-US" dirty="0"/>
              <a:t>. </a:t>
            </a:r>
          </a:p>
          <a:p>
            <a:pPr marL="800100" lvl="1" indent="-342900">
              <a:buFont typeface="+mj-lt"/>
              <a:buAutoNum type="alphaLcParenR"/>
            </a:pPr>
            <a:r>
              <a:rPr lang="en-US" sz="1600" dirty="0"/>
              <a:t>Obtain the bus by going through the bus arbitration process </a:t>
            </a:r>
          </a:p>
          <a:p>
            <a:pPr marL="800100" lvl="1" indent="-342900">
              <a:buFont typeface="+mj-lt"/>
              <a:buAutoNum type="alphaLcParenR"/>
            </a:pPr>
            <a:r>
              <a:rPr lang="en-US" sz="1600" dirty="0"/>
              <a:t>Place the memory address and generate the appropriate read and write control signals; </a:t>
            </a:r>
          </a:p>
          <a:p>
            <a:pPr marL="800100" lvl="1" indent="-342900">
              <a:buFont typeface="+mj-lt"/>
              <a:buAutoNum type="alphaLcParenR"/>
            </a:pPr>
            <a:r>
              <a:rPr lang="en-US" sz="1600" dirty="0"/>
              <a:t>Complete the transfer and release the bus for use by the processor or other DMA devices; </a:t>
            </a:r>
          </a:p>
          <a:p>
            <a:pPr marL="800100" lvl="1" indent="-342900">
              <a:buFont typeface="+mj-lt"/>
              <a:buAutoNum type="alphaLcParenR"/>
            </a:pPr>
            <a:r>
              <a:rPr lang="en-US" sz="1600" dirty="0"/>
              <a:t>Update the memory address and count value; </a:t>
            </a:r>
          </a:p>
          <a:p>
            <a:pPr marL="800100" lvl="1" indent="-342900">
              <a:buFont typeface="+mj-lt"/>
              <a:buAutoNum type="alphaLcParenR"/>
            </a:pPr>
            <a:r>
              <a:rPr lang="en-US" sz="1600" dirty="0"/>
              <a:t>If more bytes are to be transferred, repeat the loop from Step (a). </a:t>
            </a:r>
          </a:p>
          <a:p>
            <a:pPr marL="228600" indent="-228600">
              <a:buFont typeface="+mj-lt"/>
              <a:buAutoNum type="arabicPeriod"/>
            </a:pPr>
            <a:endParaRPr lang="en-US" dirty="0"/>
          </a:p>
          <a:p>
            <a:pPr marL="228600" indent="-228600">
              <a:buFont typeface="+mj-lt"/>
              <a:buAutoNum type="arabicPeriod"/>
            </a:pPr>
            <a:r>
              <a:rPr lang="en-US" dirty="0"/>
              <a:t>After completing the operation, the processor is </a:t>
            </a:r>
            <a:r>
              <a:rPr lang="en-US" dirty="0" err="1"/>
              <a:t>notiﬁed</a:t>
            </a:r>
            <a:r>
              <a:rPr lang="en-US" dirty="0"/>
              <a:t>.  This </a:t>
            </a:r>
            <a:r>
              <a:rPr lang="en-US" dirty="0" err="1"/>
              <a:t>notiﬁcation</a:t>
            </a:r>
            <a:r>
              <a:rPr lang="en-US" dirty="0"/>
              <a:t> is done by an interrupt mechanism.  The processor can then check the status of the transfer (i.e., successful or failure).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Image result for thank you pic for ppt">
            <a:extLst>
              <a:ext uri="{FF2B5EF4-FFF2-40B4-BE49-F238E27FC236}">
                <a16:creationId xmlns:a16="http://schemas.microsoft.com/office/drawing/2014/main" id="{1D5CBD28-F489-4298-BC2F-4254CD77B0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3860" y="1690688"/>
            <a:ext cx="3882887" cy="2786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18009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398</TotalTime>
  <Words>382</Words>
  <Application>Microsoft Office PowerPoint</Application>
  <PresentationFormat>Widescreen</PresentationFormat>
  <Paragraphs>22</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 </vt:lpstr>
      <vt:lpstr>Direct Memory Access</vt:lpstr>
      <vt:lpstr>Direct Memory Access</vt:lpstr>
      <vt:lpstr>Direct Memory Access</vt:lpstr>
      <vt:lpstr>Typical DMA Operation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by Dr. Rizwan Khan</dc:title>
  <dc:creator>arun pandey</dc:creator>
  <cp:lastModifiedBy>admin</cp:lastModifiedBy>
  <cp:revision>42</cp:revision>
  <dcterms:created xsi:type="dcterms:W3CDTF">2020-06-18T04:00:41Z</dcterms:created>
  <dcterms:modified xsi:type="dcterms:W3CDTF">2020-11-21T04:59:37Z</dcterms:modified>
</cp:coreProperties>
</file>