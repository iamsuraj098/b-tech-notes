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98" r:id="rId3"/>
    <p:sldId id="297" r:id="rId4"/>
    <p:sldId id="299" r:id="rId5"/>
    <p:sldId id="289" r:id="rId6"/>
    <p:sldId id="272" r:id="rId7"/>
    <p:sldId id="300" r:id="rId8"/>
    <p:sldId id="301" r:id="rId9"/>
    <p:sldId id="27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11/26/2020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11/26/2020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11/26/2020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2661" y="19053"/>
            <a:ext cx="8229600" cy="893761"/>
          </a:xfrm>
        </p:spPr>
        <p:txBody>
          <a:bodyPr/>
          <a:lstStyle/>
          <a:p>
            <a:r>
              <a:rPr lang="en-US" dirty="0"/>
              <a:t>ISOLATED I/O</a:t>
            </a:r>
          </a:p>
        </p:txBody>
      </p:sp>
      <p:pic>
        <p:nvPicPr>
          <p:cNvPr id="2050" name="Picture 2"/>
          <p:cNvPicPr>
            <a:picLocks noChangeAspect="1" noChangeArrowheads="1"/>
          </p:cNvPicPr>
          <p:nvPr/>
        </p:nvPicPr>
        <p:blipFill>
          <a:blip r:embed="rId2"/>
          <a:srcRect/>
          <a:stretch>
            <a:fillRect/>
          </a:stretch>
        </p:blipFill>
        <p:spPr bwMode="auto">
          <a:xfrm>
            <a:off x="2041525" y="912814"/>
            <a:ext cx="5772150" cy="2924175"/>
          </a:xfrm>
          <a:prstGeom prst="rect">
            <a:avLst/>
          </a:prstGeom>
          <a:noFill/>
          <a:ln w="9525">
            <a:noFill/>
            <a:miter lim="800000"/>
            <a:headEnd/>
            <a:tailEnd/>
          </a:ln>
          <a:effectLst/>
        </p:spPr>
      </p:pic>
      <p:sp>
        <p:nvSpPr>
          <p:cNvPr id="6" name="Rectangle 4"/>
          <p:cNvSpPr>
            <a:spLocks noChangeArrowheads="1"/>
          </p:cNvSpPr>
          <p:nvPr/>
        </p:nvSpPr>
        <p:spPr bwMode="auto">
          <a:xfrm>
            <a:off x="2132014" y="4730750"/>
            <a:ext cx="8124825" cy="1113382"/>
          </a:xfrm>
          <a:prstGeom prst="rect">
            <a:avLst/>
          </a:prstGeom>
          <a:noFill/>
          <a:ln w="12700">
            <a:noFill/>
            <a:miter lim="800000"/>
            <a:headEnd/>
            <a:tailEnd/>
          </a:ln>
          <a:effectLst/>
        </p:spPr>
        <p:txBody>
          <a:bodyPr lIns="63500" tIns="25400" rIns="63500" bIns="25400">
            <a:spAutoFit/>
          </a:bodyPr>
          <a:lstStyle/>
          <a:p>
            <a:pPr marL="101600" indent="-101600" defTabSz="152400">
              <a:lnSpc>
                <a:spcPct val="80000"/>
              </a:lnSpc>
              <a:spcBef>
                <a:spcPct val="57000"/>
              </a:spcBef>
            </a:pPr>
            <a:r>
              <a:rPr lang="en-US" altLang="ko-KR" sz="1400" dirty="0"/>
              <a:t>- Separate I/O read/write control lines in addition to memory read/write control lines</a:t>
            </a:r>
          </a:p>
          <a:p>
            <a:pPr marL="101600" indent="-101600" defTabSz="152400">
              <a:lnSpc>
                <a:spcPct val="80000"/>
              </a:lnSpc>
              <a:spcBef>
                <a:spcPct val="57000"/>
              </a:spcBef>
            </a:pPr>
            <a:r>
              <a:rPr lang="en-US" altLang="ko-KR" sz="1400" dirty="0"/>
              <a:t>- Separate (isolated) memory and I/O address spaces </a:t>
            </a:r>
          </a:p>
          <a:p>
            <a:pPr marL="101600" indent="-101600" defTabSz="152400">
              <a:lnSpc>
                <a:spcPct val="80000"/>
              </a:lnSpc>
              <a:spcBef>
                <a:spcPct val="57000"/>
              </a:spcBef>
              <a:buFontTx/>
              <a:buChar char="-"/>
            </a:pPr>
            <a:r>
              <a:rPr lang="en-US" altLang="ko-KR" sz="1400" dirty="0"/>
              <a:t>Distinct input and output instructions</a:t>
            </a:r>
          </a:p>
          <a:p>
            <a:pPr marL="101600" indent="-101600" defTabSz="152400">
              <a:lnSpc>
                <a:spcPct val="80000"/>
              </a:lnSpc>
              <a:spcBef>
                <a:spcPct val="57000"/>
              </a:spcBef>
              <a:buFontTx/>
              <a:buChar char="-"/>
            </a:pPr>
            <a:r>
              <a:rPr lang="en-US" altLang="ko-KR" sz="1400" dirty="0"/>
              <a:t>Memory address values are not affected by interface register assignment</a:t>
            </a:r>
          </a:p>
        </p:txBody>
      </p:sp>
      <p:sp>
        <p:nvSpPr>
          <p:cNvPr id="7" name="Rectangle 5"/>
          <p:cNvSpPr>
            <a:spLocks noChangeArrowheads="1"/>
          </p:cNvSpPr>
          <p:nvPr/>
        </p:nvSpPr>
        <p:spPr bwMode="auto">
          <a:xfrm>
            <a:off x="1962150" y="4354513"/>
            <a:ext cx="1100366" cy="197746"/>
          </a:xfrm>
          <a:prstGeom prst="rect">
            <a:avLst/>
          </a:prstGeom>
          <a:noFill/>
          <a:ln w="12700">
            <a:noFill/>
            <a:miter lim="800000"/>
            <a:headEnd/>
            <a:tailEnd/>
          </a:ln>
          <a:effectLst/>
        </p:spPr>
        <p:txBody>
          <a:bodyPr wrap="none" lIns="63500" tIns="25400" rIns="63500" bIns="25400">
            <a:spAutoFit/>
          </a:bodyPr>
          <a:lstStyle/>
          <a:p>
            <a:pPr defTabSz="762000">
              <a:lnSpc>
                <a:spcPct val="50000"/>
              </a:lnSpc>
            </a:pPr>
            <a:r>
              <a:rPr lang="en-US" altLang="ko-KR" sz="1600" u="sng"/>
              <a:t>Isolated I/O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0" y="43576"/>
            <a:ext cx="8229600" cy="1143000"/>
          </a:xfrm>
        </p:spPr>
        <p:txBody>
          <a:bodyPr/>
          <a:lstStyle/>
          <a:p>
            <a:r>
              <a:rPr lang="en-US" dirty="0"/>
              <a:t>Memory Mapped IO</a:t>
            </a:r>
          </a:p>
        </p:txBody>
      </p:sp>
      <p:pic>
        <p:nvPicPr>
          <p:cNvPr id="3074" name="Picture 2"/>
          <p:cNvPicPr>
            <a:picLocks noChangeAspect="1" noChangeArrowheads="1"/>
          </p:cNvPicPr>
          <p:nvPr/>
        </p:nvPicPr>
        <p:blipFill>
          <a:blip r:embed="rId2"/>
          <a:srcRect/>
          <a:stretch>
            <a:fillRect/>
          </a:stretch>
        </p:blipFill>
        <p:spPr bwMode="auto">
          <a:xfrm>
            <a:off x="3448050" y="958850"/>
            <a:ext cx="5524500" cy="1714500"/>
          </a:xfrm>
          <a:prstGeom prst="rect">
            <a:avLst/>
          </a:prstGeom>
          <a:noFill/>
          <a:ln w="9525">
            <a:noFill/>
            <a:miter lim="800000"/>
            <a:headEnd/>
            <a:tailEnd/>
          </a:ln>
          <a:effectLst/>
        </p:spPr>
      </p:pic>
      <p:sp>
        <p:nvSpPr>
          <p:cNvPr id="5" name="TextBox 4"/>
          <p:cNvSpPr txBox="1"/>
          <p:nvPr/>
        </p:nvSpPr>
        <p:spPr>
          <a:xfrm>
            <a:off x="1892300" y="3086101"/>
            <a:ext cx="8407400" cy="2585323"/>
          </a:xfrm>
          <a:prstGeom prst="rect">
            <a:avLst/>
          </a:prstGeom>
          <a:noFill/>
        </p:spPr>
        <p:txBody>
          <a:bodyPr wrap="square" rtlCol="0">
            <a:spAutoFit/>
          </a:bodyPr>
          <a:lstStyle/>
          <a:p>
            <a:pPr marL="406400" indent="-406400">
              <a:buFont typeface="Arial" pitchFamily="34" charset="0"/>
              <a:buChar char="•"/>
            </a:pPr>
            <a:r>
              <a:rPr lang="en-US" dirty="0"/>
              <a:t>Both the memory and I/O devices are connected to the CPU through the same bus</a:t>
            </a:r>
          </a:p>
          <a:p>
            <a:pPr marL="406400" indent="-406400">
              <a:buFont typeface="Arial" pitchFamily="34" charset="0"/>
              <a:buChar char="•"/>
            </a:pPr>
            <a:r>
              <a:rPr lang="en-US" dirty="0"/>
              <a:t>The device addresses are a part of the memory address space.</a:t>
            </a:r>
          </a:p>
          <a:p>
            <a:pPr marL="406400" indent="-406400">
              <a:buFont typeface="Arial" pitchFamily="34" charset="0"/>
              <a:buChar char="•"/>
            </a:pPr>
            <a:r>
              <a:rPr lang="en-US" dirty="0"/>
              <a:t>The load and store instructions used with memory operands can be used as the read and write instructions with respect to those addresses conﬁgured for I/O devices.</a:t>
            </a:r>
          </a:p>
          <a:p>
            <a:pPr marL="406400" indent="-406400">
              <a:buFont typeface="Arial" pitchFamily="34" charset="0"/>
              <a:buChar char="•"/>
            </a:pPr>
            <a:r>
              <a:rPr lang="en-US" dirty="0"/>
              <a:t>Separate I/O instructions are not needed</a:t>
            </a:r>
          </a:p>
          <a:p>
            <a:pPr marL="406400" indent="-406400">
              <a:buFont typeface="Arial" pitchFamily="34" charset="0"/>
              <a:buChar char="•"/>
            </a:pPr>
            <a:r>
              <a:rPr lang="en-US" dirty="0"/>
              <a:t>Some of the memory address space is used up by the I/O, and it can be difﬁcult to distinguish between the memory and I/O – oriented operations in a program.</a:t>
            </a:r>
          </a:p>
          <a:p>
            <a:pPr marL="406400" indent="-406400">
              <a:buFont typeface="Arial" pitchFamily="34" charset="0"/>
              <a:buChar cha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267122" cy="525464"/>
          </a:xfrm>
        </p:spPr>
        <p:txBody>
          <a:bodyPr>
            <a:normAutofit fontScale="90000"/>
          </a:bodyPr>
          <a:lstStyle/>
          <a:p>
            <a:r>
              <a:rPr lang="en-US" sz="3200" dirty="0"/>
              <a:t>Asynchronous Communication Interface</a:t>
            </a:r>
          </a:p>
        </p:txBody>
      </p:sp>
      <p:pic>
        <p:nvPicPr>
          <p:cNvPr id="1026" name="Picture 2"/>
          <p:cNvPicPr>
            <a:picLocks noChangeAspect="1" noChangeArrowheads="1"/>
          </p:cNvPicPr>
          <p:nvPr/>
        </p:nvPicPr>
        <p:blipFill>
          <a:blip r:embed="rId2"/>
          <a:srcRect/>
          <a:stretch>
            <a:fillRect/>
          </a:stretch>
        </p:blipFill>
        <p:spPr bwMode="auto">
          <a:xfrm>
            <a:off x="1860550" y="890589"/>
            <a:ext cx="6178550" cy="3988597"/>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6454775" y="4573589"/>
            <a:ext cx="3981450" cy="195262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2451101" y="273050"/>
            <a:ext cx="7280275" cy="471488"/>
          </a:xfrm>
          <a:noFill/>
          <a:ln w="12700">
            <a:miter lim="800000"/>
            <a:headEnd/>
            <a:tailEnd/>
          </a:ln>
        </p:spPr>
        <p:txBody>
          <a:bodyPr vert="horz" wrap="square" lIns="63500" tIns="25400" rIns="63500" bIns="25400" numCol="1" rtlCol="0" anchor="ctr" anchorCtr="0" compatLnSpc="1">
            <a:prstTxWarp prst="textNoShape">
              <a:avLst/>
            </a:prstTxWarp>
            <a:normAutofit/>
          </a:bodyPr>
          <a:lstStyle/>
          <a:p>
            <a:r>
              <a:rPr lang="en-US" altLang="ko-KR" sz="2800" dirty="0"/>
              <a:t>I/O  INTERFACE</a:t>
            </a:r>
          </a:p>
        </p:txBody>
      </p:sp>
      <p:sp>
        <p:nvSpPr>
          <p:cNvPr id="39940" name="Rectangle 4"/>
          <p:cNvSpPr>
            <a:spLocks noChangeArrowheads="1"/>
          </p:cNvSpPr>
          <p:nvPr/>
        </p:nvSpPr>
        <p:spPr bwMode="auto">
          <a:xfrm>
            <a:off x="6007472" y="3445255"/>
            <a:ext cx="3751028"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CS  RS1   RS0               Register selected</a:t>
            </a:r>
          </a:p>
          <a:p>
            <a:pPr defTabSz="762000"/>
            <a:endParaRPr lang="en-US" altLang="ko-KR" dirty="0"/>
          </a:p>
        </p:txBody>
      </p:sp>
      <p:sp>
        <p:nvSpPr>
          <p:cNvPr id="39941" name="Rectangle 5"/>
          <p:cNvSpPr>
            <a:spLocks noChangeArrowheads="1"/>
          </p:cNvSpPr>
          <p:nvPr/>
        </p:nvSpPr>
        <p:spPr bwMode="auto">
          <a:xfrm>
            <a:off x="5961938" y="3713702"/>
            <a:ext cx="5321842"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  0      x        </a:t>
            </a:r>
            <a:r>
              <a:rPr lang="en-US" altLang="ko-KR" dirty="0" err="1"/>
              <a:t>x</a:t>
            </a:r>
            <a:r>
              <a:rPr lang="en-US" altLang="ko-KR" dirty="0"/>
              <a:t>             None - data bus in high-</a:t>
            </a:r>
            <a:r>
              <a:rPr lang="en-US" altLang="ko-KR" dirty="0" err="1"/>
              <a:t>impedence</a:t>
            </a:r>
            <a:endParaRPr lang="en-US" altLang="ko-KR" dirty="0"/>
          </a:p>
          <a:p>
            <a:pPr defTabSz="762000"/>
            <a:endParaRPr lang="en-US" altLang="ko-KR" dirty="0"/>
          </a:p>
        </p:txBody>
      </p:sp>
      <p:sp>
        <p:nvSpPr>
          <p:cNvPr id="39942" name="Rectangle 6"/>
          <p:cNvSpPr>
            <a:spLocks noChangeArrowheads="1"/>
          </p:cNvSpPr>
          <p:nvPr/>
        </p:nvSpPr>
        <p:spPr bwMode="auto">
          <a:xfrm>
            <a:off x="5945187" y="3935832"/>
            <a:ext cx="3411319"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  1      0        0             Port A register</a:t>
            </a:r>
          </a:p>
          <a:p>
            <a:pPr defTabSz="762000"/>
            <a:endParaRPr lang="en-US" altLang="ko-KR" dirty="0"/>
          </a:p>
        </p:txBody>
      </p:sp>
      <p:sp>
        <p:nvSpPr>
          <p:cNvPr id="39943" name="Rectangle 7"/>
          <p:cNvSpPr>
            <a:spLocks noChangeArrowheads="1"/>
          </p:cNvSpPr>
          <p:nvPr/>
        </p:nvSpPr>
        <p:spPr bwMode="auto">
          <a:xfrm>
            <a:off x="5945189" y="4105275"/>
            <a:ext cx="3403305"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a:t>  1      0        1             Port B register</a:t>
            </a:r>
          </a:p>
          <a:p>
            <a:pPr defTabSz="762000"/>
            <a:endParaRPr lang="en-US" altLang="ko-KR"/>
          </a:p>
        </p:txBody>
      </p:sp>
      <p:sp>
        <p:nvSpPr>
          <p:cNvPr id="39944" name="Rectangle 8"/>
          <p:cNvSpPr>
            <a:spLocks noChangeArrowheads="1"/>
          </p:cNvSpPr>
          <p:nvPr/>
        </p:nvSpPr>
        <p:spPr bwMode="auto">
          <a:xfrm>
            <a:off x="5945188" y="4276725"/>
            <a:ext cx="3525518"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a:t>  1      1        0             Control register</a:t>
            </a:r>
          </a:p>
          <a:p>
            <a:pPr defTabSz="762000"/>
            <a:endParaRPr lang="en-US" altLang="ko-KR"/>
          </a:p>
        </p:txBody>
      </p:sp>
      <p:sp>
        <p:nvSpPr>
          <p:cNvPr id="39945" name="Rectangle 9"/>
          <p:cNvSpPr>
            <a:spLocks noChangeArrowheads="1"/>
          </p:cNvSpPr>
          <p:nvPr/>
        </p:nvSpPr>
        <p:spPr bwMode="auto">
          <a:xfrm>
            <a:off x="5945186" y="4475523"/>
            <a:ext cx="3409396"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  1      1        1             Status register</a:t>
            </a:r>
          </a:p>
          <a:p>
            <a:pPr defTabSz="762000"/>
            <a:endParaRPr lang="en-US" altLang="ko-KR" dirty="0"/>
          </a:p>
        </p:txBody>
      </p:sp>
      <p:sp>
        <p:nvSpPr>
          <p:cNvPr id="39946" name="Line 10"/>
          <p:cNvSpPr>
            <a:spLocks noChangeShapeType="1"/>
          </p:cNvSpPr>
          <p:nvPr/>
        </p:nvSpPr>
        <p:spPr bwMode="auto">
          <a:xfrm>
            <a:off x="5919788" y="3764239"/>
            <a:ext cx="4613275" cy="0"/>
          </a:xfrm>
          <a:prstGeom prst="line">
            <a:avLst/>
          </a:prstGeom>
          <a:noFill/>
          <a:ln w="25400">
            <a:solidFill>
              <a:srgbClr val="000000"/>
            </a:solidFill>
            <a:round/>
            <a:headEnd/>
            <a:tailEnd/>
          </a:ln>
          <a:effectLst/>
        </p:spPr>
        <p:txBody>
          <a:bodyPr wrap="none" anchor="ctr"/>
          <a:lstStyle/>
          <a:p>
            <a:endParaRPr lang="en-US"/>
          </a:p>
        </p:txBody>
      </p:sp>
      <p:sp>
        <p:nvSpPr>
          <p:cNvPr id="39947" name="Line 11"/>
          <p:cNvSpPr>
            <a:spLocks noChangeShapeType="1"/>
          </p:cNvSpPr>
          <p:nvPr/>
        </p:nvSpPr>
        <p:spPr bwMode="auto">
          <a:xfrm>
            <a:off x="5876443" y="4770058"/>
            <a:ext cx="4613275" cy="0"/>
          </a:xfrm>
          <a:prstGeom prst="line">
            <a:avLst/>
          </a:prstGeom>
          <a:noFill/>
          <a:ln w="25400">
            <a:solidFill>
              <a:srgbClr val="000000"/>
            </a:solidFill>
            <a:round/>
            <a:headEnd/>
            <a:tailEnd/>
          </a:ln>
          <a:effectLst/>
        </p:spPr>
        <p:txBody>
          <a:bodyPr wrap="none" anchor="ctr"/>
          <a:lstStyle/>
          <a:p>
            <a:endParaRPr lang="en-US"/>
          </a:p>
        </p:txBody>
      </p:sp>
      <p:sp>
        <p:nvSpPr>
          <p:cNvPr id="39948" name="Line 12"/>
          <p:cNvSpPr>
            <a:spLocks noChangeShapeType="1"/>
          </p:cNvSpPr>
          <p:nvPr/>
        </p:nvSpPr>
        <p:spPr bwMode="auto">
          <a:xfrm>
            <a:off x="7416800" y="3619501"/>
            <a:ext cx="0" cy="1082675"/>
          </a:xfrm>
          <a:prstGeom prst="line">
            <a:avLst/>
          </a:prstGeom>
          <a:noFill/>
          <a:ln w="25400">
            <a:solidFill>
              <a:srgbClr val="000000"/>
            </a:solidFill>
            <a:round/>
            <a:headEnd/>
            <a:tailEnd/>
          </a:ln>
          <a:effectLst/>
        </p:spPr>
        <p:txBody>
          <a:bodyPr wrap="none" anchor="ctr"/>
          <a:lstStyle/>
          <a:p>
            <a:endParaRPr lang="en-US"/>
          </a:p>
        </p:txBody>
      </p:sp>
      <p:sp>
        <p:nvSpPr>
          <p:cNvPr id="39950" name="Rectangle 14"/>
          <p:cNvSpPr>
            <a:spLocks noChangeArrowheads="1"/>
          </p:cNvSpPr>
          <p:nvPr/>
        </p:nvSpPr>
        <p:spPr bwMode="auto">
          <a:xfrm>
            <a:off x="8622859" y="0"/>
            <a:ext cx="1910204"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Input/Output Interfaces</a:t>
            </a:r>
          </a:p>
        </p:txBody>
      </p:sp>
      <p:sp>
        <p:nvSpPr>
          <p:cNvPr id="39951" name="Rectangle 15"/>
          <p:cNvSpPr>
            <a:spLocks noChangeArrowheads="1"/>
          </p:cNvSpPr>
          <p:nvPr/>
        </p:nvSpPr>
        <p:spPr bwMode="auto">
          <a:xfrm>
            <a:off x="2861445" y="1802589"/>
            <a:ext cx="1203857"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Chip select</a:t>
            </a:r>
          </a:p>
        </p:txBody>
      </p:sp>
      <p:sp>
        <p:nvSpPr>
          <p:cNvPr id="39952" name="Line 16"/>
          <p:cNvSpPr>
            <a:spLocks noChangeShapeType="1"/>
          </p:cNvSpPr>
          <p:nvPr/>
        </p:nvSpPr>
        <p:spPr bwMode="auto">
          <a:xfrm>
            <a:off x="2936876" y="2120900"/>
            <a:ext cx="1438275" cy="0"/>
          </a:xfrm>
          <a:prstGeom prst="line">
            <a:avLst/>
          </a:prstGeom>
          <a:noFill/>
          <a:ln w="25400">
            <a:solidFill>
              <a:srgbClr val="000000"/>
            </a:solidFill>
            <a:round/>
            <a:headEnd/>
            <a:tailEnd type="triangle" w="med" len="med"/>
          </a:ln>
          <a:effectLst/>
        </p:spPr>
        <p:txBody>
          <a:bodyPr wrap="none" anchor="ctr"/>
          <a:lstStyle/>
          <a:p>
            <a:endParaRPr lang="en-US"/>
          </a:p>
        </p:txBody>
      </p:sp>
      <p:sp>
        <p:nvSpPr>
          <p:cNvPr id="39953" name="Rectangle 17"/>
          <p:cNvSpPr>
            <a:spLocks noChangeArrowheads="1"/>
          </p:cNvSpPr>
          <p:nvPr/>
        </p:nvSpPr>
        <p:spPr bwMode="auto">
          <a:xfrm>
            <a:off x="2754792" y="2087103"/>
            <a:ext cx="1539397"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Register select</a:t>
            </a:r>
          </a:p>
        </p:txBody>
      </p:sp>
      <p:sp>
        <p:nvSpPr>
          <p:cNvPr id="39954" name="Line 18"/>
          <p:cNvSpPr>
            <a:spLocks noChangeShapeType="1"/>
          </p:cNvSpPr>
          <p:nvPr/>
        </p:nvSpPr>
        <p:spPr bwMode="auto">
          <a:xfrm flipV="1">
            <a:off x="2936875" y="2374901"/>
            <a:ext cx="1447800" cy="3175"/>
          </a:xfrm>
          <a:prstGeom prst="line">
            <a:avLst/>
          </a:prstGeom>
          <a:noFill/>
          <a:ln w="25400">
            <a:solidFill>
              <a:srgbClr val="000000"/>
            </a:solidFill>
            <a:round/>
            <a:headEnd/>
            <a:tailEnd type="triangle" w="med" len="med"/>
          </a:ln>
          <a:effectLst/>
        </p:spPr>
        <p:txBody>
          <a:bodyPr wrap="none" anchor="ctr"/>
          <a:lstStyle/>
          <a:p>
            <a:endParaRPr lang="en-US"/>
          </a:p>
        </p:txBody>
      </p:sp>
      <p:sp>
        <p:nvSpPr>
          <p:cNvPr id="39955" name="Rectangle 19"/>
          <p:cNvSpPr>
            <a:spLocks noChangeArrowheads="1"/>
          </p:cNvSpPr>
          <p:nvPr/>
        </p:nvSpPr>
        <p:spPr bwMode="auto">
          <a:xfrm>
            <a:off x="2834960" y="2349447"/>
            <a:ext cx="1539397"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Register select</a:t>
            </a:r>
          </a:p>
        </p:txBody>
      </p:sp>
      <p:sp>
        <p:nvSpPr>
          <p:cNvPr id="39956" name="Line 20"/>
          <p:cNvSpPr>
            <a:spLocks noChangeShapeType="1"/>
          </p:cNvSpPr>
          <p:nvPr/>
        </p:nvSpPr>
        <p:spPr bwMode="auto">
          <a:xfrm>
            <a:off x="2936875" y="2651125"/>
            <a:ext cx="1447800" cy="0"/>
          </a:xfrm>
          <a:prstGeom prst="line">
            <a:avLst/>
          </a:prstGeom>
          <a:noFill/>
          <a:ln w="25400">
            <a:solidFill>
              <a:srgbClr val="000000"/>
            </a:solidFill>
            <a:round/>
            <a:headEnd/>
            <a:tailEnd type="triangle" w="med" len="med"/>
          </a:ln>
          <a:effectLst/>
        </p:spPr>
        <p:txBody>
          <a:bodyPr wrap="none" anchor="ctr"/>
          <a:lstStyle/>
          <a:p>
            <a:endParaRPr lang="en-US"/>
          </a:p>
        </p:txBody>
      </p:sp>
      <p:sp>
        <p:nvSpPr>
          <p:cNvPr id="39957" name="Rectangle 21"/>
          <p:cNvSpPr>
            <a:spLocks noChangeArrowheads="1"/>
          </p:cNvSpPr>
          <p:nvPr/>
        </p:nvSpPr>
        <p:spPr bwMode="auto">
          <a:xfrm>
            <a:off x="2967085" y="2637248"/>
            <a:ext cx="960392"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I/O read</a:t>
            </a:r>
          </a:p>
        </p:txBody>
      </p:sp>
      <p:sp>
        <p:nvSpPr>
          <p:cNvPr id="39958" name="Line 22"/>
          <p:cNvSpPr>
            <a:spLocks noChangeShapeType="1"/>
          </p:cNvSpPr>
          <p:nvPr/>
        </p:nvSpPr>
        <p:spPr bwMode="auto">
          <a:xfrm>
            <a:off x="2936875" y="2922588"/>
            <a:ext cx="1443038" cy="0"/>
          </a:xfrm>
          <a:prstGeom prst="line">
            <a:avLst/>
          </a:prstGeom>
          <a:noFill/>
          <a:ln w="25400">
            <a:solidFill>
              <a:srgbClr val="000000"/>
            </a:solidFill>
            <a:round/>
            <a:headEnd/>
            <a:tailEnd type="triangle" w="med" len="med"/>
          </a:ln>
          <a:effectLst/>
        </p:spPr>
        <p:txBody>
          <a:bodyPr wrap="none" anchor="ctr"/>
          <a:lstStyle/>
          <a:p>
            <a:endParaRPr lang="en-US"/>
          </a:p>
        </p:txBody>
      </p:sp>
      <p:sp>
        <p:nvSpPr>
          <p:cNvPr id="39959" name="Rectangle 23"/>
          <p:cNvSpPr>
            <a:spLocks noChangeArrowheads="1"/>
          </p:cNvSpPr>
          <p:nvPr/>
        </p:nvSpPr>
        <p:spPr bwMode="auto">
          <a:xfrm>
            <a:off x="2977391" y="2887280"/>
            <a:ext cx="1023423"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I/O write</a:t>
            </a:r>
          </a:p>
        </p:txBody>
      </p:sp>
      <p:sp>
        <p:nvSpPr>
          <p:cNvPr id="39960" name="Line 24"/>
          <p:cNvSpPr>
            <a:spLocks noChangeShapeType="1"/>
          </p:cNvSpPr>
          <p:nvPr/>
        </p:nvSpPr>
        <p:spPr bwMode="auto">
          <a:xfrm flipV="1">
            <a:off x="2936876" y="3179764"/>
            <a:ext cx="1433513" cy="3175"/>
          </a:xfrm>
          <a:prstGeom prst="line">
            <a:avLst/>
          </a:prstGeom>
          <a:noFill/>
          <a:ln w="25400">
            <a:solidFill>
              <a:srgbClr val="000000"/>
            </a:solidFill>
            <a:round/>
            <a:headEnd/>
            <a:tailEnd type="triangle" w="med" len="med"/>
          </a:ln>
          <a:effectLst/>
        </p:spPr>
        <p:txBody>
          <a:bodyPr wrap="none" anchor="ctr"/>
          <a:lstStyle/>
          <a:p>
            <a:endParaRPr lang="en-US"/>
          </a:p>
        </p:txBody>
      </p:sp>
      <p:sp>
        <p:nvSpPr>
          <p:cNvPr id="39961" name="Rectangle 25"/>
          <p:cNvSpPr>
            <a:spLocks noChangeArrowheads="1"/>
          </p:cNvSpPr>
          <p:nvPr/>
        </p:nvSpPr>
        <p:spPr bwMode="auto">
          <a:xfrm>
            <a:off x="4394201" y="1924051"/>
            <a:ext cx="1343025" cy="1382713"/>
          </a:xfrm>
          <a:prstGeom prst="rect">
            <a:avLst/>
          </a:prstGeom>
          <a:noFill/>
          <a:ln w="25400">
            <a:solidFill>
              <a:srgbClr val="000000"/>
            </a:solidFill>
            <a:miter lim="800000"/>
            <a:headEnd/>
            <a:tailEnd/>
          </a:ln>
          <a:effectLst/>
        </p:spPr>
        <p:txBody>
          <a:bodyPr wrap="none" anchor="ctr"/>
          <a:lstStyle/>
          <a:p>
            <a:endParaRPr lang="en-US"/>
          </a:p>
        </p:txBody>
      </p:sp>
      <p:sp>
        <p:nvSpPr>
          <p:cNvPr id="39962" name="Rectangle 26"/>
          <p:cNvSpPr>
            <a:spLocks noChangeArrowheads="1"/>
          </p:cNvSpPr>
          <p:nvPr/>
        </p:nvSpPr>
        <p:spPr bwMode="auto">
          <a:xfrm>
            <a:off x="4364039" y="1979614"/>
            <a:ext cx="411973"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CS</a:t>
            </a:r>
          </a:p>
        </p:txBody>
      </p:sp>
      <p:sp>
        <p:nvSpPr>
          <p:cNvPr id="39963" name="Rectangle 27"/>
          <p:cNvSpPr>
            <a:spLocks noChangeArrowheads="1"/>
          </p:cNvSpPr>
          <p:nvPr/>
        </p:nvSpPr>
        <p:spPr bwMode="auto">
          <a:xfrm>
            <a:off x="4364039" y="2241551"/>
            <a:ext cx="527581"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RS1</a:t>
            </a:r>
          </a:p>
        </p:txBody>
      </p:sp>
      <p:sp>
        <p:nvSpPr>
          <p:cNvPr id="39964" name="Rectangle 28"/>
          <p:cNvSpPr>
            <a:spLocks noChangeArrowheads="1"/>
          </p:cNvSpPr>
          <p:nvPr/>
        </p:nvSpPr>
        <p:spPr bwMode="auto">
          <a:xfrm>
            <a:off x="4364039" y="2514601"/>
            <a:ext cx="527581"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RS0</a:t>
            </a:r>
          </a:p>
        </p:txBody>
      </p:sp>
      <p:sp>
        <p:nvSpPr>
          <p:cNvPr id="39965" name="Rectangle 29"/>
          <p:cNvSpPr>
            <a:spLocks noChangeArrowheads="1"/>
          </p:cNvSpPr>
          <p:nvPr/>
        </p:nvSpPr>
        <p:spPr bwMode="auto">
          <a:xfrm>
            <a:off x="4364039" y="2782889"/>
            <a:ext cx="450445"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RD</a:t>
            </a:r>
          </a:p>
        </p:txBody>
      </p:sp>
      <p:sp>
        <p:nvSpPr>
          <p:cNvPr id="39966" name="Rectangle 30"/>
          <p:cNvSpPr>
            <a:spLocks noChangeArrowheads="1"/>
          </p:cNvSpPr>
          <p:nvPr/>
        </p:nvSpPr>
        <p:spPr bwMode="auto">
          <a:xfrm>
            <a:off x="4364038" y="3055939"/>
            <a:ext cx="512962"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WR</a:t>
            </a:r>
          </a:p>
        </p:txBody>
      </p:sp>
      <p:sp>
        <p:nvSpPr>
          <p:cNvPr id="39967" name="Rectangle 31"/>
          <p:cNvSpPr>
            <a:spLocks noChangeArrowheads="1"/>
          </p:cNvSpPr>
          <p:nvPr/>
        </p:nvSpPr>
        <p:spPr bwMode="auto">
          <a:xfrm>
            <a:off x="4865927" y="2235608"/>
            <a:ext cx="815930"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Timing</a:t>
            </a:r>
          </a:p>
          <a:p>
            <a:pPr defTabSz="762000"/>
            <a:endParaRPr lang="en-US" altLang="ko-KR" dirty="0"/>
          </a:p>
        </p:txBody>
      </p:sp>
      <p:sp>
        <p:nvSpPr>
          <p:cNvPr id="39968" name="Rectangle 32"/>
          <p:cNvSpPr>
            <a:spLocks noChangeArrowheads="1"/>
          </p:cNvSpPr>
          <p:nvPr/>
        </p:nvSpPr>
        <p:spPr bwMode="auto">
          <a:xfrm>
            <a:off x="5005389" y="2479675"/>
            <a:ext cx="537007"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a:t>and</a:t>
            </a:r>
          </a:p>
          <a:p>
            <a:pPr defTabSz="762000"/>
            <a:endParaRPr lang="en-US" altLang="ko-KR"/>
          </a:p>
        </p:txBody>
      </p:sp>
      <p:sp>
        <p:nvSpPr>
          <p:cNvPr id="39969" name="Rectangle 33"/>
          <p:cNvSpPr>
            <a:spLocks noChangeArrowheads="1"/>
          </p:cNvSpPr>
          <p:nvPr/>
        </p:nvSpPr>
        <p:spPr bwMode="auto">
          <a:xfrm>
            <a:off x="4877641" y="2671129"/>
            <a:ext cx="875818"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Control</a:t>
            </a:r>
          </a:p>
        </p:txBody>
      </p:sp>
      <p:sp>
        <p:nvSpPr>
          <p:cNvPr id="39970" name="Rectangle 34"/>
          <p:cNvSpPr>
            <a:spLocks noChangeArrowheads="1"/>
          </p:cNvSpPr>
          <p:nvPr/>
        </p:nvSpPr>
        <p:spPr bwMode="auto">
          <a:xfrm>
            <a:off x="4833863" y="1085817"/>
            <a:ext cx="519374"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a:t>Bus</a:t>
            </a:r>
          </a:p>
          <a:p>
            <a:pPr defTabSz="762000"/>
            <a:endParaRPr lang="en-US" altLang="ko-KR"/>
          </a:p>
        </p:txBody>
      </p:sp>
      <p:sp>
        <p:nvSpPr>
          <p:cNvPr id="39971" name="Rectangle 35"/>
          <p:cNvSpPr>
            <a:spLocks noChangeArrowheads="1"/>
          </p:cNvSpPr>
          <p:nvPr/>
        </p:nvSpPr>
        <p:spPr bwMode="auto">
          <a:xfrm>
            <a:off x="4654695" y="1261856"/>
            <a:ext cx="840809"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buffers</a:t>
            </a:r>
          </a:p>
        </p:txBody>
      </p:sp>
      <p:sp>
        <p:nvSpPr>
          <p:cNvPr id="39972" name="Rectangle 36"/>
          <p:cNvSpPr>
            <a:spLocks noChangeArrowheads="1"/>
          </p:cNvSpPr>
          <p:nvPr/>
        </p:nvSpPr>
        <p:spPr bwMode="auto">
          <a:xfrm>
            <a:off x="4394201" y="1179514"/>
            <a:ext cx="1343025" cy="377825"/>
          </a:xfrm>
          <a:prstGeom prst="rect">
            <a:avLst/>
          </a:prstGeom>
          <a:noFill/>
          <a:ln w="25400">
            <a:solidFill>
              <a:srgbClr val="000000"/>
            </a:solidFill>
            <a:miter lim="800000"/>
            <a:headEnd/>
            <a:tailEnd/>
          </a:ln>
          <a:effectLst/>
        </p:spPr>
        <p:txBody>
          <a:bodyPr wrap="none" anchor="ctr"/>
          <a:lstStyle/>
          <a:p>
            <a:endParaRPr lang="en-US"/>
          </a:p>
        </p:txBody>
      </p:sp>
      <p:sp>
        <p:nvSpPr>
          <p:cNvPr id="39973" name="Line 37"/>
          <p:cNvSpPr>
            <a:spLocks noChangeShapeType="1"/>
          </p:cNvSpPr>
          <p:nvPr/>
        </p:nvSpPr>
        <p:spPr bwMode="auto">
          <a:xfrm>
            <a:off x="2971801" y="1374775"/>
            <a:ext cx="1412875" cy="0"/>
          </a:xfrm>
          <a:prstGeom prst="line">
            <a:avLst/>
          </a:prstGeom>
          <a:noFill/>
          <a:ln w="25400">
            <a:solidFill>
              <a:srgbClr val="000000"/>
            </a:solidFill>
            <a:round/>
            <a:headEnd type="triangle" w="med" len="med"/>
            <a:tailEnd type="triangle" w="med" len="med"/>
          </a:ln>
          <a:effectLst/>
        </p:spPr>
        <p:txBody>
          <a:bodyPr wrap="none" anchor="ctr"/>
          <a:lstStyle/>
          <a:p>
            <a:endParaRPr lang="en-US"/>
          </a:p>
        </p:txBody>
      </p:sp>
      <p:sp>
        <p:nvSpPr>
          <p:cNvPr id="39974" name="Rectangle 38"/>
          <p:cNvSpPr>
            <a:spLocks noChangeArrowheads="1"/>
          </p:cNvSpPr>
          <p:nvPr/>
        </p:nvSpPr>
        <p:spPr bwMode="auto">
          <a:xfrm>
            <a:off x="3013216" y="1084333"/>
            <a:ext cx="1362746"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Bidirectional</a:t>
            </a:r>
          </a:p>
          <a:p>
            <a:pPr defTabSz="762000"/>
            <a:endParaRPr lang="en-US" altLang="ko-KR" dirty="0"/>
          </a:p>
        </p:txBody>
      </p:sp>
      <p:sp>
        <p:nvSpPr>
          <p:cNvPr id="39975" name="Rectangle 39"/>
          <p:cNvSpPr>
            <a:spLocks noChangeArrowheads="1"/>
          </p:cNvSpPr>
          <p:nvPr/>
        </p:nvSpPr>
        <p:spPr bwMode="auto">
          <a:xfrm>
            <a:off x="3219451" y="1330326"/>
            <a:ext cx="984117"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data bus</a:t>
            </a:r>
          </a:p>
        </p:txBody>
      </p:sp>
      <p:sp>
        <p:nvSpPr>
          <p:cNvPr id="39976" name="Line 40"/>
          <p:cNvSpPr>
            <a:spLocks noChangeShapeType="1"/>
          </p:cNvSpPr>
          <p:nvPr/>
        </p:nvSpPr>
        <p:spPr bwMode="auto">
          <a:xfrm flipV="1">
            <a:off x="5749926" y="1371601"/>
            <a:ext cx="587375" cy="3175"/>
          </a:xfrm>
          <a:prstGeom prst="line">
            <a:avLst/>
          </a:prstGeom>
          <a:noFill/>
          <a:ln w="25400">
            <a:solidFill>
              <a:srgbClr val="000000"/>
            </a:solidFill>
            <a:round/>
            <a:headEnd type="triangle" w="med" len="med"/>
            <a:tailEnd type="triangle" w="med" len="med"/>
          </a:ln>
          <a:effectLst/>
        </p:spPr>
        <p:txBody>
          <a:bodyPr wrap="none" anchor="ctr"/>
          <a:lstStyle/>
          <a:p>
            <a:endParaRPr lang="en-US"/>
          </a:p>
        </p:txBody>
      </p:sp>
      <p:sp>
        <p:nvSpPr>
          <p:cNvPr id="39977" name="Line 41"/>
          <p:cNvSpPr>
            <a:spLocks noChangeShapeType="1"/>
          </p:cNvSpPr>
          <p:nvPr/>
        </p:nvSpPr>
        <p:spPr bwMode="auto">
          <a:xfrm>
            <a:off x="6343650" y="919163"/>
            <a:ext cx="0" cy="2387600"/>
          </a:xfrm>
          <a:prstGeom prst="line">
            <a:avLst/>
          </a:prstGeom>
          <a:noFill/>
          <a:ln w="25400">
            <a:solidFill>
              <a:srgbClr val="000000"/>
            </a:solidFill>
            <a:round/>
            <a:headEnd/>
            <a:tailEnd/>
          </a:ln>
          <a:effectLst/>
        </p:spPr>
        <p:txBody>
          <a:bodyPr wrap="none" anchor="ctr"/>
          <a:lstStyle/>
          <a:p>
            <a:endParaRPr lang="en-US"/>
          </a:p>
        </p:txBody>
      </p:sp>
      <p:sp>
        <p:nvSpPr>
          <p:cNvPr id="39978" name="Rectangle 42"/>
          <p:cNvSpPr>
            <a:spLocks noChangeArrowheads="1"/>
          </p:cNvSpPr>
          <p:nvPr/>
        </p:nvSpPr>
        <p:spPr bwMode="auto">
          <a:xfrm>
            <a:off x="7142678" y="732667"/>
            <a:ext cx="708718" cy="920765"/>
          </a:xfrm>
          <a:prstGeom prst="rect">
            <a:avLst/>
          </a:prstGeom>
          <a:noFill/>
          <a:ln w="25400">
            <a:noFill/>
            <a:miter lim="800000"/>
            <a:headEnd/>
            <a:tailEnd/>
          </a:ln>
          <a:effectLst/>
        </p:spPr>
        <p:txBody>
          <a:bodyPr wrap="square" lIns="90488" tIns="44450" rIns="90488" bIns="44450">
            <a:spAutoFit/>
          </a:bodyPr>
          <a:lstStyle/>
          <a:p>
            <a:pPr defTabSz="762000"/>
            <a:r>
              <a:rPr lang="en-US" altLang="ko-KR" dirty="0"/>
              <a:t>Port A</a:t>
            </a:r>
          </a:p>
          <a:p>
            <a:pPr defTabSz="762000"/>
            <a:endParaRPr lang="en-US" altLang="ko-KR" dirty="0"/>
          </a:p>
        </p:txBody>
      </p:sp>
      <p:sp>
        <p:nvSpPr>
          <p:cNvPr id="39979" name="Rectangle 43"/>
          <p:cNvSpPr>
            <a:spLocks noChangeArrowheads="1"/>
          </p:cNvSpPr>
          <p:nvPr/>
        </p:nvSpPr>
        <p:spPr bwMode="auto">
          <a:xfrm>
            <a:off x="7029905" y="906961"/>
            <a:ext cx="894413"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register</a:t>
            </a:r>
          </a:p>
        </p:txBody>
      </p:sp>
      <p:sp>
        <p:nvSpPr>
          <p:cNvPr id="39980" name="Rectangle 44"/>
          <p:cNvSpPr>
            <a:spLocks noChangeArrowheads="1"/>
          </p:cNvSpPr>
          <p:nvPr/>
        </p:nvSpPr>
        <p:spPr bwMode="auto">
          <a:xfrm>
            <a:off x="6908801" y="847726"/>
            <a:ext cx="1027113" cy="377825"/>
          </a:xfrm>
          <a:prstGeom prst="rect">
            <a:avLst/>
          </a:prstGeom>
          <a:noFill/>
          <a:ln w="25400">
            <a:solidFill>
              <a:srgbClr val="000000"/>
            </a:solidFill>
            <a:miter lim="800000"/>
            <a:headEnd/>
            <a:tailEnd/>
          </a:ln>
          <a:effectLst/>
        </p:spPr>
        <p:txBody>
          <a:bodyPr wrap="none" anchor="ctr"/>
          <a:lstStyle/>
          <a:p>
            <a:endParaRPr lang="en-US"/>
          </a:p>
        </p:txBody>
      </p:sp>
      <p:sp>
        <p:nvSpPr>
          <p:cNvPr id="39981" name="Rectangle 45"/>
          <p:cNvSpPr>
            <a:spLocks noChangeArrowheads="1"/>
          </p:cNvSpPr>
          <p:nvPr/>
        </p:nvSpPr>
        <p:spPr bwMode="auto">
          <a:xfrm>
            <a:off x="7036977" y="1425576"/>
            <a:ext cx="753605"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Port B</a:t>
            </a:r>
          </a:p>
          <a:p>
            <a:pPr defTabSz="762000"/>
            <a:endParaRPr lang="en-US" altLang="ko-KR" dirty="0"/>
          </a:p>
        </p:txBody>
      </p:sp>
      <p:sp>
        <p:nvSpPr>
          <p:cNvPr id="39982" name="Rectangle 46"/>
          <p:cNvSpPr>
            <a:spLocks noChangeArrowheads="1"/>
          </p:cNvSpPr>
          <p:nvPr/>
        </p:nvSpPr>
        <p:spPr bwMode="auto">
          <a:xfrm>
            <a:off x="6979495" y="1579896"/>
            <a:ext cx="894413"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register</a:t>
            </a:r>
          </a:p>
        </p:txBody>
      </p:sp>
      <p:sp>
        <p:nvSpPr>
          <p:cNvPr id="39983" name="Rectangle 47"/>
          <p:cNvSpPr>
            <a:spLocks noChangeArrowheads="1"/>
          </p:cNvSpPr>
          <p:nvPr/>
        </p:nvSpPr>
        <p:spPr bwMode="auto">
          <a:xfrm>
            <a:off x="6908801" y="1522414"/>
            <a:ext cx="1027113" cy="377825"/>
          </a:xfrm>
          <a:prstGeom prst="rect">
            <a:avLst/>
          </a:prstGeom>
          <a:noFill/>
          <a:ln w="25400">
            <a:solidFill>
              <a:srgbClr val="000000"/>
            </a:solidFill>
            <a:miter lim="800000"/>
            <a:headEnd/>
            <a:tailEnd/>
          </a:ln>
          <a:effectLst/>
        </p:spPr>
        <p:txBody>
          <a:bodyPr wrap="none" anchor="ctr"/>
          <a:lstStyle/>
          <a:p>
            <a:endParaRPr lang="en-US"/>
          </a:p>
        </p:txBody>
      </p:sp>
      <p:sp>
        <p:nvSpPr>
          <p:cNvPr id="39984" name="Line 48"/>
          <p:cNvSpPr>
            <a:spLocks noChangeShapeType="1"/>
          </p:cNvSpPr>
          <p:nvPr/>
        </p:nvSpPr>
        <p:spPr bwMode="auto">
          <a:xfrm>
            <a:off x="6351589" y="2378075"/>
            <a:ext cx="542925" cy="0"/>
          </a:xfrm>
          <a:prstGeom prst="line">
            <a:avLst/>
          </a:prstGeom>
          <a:noFill/>
          <a:ln w="25400">
            <a:solidFill>
              <a:srgbClr val="000000"/>
            </a:solidFill>
            <a:round/>
            <a:headEnd/>
            <a:tailEnd type="triangle" w="med" len="med"/>
          </a:ln>
          <a:effectLst/>
        </p:spPr>
        <p:txBody>
          <a:bodyPr wrap="none" anchor="ctr"/>
          <a:lstStyle/>
          <a:p>
            <a:endParaRPr lang="en-US"/>
          </a:p>
        </p:txBody>
      </p:sp>
      <p:sp>
        <p:nvSpPr>
          <p:cNvPr id="39985" name="Rectangle 49"/>
          <p:cNvSpPr>
            <a:spLocks noChangeArrowheads="1"/>
          </p:cNvSpPr>
          <p:nvPr/>
        </p:nvSpPr>
        <p:spPr bwMode="auto">
          <a:xfrm>
            <a:off x="6983724" y="2073414"/>
            <a:ext cx="875818"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Control</a:t>
            </a:r>
          </a:p>
          <a:p>
            <a:pPr defTabSz="762000"/>
            <a:endParaRPr lang="en-US" altLang="ko-KR" dirty="0"/>
          </a:p>
        </p:txBody>
      </p:sp>
      <p:sp>
        <p:nvSpPr>
          <p:cNvPr id="39986" name="Rectangle 50"/>
          <p:cNvSpPr>
            <a:spLocks noChangeArrowheads="1"/>
          </p:cNvSpPr>
          <p:nvPr/>
        </p:nvSpPr>
        <p:spPr bwMode="auto">
          <a:xfrm>
            <a:off x="7022621" y="2250200"/>
            <a:ext cx="894413"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register</a:t>
            </a:r>
          </a:p>
        </p:txBody>
      </p:sp>
      <p:sp>
        <p:nvSpPr>
          <p:cNvPr id="39987" name="Rectangle 51"/>
          <p:cNvSpPr>
            <a:spLocks noChangeArrowheads="1"/>
          </p:cNvSpPr>
          <p:nvPr/>
        </p:nvSpPr>
        <p:spPr bwMode="auto">
          <a:xfrm>
            <a:off x="6908801" y="2184401"/>
            <a:ext cx="1027113" cy="377825"/>
          </a:xfrm>
          <a:prstGeom prst="rect">
            <a:avLst/>
          </a:prstGeom>
          <a:noFill/>
          <a:ln w="25400">
            <a:solidFill>
              <a:srgbClr val="000000"/>
            </a:solidFill>
            <a:miter lim="800000"/>
            <a:headEnd/>
            <a:tailEnd/>
          </a:ln>
          <a:effectLst/>
        </p:spPr>
        <p:txBody>
          <a:bodyPr wrap="none" anchor="ctr"/>
          <a:lstStyle/>
          <a:p>
            <a:endParaRPr lang="en-US"/>
          </a:p>
        </p:txBody>
      </p:sp>
      <p:sp>
        <p:nvSpPr>
          <p:cNvPr id="39988" name="Line 52"/>
          <p:cNvSpPr>
            <a:spLocks noChangeShapeType="1"/>
          </p:cNvSpPr>
          <p:nvPr/>
        </p:nvSpPr>
        <p:spPr bwMode="auto">
          <a:xfrm>
            <a:off x="7964489" y="2378075"/>
            <a:ext cx="936625" cy="0"/>
          </a:xfrm>
          <a:prstGeom prst="line">
            <a:avLst/>
          </a:prstGeom>
          <a:noFill/>
          <a:ln w="25400">
            <a:solidFill>
              <a:srgbClr val="000000"/>
            </a:solidFill>
            <a:round/>
            <a:headEnd/>
            <a:tailEnd type="triangle" w="med" len="med"/>
          </a:ln>
          <a:effectLst/>
        </p:spPr>
        <p:txBody>
          <a:bodyPr wrap="none" anchor="ctr"/>
          <a:lstStyle/>
          <a:p>
            <a:endParaRPr lang="en-US"/>
          </a:p>
        </p:txBody>
      </p:sp>
      <p:sp>
        <p:nvSpPr>
          <p:cNvPr id="39989" name="Line 53"/>
          <p:cNvSpPr>
            <a:spLocks noChangeShapeType="1"/>
          </p:cNvSpPr>
          <p:nvPr/>
        </p:nvSpPr>
        <p:spPr bwMode="auto">
          <a:xfrm flipV="1">
            <a:off x="6348414" y="3052763"/>
            <a:ext cx="547687" cy="4762"/>
          </a:xfrm>
          <a:prstGeom prst="line">
            <a:avLst/>
          </a:prstGeom>
          <a:noFill/>
          <a:ln w="25400">
            <a:solidFill>
              <a:srgbClr val="000000"/>
            </a:solidFill>
            <a:round/>
            <a:headEnd type="triangle" w="med" len="med"/>
            <a:tailEnd/>
          </a:ln>
          <a:effectLst/>
        </p:spPr>
        <p:txBody>
          <a:bodyPr wrap="none" anchor="ctr"/>
          <a:lstStyle/>
          <a:p>
            <a:endParaRPr lang="en-US"/>
          </a:p>
        </p:txBody>
      </p:sp>
      <p:sp>
        <p:nvSpPr>
          <p:cNvPr id="39990" name="Rectangle 54"/>
          <p:cNvSpPr>
            <a:spLocks noChangeArrowheads="1"/>
          </p:cNvSpPr>
          <p:nvPr/>
        </p:nvSpPr>
        <p:spPr bwMode="auto">
          <a:xfrm>
            <a:off x="7079055" y="2772534"/>
            <a:ext cx="759696" cy="643766"/>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Status</a:t>
            </a:r>
          </a:p>
          <a:p>
            <a:pPr defTabSz="762000"/>
            <a:endParaRPr lang="en-US" altLang="ko-KR" dirty="0"/>
          </a:p>
        </p:txBody>
      </p:sp>
      <p:sp>
        <p:nvSpPr>
          <p:cNvPr id="39991" name="Rectangle 55"/>
          <p:cNvSpPr>
            <a:spLocks noChangeArrowheads="1"/>
          </p:cNvSpPr>
          <p:nvPr/>
        </p:nvSpPr>
        <p:spPr bwMode="auto">
          <a:xfrm>
            <a:off x="7033230" y="2956685"/>
            <a:ext cx="894413"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register</a:t>
            </a:r>
          </a:p>
        </p:txBody>
      </p:sp>
      <p:sp>
        <p:nvSpPr>
          <p:cNvPr id="39992" name="Rectangle 56"/>
          <p:cNvSpPr>
            <a:spLocks noChangeArrowheads="1"/>
          </p:cNvSpPr>
          <p:nvPr/>
        </p:nvSpPr>
        <p:spPr bwMode="auto">
          <a:xfrm>
            <a:off x="6908801" y="2859089"/>
            <a:ext cx="1027113" cy="377825"/>
          </a:xfrm>
          <a:prstGeom prst="rect">
            <a:avLst/>
          </a:prstGeom>
          <a:noFill/>
          <a:ln w="25400">
            <a:solidFill>
              <a:srgbClr val="000000"/>
            </a:solidFill>
            <a:miter lim="800000"/>
            <a:headEnd/>
            <a:tailEnd/>
          </a:ln>
          <a:effectLst/>
        </p:spPr>
        <p:txBody>
          <a:bodyPr wrap="none" anchor="ctr"/>
          <a:lstStyle/>
          <a:p>
            <a:endParaRPr lang="en-US"/>
          </a:p>
        </p:txBody>
      </p:sp>
      <p:sp>
        <p:nvSpPr>
          <p:cNvPr id="39993" name="Line 57"/>
          <p:cNvSpPr>
            <a:spLocks noChangeShapeType="1"/>
          </p:cNvSpPr>
          <p:nvPr/>
        </p:nvSpPr>
        <p:spPr bwMode="auto">
          <a:xfrm>
            <a:off x="7972426" y="3052763"/>
            <a:ext cx="936625" cy="0"/>
          </a:xfrm>
          <a:prstGeom prst="line">
            <a:avLst/>
          </a:prstGeom>
          <a:noFill/>
          <a:ln w="25400">
            <a:solidFill>
              <a:srgbClr val="000000"/>
            </a:solidFill>
            <a:round/>
            <a:headEnd type="triangle" w="med" len="med"/>
            <a:tailEnd/>
          </a:ln>
          <a:effectLst/>
        </p:spPr>
        <p:txBody>
          <a:bodyPr wrap="none" anchor="ctr"/>
          <a:lstStyle/>
          <a:p>
            <a:endParaRPr lang="en-US"/>
          </a:p>
        </p:txBody>
      </p:sp>
      <p:sp>
        <p:nvSpPr>
          <p:cNvPr id="39994" name="Rectangle 58"/>
          <p:cNvSpPr>
            <a:spLocks noChangeArrowheads="1"/>
          </p:cNvSpPr>
          <p:nvPr/>
        </p:nvSpPr>
        <p:spPr bwMode="auto">
          <a:xfrm>
            <a:off x="8069134" y="751658"/>
            <a:ext cx="950454"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I/O data</a:t>
            </a:r>
          </a:p>
        </p:txBody>
      </p:sp>
      <p:sp>
        <p:nvSpPr>
          <p:cNvPr id="39995" name="Rectangle 59"/>
          <p:cNvSpPr>
            <a:spLocks noChangeArrowheads="1"/>
          </p:cNvSpPr>
          <p:nvPr/>
        </p:nvSpPr>
        <p:spPr bwMode="auto">
          <a:xfrm>
            <a:off x="8051426" y="1375489"/>
            <a:ext cx="950454"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I/O data</a:t>
            </a:r>
          </a:p>
        </p:txBody>
      </p:sp>
      <p:sp>
        <p:nvSpPr>
          <p:cNvPr id="39996" name="Rectangle 60"/>
          <p:cNvSpPr>
            <a:spLocks noChangeArrowheads="1"/>
          </p:cNvSpPr>
          <p:nvPr/>
        </p:nvSpPr>
        <p:spPr bwMode="auto">
          <a:xfrm>
            <a:off x="8002829" y="2075623"/>
            <a:ext cx="875818"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Control</a:t>
            </a:r>
          </a:p>
        </p:txBody>
      </p:sp>
      <p:sp>
        <p:nvSpPr>
          <p:cNvPr id="39997" name="Rectangle 61"/>
          <p:cNvSpPr>
            <a:spLocks noChangeArrowheads="1"/>
          </p:cNvSpPr>
          <p:nvPr/>
        </p:nvSpPr>
        <p:spPr bwMode="auto">
          <a:xfrm>
            <a:off x="8112484" y="2722757"/>
            <a:ext cx="759696"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dirty="0"/>
              <a:t>Status</a:t>
            </a:r>
          </a:p>
        </p:txBody>
      </p:sp>
      <p:sp>
        <p:nvSpPr>
          <p:cNvPr id="39998" name="Line 62"/>
          <p:cNvSpPr>
            <a:spLocks noChangeShapeType="1"/>
          </p:cNvSpPr>
          <p:nvPr/>
        </p:nvSpPr>
        <p:spPr bwMode="auto">
          <a:xfrm flipV="1">
            <a:off x="6343651" y="1038225"/>
            <a:ext cx="555625" cy="0"/>
          </a:xfrm>
          <a:prstGeom prst="line">
            <a:avLst/>
          </a:prstGeom>
          <a:noFill/>
          <a:ln w="25400">
            <a:solidFill>
              <a:srgbClr val="000000"/>
            </a:solidFill>
            <a:round/>
            <a:headEnd type="triangle" w="med" len="med"/>
            <a:tailEnd type="triangle" w="med" len="med"/>
          </a:ln>
          <a:effectLst/>
        </p:spPr>
        <p:txBody>
          <a:bodyPr wrap="none" anchor="ctr"/>
          <a:lstStyle/>
          <a:p>
            <a:endParaRPr lang="en-US"/>
          </a:p>
        </p:txBody>
      </p:sp>
      <p:sp>
        <p:nvSpPr>
          <p:cNvPr id="39999" name="Line 63"/>
          <p:cNvSpPr>
            <a:spLocks noChangeShapeType="1"/>
          </p:cNvSpPr>
          <p:nvPr/>
        </p:nvSpPr>
        <p:spPr bwMode="auto">
          <a:xfrm flipV="1">
            <a:off x="6354764" y="1720850"/>
            <a:ext cx="555625" cy="0"/>
          </a:xfrm>
          <a:prstGeom prst="line">
            <a:avLst/>
          </a:prstGeom>
          <a:noFill/>
          <a:ln w="25400">
            <a:solidFill>
              <a:srgbClr val="000000"/>
            </a:solidFill>
            <a:round/>
            <a:headEnd type="triangle" w="med" len="med"/>
            <a:tailEnd type="triangle" w="med" len="med"/>
          </a:ln>
          <a:effectLst/>
        </p:spPr>
        <p:txBody>
          <a:bodyPr wrap="none" anchor="ctr"/>
          <a:lstStyle/>
          <a:p>
            <a:endParaRPr lang="en-US"/>
          </a:p>
        </p:txBody>
      </p:sp>
      <p:sp>
        <p:nvSpPr>
          <p:cNvPr id="40000" name="Rectangle 64"/>
          <p:cNvSpPr>
            <a:spLocks noChangeArrowheads="1"/>
          </p:cNvSpPr>
          <p:nvPr/>
        </p:nvSpPr>
        <p:spPr bwMode="auto">
          <a:xfrm rot="-5424559">
            <a:off x="5499101" y="2043881"/>
            <a:ext cx="1317625" cy="366767"/>
          </a:xfrm>
          <a:prstGeom prst="rect">
            <a:avLst/>
          </a:prstGeom>
          <a:noFill/>
          <a:ln w="25400">
            <a:noFill/>
            <a:miter lim="800000"/>
            <a:headEnd/>
            <a:tailEnd/>
          </a:ln>
          <a:effectLst/>
        </p:spPr>
        <p:txBody>
          <a:bodyPr lIns="90488" tIns="44450" rIns="90488" bIns="44450">
            <a:spAutoFit/>
          </a:bodyPr>
          <a:lstStyle/>
          <a:p>
            <a:pPr algn="ctr" defTabSz="762000"/>
            <a:r>
              <a:rPr lang="en-US" altLang="ko-KR"/>
              <a:t>Internal bus</a:t>
            </a:r>
          </a:p>
        </p:txBody>
      </p:sp>
      <p:sp>
        <p:nvSpPr>
          <p:cNvPr id="40001" name="Line 65"/>
          <p:cNvSpPr>
            <a:spLocks noChangeShapeType="1"/>
          </p:cNvSpPr>
          <p:nvPr/>
        </p:nvSpPr>
        <p:spPr bwMode="auto">
          <a:xfrm flipV="1">
            <a:off x="7972426" y="1019176"/>
            <a:ext cx="1058863" cy="11113"/>
          </a:xfrm>
          <a:prstGeom prst="line">
            <a:avLst/>
          </a:prstGeom>
          <a:noFill/>
          <a:ln w="25400">
            <a:solidFill>
              <a:srgbClr val="000000"/>
            </a:solidFill>
            <a:round/>
            <a:headEnd type="triangle" w="med" len="med"/>
            <a:tailEnd type="triangle" w="med" len="med"/>
          </a:ln>
          <a:effectLst/>
        </p:spPr>
        <p:txBody>
          <a:bodyPr wrap="none" anchor="ctr"/>
          <a:lstStyle/>
          <a:p>
            <a:endParaRPr lang="en-US"/>
          </a:p>
        </p:txBody>
      </p:sp>
      <p:sp>
        <p:nvSpPr>
          <p:cNvPr id="40002" name="Line 66"/>
          <p:cNvSpPr>
            <a:spLocks noChangeShapeType="1"/>
          </p:cNvSpPr>
          <p:nvPr/>
        </p:nvSpPr>
        <p:spPr bwMode="auto">
          <a:xfrm flipV="1">
            <a:off x="7962901" y="1693864"/>
            <a:ext cx="1058863" cy="7937"/>
          </a:xfrm>
          <a:prstGeom prst="line">
            <a:avLst/>
          </a:prstGeom>
          <a:noFill/>
          <a:ln w="25400">
            <a:solidFill>
              <a:srgbClr val="000000"/>
            </a:solidFill>
            <a:round/>
            <a:headEnd type="triangle" w="med" len="med"/>
            <a:tailEnd type="triangle" w="med" len="med"/>
          </a:ln>
          <a:effectLst/>
        </p:spPr>
        <p:txBody>
          <a:bodyPr wrap="none" anchor="ctr"/>
          <a:lstStyle/>
          <a:p>
            <a:endParaRPr lang="en-US"/>
          </a:p>
        </p:txBody>
      </p:sp>
      <p:sp>
        <p:nvSpPr>
          <p:cNvPr id="40003" name="Text Box 67"/>
          <p:cNvSpPr txBox="1">
            <a:spLocks noChangeArrowheads="1"/>
          </p:cNvSpPr>
          <p:nvPr/>
        </p:nvSpPr>
        <p:spPr bwMode="auto">
          <a:xfrm>
            <a:off x="1812925" y="1916113"/>
            <a:ext cx="574196" cy="369332"/>
          </a:xfrm>
          <a:prstGeom prst="rect">
            <a:avLst/>
          </a:prstGeom>
          <a:noFill/>
          <a:ln w="25400">
            <a:noFill/>
            <a:miter lim="800000"/>
            <a:headEnd/>
            <a:tailEnd/>
          </a:ln>
          <a:effectLst/>
        </p:spPr>
        <p:txBody>
          <a:bodyPr wrap="none">
            <a:spAutoFit/>
          </a:bodyPr>
          <a:lstStyle/>
          <a:p>
            <a:pPr defTabSz="762000"/>
            <a:r>
              <a:rPr lang="en-US" altLang="ko-KR"/>
              <a:t>CPU</a:t>
            </a:r>
          </a:p>
        </p:txBody>
      </p:sp>
      <p:sp>
        <p:nvSpPr>
          <p:cNvPr id="40004" name="Text Box 68"/>
          <p:cNvSpPr txBox="1">
            <a:spLocks noChangeArrowheads="1"/>
          </p:cNvSpPr>
          <p:nvPr/>
        </p:nvSpPr>
        <p:spPr bwMode="auto">
          <a:xfrm>
            <a:off x="9592131" y="1820864"/>
            <a:ext cx="811889" cy="646331"/>
          </a:xfrm>
          <a:prstGeom prst="rect">
            <a:avLst/>
          </a:prstGeom>
          <a:noFill/>
          <a:ln w="25400">
            <a:noFill/>
            <a:miter lim="800000"/>
            <a:headEnd/>
            <a:tailEnd/>
          </a:ln>
          <a:effectLst/>
        </p:spPr>
        <p:txBody>
          <a:bodyPr wrap="none">
            <a:spAutoFit/>
          </a:bodyPr>
          <a:lstStyle/>
          <a:p>
            <a:pPr algn="ctr" defTabSz="762000"/>
            <a:r>
              <a:rPr lang="en-US" altLang="ko-KR"/>
              <a:t>I/O</a:t>
            </a:r>
          </a:p>
          <a:p>
            <a:pPr algn="ctr" defTabSz="762000"/>
            <a:r>
              <a:rPr lang="en-US" altLang="ko-KR"/>
              <a:t>Device</a:t>
            </a:r>
          </a:p>
        </p:txBody>
      </p:sp>
      <p:sp>
        <p:nvSpPr>
          <p:cNvPr id="40005" name="Rectangle 69"/>
          <p:cNvSpPr>
            <a:spLocks noChangeArrowheads="1"/>
          </p:cNvSpPr>
          <p:nvPr/>
        </p:nvSpPr>
        <p:spPr bwMode="auto">
          <a:xfrm>
            <a:off x="4153694" y="810971"/>
            <a:ext cx="4008437" cy="2652712"/>
          </a:xfrm>
          <a:prstGeom prst="rect">
            <a:avLst/>
          </a:prstGeom>
          <a:noFill/>
          <a:ln w="25400" cap="rnd">
            <a:solidFill>
              <a:schemeClr val="tx1"/>
            </a:solidFill>
            <a:prstDash val="sysDot"/>
            <a:miter lim="800000"/>
            <a:headEnd/>
            <a:tailEnd/>
          </a:ln>
          <a:effectLst/>
        </p:spPr>
        <p:txBody>
          <a:bodyPr wrap="none" anchor="ctr"/>
          <a:lstStyle/>
          <a:p>
            <a:endParaRPr lang="en-US"/>
          </a:p>
        </p:txBody>
      </p:sp>
      <p:sp>
        <p:nvSpPr>
          <p:cNvPr id="40006" name="Text Box 70"/>
          <p:cNvSpPr txBox="1">
            <a:spLocks noChangeArrowheads="1"/>
          </p:cNvSpPr>
          <p:nvPr/>
        </p:nvSpPr>
        <p:spPr bwMode="auto">
          <a:xfrm>
            <a:off x="1824038" y="4906963"/>
            <a:ext cx="8553450" cy="1600438"/>
          </a:xfrm>
          <a:prstGeom prst="rect">
            <a:avLst/>
          </a:prstGeom>
          <a:noFill/>
          <a:ln w="25400">
            <a:noFill/>
            <a:miter lim="800000"/>
            <a:headEnd/>
            <a:tailEnd/>
          </a:ln>
          <a:effectLst/>
        </p:spPr>
        <p:txBody>
          <a:bodyPr>
            <a:spAutoFit/>
          </a:bodyPr>
          <a:lstStyle/>
          <a:p>
            <a:pPr marL="228600" indent="-228600" defTabSz="762000">
              <a:buFontTx/>
              <a:buChar char="•"/>
            </a:pPr>
            <a:r>
              <a:rPr lang="en-US" sz="1400"/>
              <a:t>The interface may work with an I/p, an o/p or an I/o device.</a:t>
            </a:r>
          </a:p>
          <a:p>
            <a:pPr marL="228600" indent="-228600" defTabSz="762000">
              <a:buFontTx/>
              <a:buChar char="•"/>
            </a:pPr>
            <a:r>
              <a:rPr lang="en-US" sz="1400"/>
              <a:t>A command is passed to the I/O device by sending a word to the appropriate interface register.</a:t>
            </a:r>
          </a:p>
          <a:p>
            <a:pPr marL="228600" indent="-228600" defTabSz="762000">
              <a:buFontTx/>
              <a:buChar char="•"/>
            </a:pPr>
            <a:r>
              <a:rPr lang="en-US" sz="1400"/>
              <a:t>The transfer of data, control and status information is always via the common data bus, the distinction is determined</a:t>
            </a:r>
          </a:p>
          <a:p>
            <a:pPr marL="228600" indent="-228600" defTabSz="762000">
              <a:buFontTx/>
              <a:buChar char="•"/>
            </a:pPr>
            <a:r>
              <a:rPr lang="en-US" sz="1400"/>
              <a:t>	from the particular interface register with which the CPU communicates.</a:t>
            </a:r>
          </a:p>
          <a:p>
            <a:pPr marL="228600" indent="-228600" defTabSz="762000">
              <a:buFontTx/>
              <a:buChar char="•"/>
            </a:pPr>
            <a:r>
              <a:rPr lang="en-US" sz="1400"/>
              <a:t>By placing appropriate control bits in the control register, the interface and device can be placed in different modes.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225926" y="3165475"/>
            <a:ext cx="2886075" cy="3219450"/>
          </a:xfrm>
          <a:prstGeom prst="rect">
            <a:avLst/>
          </a:prstGeom>
          <a:noFill/>
          <a:ln w="9525">
            <a:noFill/>
            <a:miter lim="800000"/>
            <a:headEnd/>
            <a:tailEnd/>
          </a:ln>
          <a:effectLst/>
        </p:spPr>
      </p:pic>
      <p:sp>
        <p:nvSpPr>
          <p:cNvPr id="20482" name="Rectangle 2"/>
          <p:cNvSpPr>
            <a:spLocks noGrp="1" noChangeArrowheads="1"/>
          </p:cNvSpPr>
          <p:nvPr>
            <p:ph type="title"/>
          </p:nvPr>
        </p:nvSpPr>
        <p:spPr bwMode="auto">
          <a:xfrm>
            <a:off x="1673225" y="200026"/>
            <a:ext cx="8826500" cy="633413"/>
          </a:xfrm>
          <a:noFill/>
          <a:ln w="12700">
            <a:miter lim="800000"/>
            <a:headEnd/>
            <a:tailEnd/>
          </a:ln>
        </p:spPr>
        <p:txBody>
          <a:bodyPr vert="horz" wrap="square" lIns="63500" tIns="25400" rIns="63500" bIns="25400" numCol="1" rtlCol="0" anchor="ctr" anchorCtr="0" compatLnSpc="1">
            <a:prstTxWarp prst="textNoShape">
              <a:avLst/>
            </a:prstTxWarp>
            <a:normAutofit/>
          </a:bodyPr>
          <a:lstStyle/>
          <a:p>
            <a:r>
              <a:rPr lang="en-US" altLang="ko-KR" sz="2400" dirty="0"/>
              <a:t>MODES  OF  TRANSFER</a:t>
            </a:r>
          </a:p>
        </p:txBody>
      </p:sp>
      <p:sp>
        <p:nvSpPr>
          <p:cNvPr id="20483" name="Rectangle 3"/>
          <p:cNvSpPr>
            <a:spLocks noChangeArrowheads="1"/>
          </p:cNvSpPr>
          <p:nvPr/>
        </p:nvSpPr>
        <p:spPr bwMode="auto">
          <a:xfrm>
            <a:off x="1952625" y="904875"/>
            <a:ext cx="5161028" cy="605294"/>
          </a:xfrm>
          <a:prstGeom prst="rect">
            <a:avLst/>
          </a:prstGeom>
          <a:noFill/>
          <a:ln w="12700">
            <a:noFill/>
            <a:miter lim="800000"/>
            <a:headEnd/>
            <a:tailEnd/>
          </a:ln>
          <a:effectLst/>
        </p:spPr>
        <p:txBody>
          <a:bodyPr wrap="none" lIns="63500" tIns="25400" rIns="63500" bIns="25400">
            <a:spAutoFit/>
          </a:bodyPr>
          <a:lstStyle/>
          <a:p>
            <a:pPr defTabSz="762000"/>
            <a:r>
              <a:rPr lang="en-US" altLang="ko-KR"/>
              <a:t> 3 different Data Transfer Modes between the central </a:t>
            </a:r>
          </a:p>
          <a:p>
            <a:pPr defTabSz="762000"/>
            <a:r>
              <a:rPr lang="en-US" altLang="ko-KR"/>
              <a:t> computer(CPU or Memory)  and peripherals; </a:t>
            </a:r>
          </a:p>
        </p:txBody>
      </p:sp>
      <p:sp>
        <p:nvSpPr>
          <p:cNvPr id="20484" name="Rectangle 4"/>
          <p:cNvSpPr>
            <a:spLocks noChangeArrowheads="1"/>
          </p:cNvSpPr>
          <p:nvPr/>
        </p:nvSpPr>
        <p:spPr bwMode="auto">
          <a:xfrm>
            <a:off x="7064376" y="1196976"/>
            <a:ext cx="2997359" cy="882293"/>
          </a:xfrm>
          <a:prstGeom prst="rect">
            <a:avLst/>
          </a:prstGeom>
          <a:noFill/>
          <a:ln w="12700">
            <a:noFill/>
            <a:miter lim="800000"/>
            <a:headEnd/>
            <a:tailEnd/>
          </a:ln>
          <a:effectLst/>
        </p:spPr>
        <p:txBody>
          <a:bodyPr wrap="none" lIns="63500" tIns="25400" rIns="63500" bIns="25400">
            <a:spAutoFit/>
          </a:bodyPr>
          <a:lstStyle/>
          <a:p>
            <a:pPr defTabSz="762000"/>
            <a:r>
              <a:rPr lang="en-US" altLang="ko-KR"/>
              <a:t> Program-Controlled I/O</a:t>
            </a:r>
          </a:p>
          <a:p>
            <a:pPr defTabSz="762000"/>
            <a:r>
              <a:rPr lang="en-US" altLang="ko-KR"/>
              <a:t> Interrupt-Initiated I/O</a:t>
            </a:r>
          </a:p>
          <a:p>
            <a:pPr defTabSz="762000"/>
            <a:r>
              <a:rPr lang="en-US" altLang="ko-KR"/>
              <a:t> Direct Memory Access (DMA) </a:t>
            </a:r>
          </a:p>
        </p:txBody>
      </p:sp>
      <p:sp>
        <p:nvSpPr>
          <p:cNvPr id="20567" name="Rectangle 87"/>
          <p:cNvSpPr>
            <a:spLocks noChangeArrowheads="1"/>
          </p:cNvSpPr>
          <p:nvPr/>
        </p:nvSpPr>
        <p:spPr bwMode="auto">
          <a:xfrm>
            <a:off x="9034463" y="0"/>
            <a:ext cx="1497013"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Modes of Transfer</a:t>
            </a:r>
          </a:p>
        </p:txBody>
      </p:sp>
      <p:sp>
        <p:nvSpPr>
          <p:cNvPr id="20570" name="Rectangle 90"/>
          <p:cNvSpPr>
            <a:spLocks noChangeArrowheads="1"/>
          </p:cNvSpPr>
          <p:nvPr/>
        </p:nvSpPr>
        <p:spPr bwMode="auto">
          <a:xfrm>
            <a:off x="7105651" y="1200149"/>
            <a:ext cx="3343275" cy="879119"/>
          </a:xfrm>
          <a:prstGeom prst="rect">
            <a:avLst/>
          </a:prstGeom>
          <a:noFill/>
          <a:ln w="25400">
            <a:solidFill>
              <a:srgbClr val="000000"/>
            </a:solidFill>
            <a:miter lim="800000"/>
            <a:headEnd/>
            <a:tailEnd/>
          </a:ln>
          <a:effectLst/>
        </p:spPr>
        <p:txBody>
          <a:bodyPr wrap="none" anchor="ctr"/>
          <a:lstStyle/>
          <a:p>
            <a:endParaRPr lang="en-US"/>
          </a:p>
        </p:txBody>
      </p:sp>
      <p:sp>
        <p:nvSpPr>
          <p:cNvPr id="80" name="TextBox 79"/>
          <p:cNvSpPr txBox="1"/>
          <p:nvPr/>
        </p:nvSpPr>
        <p:spPr>
          <a:xfrm>
            <a:off x="3124201" y="2514601"/>
            <a:ext cx="4549835" cy="646331"/>
          </a:xfrm>
          <a:prstGeom prst="rect">
            <a:avLst/>
          </a:prstGeom>
          <a:noFill/>
        </p:spPr>
        <p:txBody>
          <a:bodyPr wrap="none" rtlCol="0">
            <a:spAutoFit/>
          </a:bodyPr>
          <a:lstStyle/>
          <a:p>
            <a:r>
              <a:rPr lang="en-US" sz="3600" dirty="0"/>
              <a:t>Program Controlled I/O</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6538"/>
            <a:ext cx="8229600" cy="385762"/>
          </a:xfrm>
        </p:spPr>
        <p:txBody>
          <a:bodyPr>
            <a:normAutofit fontScale="90000"/>
          </a:bodyPr>
          <a:lstStyle/>
          <a:p>
            <a:r>
              <a:rPr lang="en-US" dirty="0"/>
              <a:t>Programmed I/O</a:t>
            </a:r>
          </a:p>
        </p:txBody>
      </p:sp>
      <p:pic>
        <p:nvPicPr>
          <p:cNvPr id="2050" name="Picture 2"/>
          <p:cNvPicPr>
            <a:picLocks noChangeAspect="1" noChangeArrowheads="1"/>
          </p:cNvPicPr>
          <p:nvPr/>
        </p:nvPicPr>
        <p:blipFill>
          <a:blip r:embed="rId2"/>
          <a:srcRect/>
          <a:stretch>
            <a:fillRect/>
          </a:stretch>
        </p:blipFill>
        <p:spPr bwMode="auto">
          <a:xfrm>
            <a:off x="2098167" y="1016000"/>
            <a:ext cx="2643696" cy="5270500"/>
          </a:xfrm>
          <a:prstGeom prst="rect">
            <a:avLst/>
          </a:prstGeom>
          <a:noFill/>
          <a:ln w="9525">
            <a:noFill/>
            <a:miter lim="800000"/>
            <a:headEnd/>
            <a:tailEnd/>
          </a:ln>
          <a:effectLst/>
        </p:spPr>
      </p:pic>
      <p:sp>
        <p:nvSpPr>
          <p:cNvPr id="5" name="Rectangle 4"/>
          <p:cNvSpPr/>
          <p:nvPr/>
        </p:nvSpPr>
        <p:spPr>
          <a:xfrm>
            <a:off x="4787900" y="891740"/>
            <a:ext cx="5562600" cy="4524315"/>
          </a:xfrm>
          <a:prstGeom prst="rect">
            <a:avLst/>
          </a:prstGeom>
        </p:spPr>
        <p:txBody>
          <a:bodyPr wrap="square">
            <a:spAutoFit/>
          </a:bodyPr>
          <a:lstStyle/>
          <a:p>
            <a:pPr marL="342900" indent="-342900">
              <a:buFont typeface="Arial" pitchFamily="34" charset="0"/>
              <a:buChar char="•"/>
            </a:pPr>
            <a:r>
              <a:rPr lang="en-US" sz="2000" dirty="0"/>
              <a:t>The benefit of using this approach is that we have programmatic control over the behavior of each device. Program changes can make adjustments to the number and types of devices in the system as well as their polling priorities and intervals. </a:t>
            </a:r>
          </a:p>
          <a:p>
            <a:pPr marL="342900" indent="-342900">
              <a:buFont typeface="Arial" pitchFamily="34" charset="0"/>
              <a:buChar char="•"/>
            </a:pPr>
            <a:r>
              <a:rPr lang="en-US" sz="2000" dirty="0"/>
              <a:t>Constant register polling, however, is a problem. The CPU is in a continual “busy wait” loop until it starts servicing an I/O request. It doesn’t do any useful work until there is I/O to process. </a:t>
            </a:r>
          </a:p>
          <a:p>
            <a:pPr marL="342900" indent="-342900">
              <a:buFont typeface="Arial" pitchFamily="34" charset="0"/>
              <a:buChar char="•"/>
            </a:pPr>
            <a:r>
              <a:rPr lang="en-US" sz="2000" dirty="0"/>
              <a:t>Owing to these limitations, programmed I/O is best suited for special-purpose systems such as automated teller machines and systems that control or monitor environmental events.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1143000"/>
          </a:xfrm>
        </p:spPr>
        <p:txBody>
          <a:bodyPr/>
          <a:lstStyle/>
          <a:p>
            <a:r>
              <a:rPr lang="en-US" dirty="0"/>
              <a:t>Example</a:t>
            </a:r>
          </a:p>
        </p:txBody>
      </p:sp>
      <p:pic>
        <p:nvPicPr>
          <p:cNvPr id="4099" name="Picture 3"/>
          <p:cNvPicPr>
            <a:picLocks noChangeAspect="1" noChangeArrowheads="1"/>
          </p:cNvPicPr>
          <p:nvPr/>
        </p:nvPicPr>
        <p:blipFill>
          <a:blip r:embed="rId2"/>
          <a:srcRect/>
          <a:stretch>
            <a:fillRect/>
          </a:stretch>
        </p:blipFill>
        <p:spPr bwMode="auto">
          <a:xfrm>
            <a:off x="6591300" y="1089025"/>
            <a:ext cx="3556000" cy="5143500"/>
          </a:xfrm>
          <a:prstGeom prst="rect">
            <a:avLst/>
          </a:prstGeom>
          <a:noFill/>
          <a:ln w="9525">
            <a:noFill/>
            <a:miter lim="800000"/>
            <a:headEnd/>
            <a:tailEnd/>
          </a:ln>
          <a:effectLst/>
        </p:spPr>
      </p:pic>
      <p:pic>
        <p:nvPicPr>
          <p:cNvPr id="4098" name="Picture 2"/>
          <p:cNvPicPr>
            <a:picLocks noChangeAspect="1" noChangeArrowheads="1"/>
          </p:cNvPicPr>
          <p:nvPr/>
        </p:nvPicPr>
        <p:blipFill>
          <a:blip r:embed="rId3"/>
          <a:srcRect/>
          <a:stretch>
            <a:fillRect/>
          </a:stretch>
        </p:blipFill>
        <p:spPr bwMode="auto">
          <a:xfrm>
            <a:off x="1733550" y="2959101"/>
            <a:ext cx="5510781" cy="2133599"/>
          </a:xfrm>
          <a:prstGeom prst="rect">
            <a:avLst/>
          </a:prstGeom>
          <a:noFill/>
          <a:ln w="9525">
            <a:noFill/>
            <a:miter lim="800000"/>
            <a:headEnd/>
            <a:tailEnd/>
          </a:ln>
          <a:effectLst/>
        </p:spPr>
      </p:pic>
      <p:sp>
        <p:nvSpPr>
          <p:cNvPr id="6" name="Rectangle 5"/>
          <p:cNvSpPr/>
          <p:nvPr/>
        </p:nvSpPr>
        <p:spPr bwMode="auto">
          <a:xfrm>
            <a:off x="1866900" y="2882900"/>
            <a:ext cx="4711700" cy="254000"/>
          </a:xfrm>
          <a:prstGeom prst="rect">
            <a:avLst/>
          </a:prstGeom>
          <a:solidFill>
            <a:schemeClr val="bg1"/>
          </a:solidFill>
          <a:ln w="254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0" fontAlgn="base" hangingPunct="0">
              <a:lnSpc>
                <a:spcPct val="90000"/>
              </a:lnSpc>
              <a:spcBef>
                <a:spcPct val="0"/>
              </a:spcBef>
              <a:spcAft>
                <a:spcPct val="0"/>
              </a:spcAft>
            </a:pPr>
            <a:endParaRPr kumimoji="1" lang="en-US" sz="1200" b="1">
              <a:solidFill>
                <a:srgbClr val="000000"/>
              </a:solidFill>
              <a:latin typeface="Arial" charset="0"/>
              <a:ea typeface="굴림" pitchFamily="50"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560</Words>
  <Application>Microsoft Office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 </vt:lpstr>
      <vt:lpstr>ISOLATED I/O</vt:lpstr>
      <vt:lpstr>Memory Mapped IO</vt:lpstr>
      <vt:lpstr>Asynchronous Communication Interface</vt:lpstr>
      <vt:lpstr>I/O  INTERFACE</vt:lpstr>
      <vt:lpstr>MODES  OF  TRANSFER</vt:lpstr>
      <vt:lpstr>Programmed I/O</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43</cp:revision>
  <dcterms:created xsi:type="dcterms:W3CDTF">2020-06-18T04:00:41Z</dcterms:created>
  <dcterms:modified xsi:type="dcterms:W3CDTF">2020-11-26T05:26:35Z</dcterms:modified>
</cp:coreProperties>
</file>