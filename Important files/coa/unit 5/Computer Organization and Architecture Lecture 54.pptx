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5" r:id="rId4"/>
    <p:sldId id="266" r:id="rId5"/>
    <p:sldId id="267" r:id="rId6"/>
    <p:sldId id="268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97076" y="292101"/>
            <a:ext cx="8158163" cy="487363"/>
          </a:xfrm>
          <a:noFill/>
          <a:ln w="12700">
            <a:miter lim="800000"/>
            <a:headEnd/>
            <a:tailEnd/>
          </a:ln>
        </p:spPr>
        <p:txBody>
          <a:bodyPr vert="horz" wrap="square" lIns="63500" tIns="25400" rIns="63500" bIns="2540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sz="2800"/>
              <a:t>ASYNCHRONOUS  DATA  TRANSFER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8328218" y="0"/>
            <a:ext cx="2225482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/>
            <a:r>
              <a:rPr lang="en-US" altLang="ko-KR" sz="1400" i="1"/>
              <a:t>Asynchronous Data Transfer</a:t>
            </a: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1933576" y="830264"/>
            <a:ext cx="8359775" cy="618630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spcBef>
                <a:spcPct val="50000"/>
              </a:spcBef>
            </a:pPr>
            <a:r>
              <a:rPr lang="en-US"/>
              <a:t>Synchronous and Asynchronous Operations</a:t>
            </a:r>
          </a:p>
          <a:p>
            <a:pPr marL="571500" lvl="1" defTabSz="762000">
              <a:spcBef>
                <a:spcPct val="50000"/>
              </a:spcBef>
            </a:pPr>
            <a:r>
              <a:rPr lang="en-US"/>
              <a:t>Synchronous - All devices derive the timing information from 				common clock line</a:t>
            </a:r>
          </a:p>
          <a:p>
            <a:pPr marL="571500" lvl="1" defTabSz="762000">
              <a:spcBef>
                <a:spcPct val="50000"/>
              </a:spcBef>
            </a:pPr>
            <a:r>
              <a:rPr lang="en-US"/>
              <a:t>Asynchronous - No common clock</a:t>
            </a:r>
          </a:p>
          <a:p>
            <a:pPr defTabSz="762000">
              <a:spcBef>
                <a:spcPct val="50000"/>
              </a:spcBef>
            </a:pPr>
            <a:r>
              <a:rPr lang="en-US"/>
              <a:t>Asynchronous Data Transfer</a:t>
            </a:r>
          </a:p>
          <a:p>
            <a:pPr marL="571500" lvl="1" defTabSz="762000">
              <a:spcBef>
                <a:spcPct val="50000"/>
              </a:spcBef>
            </a:pPr>
            <a:r>
              <a:rPr lang="en-US"/>
              <a:t>Asynchronous data transfer between two independent units requires that control signals be transmitted between the communicating units to indicate the time at which data is being transmitted</a:t>
            </a:r>
          </a:p>
          <a:p>
            <a:pPr defTabSz="762000">
              <a:spcBef>
                <a:spcPct val="50000"/>
              </a:spcBef>
            </a:pPr>
            <a:r>
              <a:rPr lang="en-US"/>
              <a:t>Two Asynchronous Data Transfer Methods</a:t>
            </a:r>
          </a:p>
          <a:p>
            <a:pPr marL="571500" lvl="1" defTabSz="762000">
              <a:spcBef>
                <a:spcPct val="50000"/>
              </a:spcBef>
            </a:pPr>
            <a:r>
              <a:rPr lang="en-US"/>
              <a:t>Strobe pulse</a:t>
            </a:r>
          </a:p>
          <a:p>
            <a:pPr marL="1143000" lvl="2" defTabSz="762000">
              <a:spcBef>
                <a:spcPct val="50000"/>
              </a:spcBef>
            </a:pPr>
            <a:r>
              <a:rPr lang="en-US"/>
              <a:t>A strobe pulse is supplied by one unit to indicate the other unit when the transfer has to occur</a:t>
            </a:r>
          </a:p>
          <a:p>
            <a:pPr marL="571500" lvl="1" defTabSz="762000">
              <a:spcBef>
                <a:spcPct val="50000"/>
              </a:spcBef>
            </a:pPr>
            <a:r>
              <a:rPr lang="en-US"/>
              <a:t>Handshaking</a:t>
            </a:r>
          </a:p>
          <a:p>
            <a:pPr marL="1143000" lvl="2" defTabSz="762000">
              <a:spcBef>
                <a:spcPct val="50000"/>
              </a:spcBef>
            </a:pPr>
            <a:r>
              <a:rPr lang="en-US"/>
              <a:t>A control signal is accompanied with each data being transmitted to indicate the presence of data </a:t>
            </a:r>
          </a:p>
          <a:p>
            <a:pPr marL="1143000" lvl="2" defTabSz="762000">
              <a:spcBef>
                <a:spcPct val="50000"/>
              </a:spcBef>
            </a:pPr>
            <a:r>
              <a:rPr lang="en-US"/>
              <a:t>The receiving unit responds with another control signal to acknowledge receipt of the data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978026" y="969963"/>
            <a:ext cx="5692199" cy="9738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r>
              <a:rPr lang="en-US" altLang="ko-KR" sz="2000"/>
              <a:t>* Employs a single control line to time each transfer</a:t>
            </a:r>
          </a:p>
          <a:p>
            <a:pPr defTabSz="762000">
              <a:lnSpc>
                <a:spcPct val="101000"/>
              </a:lnSpc>
            </a:pPr>
            <a:r>
              <a:rPr lang="en-US" altLang="ko-KR" sz="2000"/>
              <a:t>* The strobe may be activated by either the source or</a:t>
            </a:r>
          </a:p>
          <a:p>
            <a:pPr defTabSz="762000">
              <a:lnSpc>
                <a:spcPct val="101000"/>
              </a:lnSpc>
            </a:pPr>
            <a:r>
              <a:rPr lang="en-US" altLang="ko-KR" sz="2000"/>
              <a:t>	 the destination unit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489201" y="328614"/>
            <a:ext cx="7102475" cy="395287"/>
          </a:xfrm>
          <a:noFill/>
          <a:ln w="25400">
            <a:miter lim="800000"/>
            <a:headEnd/>
            <a:tailEnd/>
          </a:ln>
        </p:spPr>
        <p:txBody>
          <a:bodyPr vert="horz" wrap="square" lIns="90488" tIns="44450" rIns="90488" bIns="44450" numCol="1" rtlCol="0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ko-KR" sz="2800"/>
              <a:t>STROBE  CONTROL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2281239" y="3971925"/>
            <a:ext cx="557845" cy="4219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Source</a:t>
            </a:r>
          </a:p>
          <a:p>
            <a:pPr defTabSz="617538" latinLnBrk="1"/>
            <a:endParaRPr lang="en-US" altLang="ko-KR" sz="1100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2400300" y="4135439"/>
            <a:ext cx="392736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unit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5041900" y="3971925"/>
            <a:ext cx="823944" cy="4219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Destination</a:t>
            </a:r>
          </a:p>
          <a:p>
            <a:pPr defTabSz="617538" latinLnBrk="1"/>
            <a:endParaRPr lang="en-US" altLang="ko-KR" sz="1100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5254625" y="4135439"/>
            <a:ext cx="392736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unit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2230438" y="3921126"/>
            <a:ext cx="754062" cy="5746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5086350" y="3921126"/>
            <a:ext cx="831850" cy="5746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22" name="Arc 10"/>
          <p:cNvSpPr>
            <a:spLocks/>
          </p:cNvSpPr>
          <p:nvPr/>
        </p:nvSpPr>
        <p:spPr bwMode="auto">
          <a:xfrm>
            <a:off x="4914900" y="3960813"/>
            <a:ext cx="166688" cy="139700"/>
          </a:xfrm>
          <a:custGeom>
            <a:avLst/>
            <a:gdLst>
              <a:gd name="G0" fmla="+- 21600 0 0"/>
              <a:gd name="G1" fmla="+- 9000 0 0"/>
              <a:gd name="G2" fmla="+- 21600 0 0"/>
              <a:gd name="T0" fmla="*/ 1811 w 21600"/>
              <a:gd name="T1" fmla="*/ 17658 h 17658"/>
              <a:gd name="T2" fmla="*/ 1964 w 21600"/>
              <a:gd name="T3" fmla="*/ 0 h 17658"/>
              <a:gd name="T4" fmla="*/ 21600 w 21600"/>
              <a:gd name="T5" fmla="*/ 9000 h 17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658" fill="none" extrusionOk="0">
                <a:moveTo>
                  <a:pt x="1811" y="17657"/>
                </a:moveTo>
                <a:cubicBezTo>
                  <a:pt x="616" y="14927"/>
                  <a:pt x="0" y="11980"/>
                  <a:pt x="0" y="9000"/>
                </a:cubicBezTo>
                <a:cubicBezTo>
                  <a:pt x="-1" y="5893"/>
                  <a:pt x="669" y="2823"/>
                  <a:pt x="1964" y="0"/>
                </a:cubicBezTo>
              </a:path>
              <a:path w="21600" h="17658" stroke="0" extrusionOk="0">
                <a:moveTo>
                  <a:pt x="1811" y="17657"/>
                </a:moveTo>
                <a:cubicBezTo>
                  <a:pt x="616" y="14927"/>
                  <a:pt x="0" y="11980"/>
                  <a:pt x="0" y="9000"/>
                </a:cubicBezTo>
                <a:cubicBezTo>
                  <a:pt x="-1" y="5893"/>
                  <a:pt x="669" y="2823"/>
                  <a:pt x="1964" y="0"/>
                </a:cubicBezTo>
                <a:lnTo>
                  <a:pt x="21600" y="90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2997201" y="4038600"/>
            <a:ext cx="19145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24" name="Arc 12"/>
          <p:cNvSpPr>
            <a:spLocks/>
          </p:cNvSpPr>
          <p:nvPr/>
        </p:nvSpPr>
        <p:spPr bwMode="auto">
          <a:xfrm>
            <a:off x="4914900" y="4303713"/>
            <a:ext cx="166688" cy="139700"/>
          </a:xfrm>
          <a:custGeom>
            <a:avLst/>
            <a:gdLst>
              <a:gd name="G0" fmla="+- 21600 0 0"/>
              <a:gd name="G1" fmla="+- 8865 0 0"/>
              <a:gd name="G2" fmla="+- 21600 0 0"/>
              <a:gd name="T0" fmla="*/ 1826 w 21600"/>
              <a:gd name="T1" fmla="*/ 17558 h 17558"/>
              <a:gd name="T2" fmla="*/ 1903 w 21600"/>
              <a:gd name="T3" fmla="*/ 0 h 17558"/>
              <a:gd name="T4" fmla="*/ 21600 w 21600"/>
              <a:gd name="T5" fmla="*/ 8865 h 17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558" fill="none" extrusionOk="0">
                <a:moveTo>
                  <a:pt x="1826" y="17557"/>
                </a:moveTo>
                <a:cubicBezTo>
                  <a:pt x="621" y="14818"/>
                  <a:pt x="0" y="11857"/>
                  <a:pt x="0" y="8865"/>
                </a:cubicBezTo>
                <a:cubicBezTo>
                  <a:pt x="-1" y="5808"/>
                  <a:pt x="648" y="2787"/>
                  <a:pt x="1903" y="0"/>
                </a:cubicBezTo>
              </a:path>
              <a:path w="21600" h="17558" stroke="0" extrusionOk="0">
                <a:moveTo>
                  <a:pt x="1826" y="17557"/>
                </a:moveTo>
                <a:cubicBezTo>
                  <a:pt x="621" y="14818"/>
                  <a:pt x="0" y="11857"/>
                  <a:pt x="0" y="8865"/>
                </a:cubicBezTo>
                <a:cubicBezTo>
                  <a:pt x="-1" y="5808"/>
                  <a:pt x="648" y="2787"/>
                  <a:pt x="1903" y="0"/>
                </a:cubicBezTo>
                <a:lnTo>
                  <a:pt x="21600" y="8865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2997201" y="4379913"/>
            <a:ext cx="19145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3554414" y="3840164"/>
            <a:ext cx="668453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Data bus</a:t>
            </a:r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3624264" y="4171951"/>
            <a:ext cx="545021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Strobe</a:t>
            </a:r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2298701" y="5397500"/>
            <a:ext cx="8540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29" name="Line 17"/>
          <p:cNvSpPr>
            <a:spLocks noChangeShapeType="1"/>
          </p:cNvSpPr>
          <p:nvPr/>
        </p:nvSpPr>
        <p:spPr bwMode="auto">
          <a:xfrm>
            <a:off x="3146425" y="5067300"/>
            <a:ext cx="0" cy="330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30" name="Freeform 18"/>
          <p:cNvSpPr>
            <a:spLocks/>
          </p:cNvSpPr>
          <p:nvPr/>
        </p:nvSpPr>
        <p:spPr bwMode="auto">
          <a:xfrm>
            <a:off x="3146425" y="5065714"/>
            <a:ext cx="2789238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38" y="0"/>
              </a:cxn>
              <a:cxn ang="0">
                <a:pos x="1138" y="202"/>
              </a:cxn>
              <a:cxn ang="0">
                <a:pos x="1750" y="202"/>
              </a:cxn>
            </a:cxnLst>
            <a:rect l="0" t="0" r="r" b="b"/>
            <a:pathLst>
              <a:path w="1751" h="203">
                <a:moveTo>
                  <a:pt x="0" y="0"/>
                </a:moveTo>
                <a:lnTo>
                  <a:pt x="1138" y="0"/>
                </a:lnTo>
                <a:lnTo>
                  <a:pt x="1138" y="202"/>
                </a:lnTo>
                <a:lnTo>
                  <a:pt x="1750" y="202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2214563" y="5200651"/>
            <a:ext cx="434414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Data</a:t>
            </a:r>
          </a:p>
        </p:txBody>
      </p:sp>
      <p:sp>
        <p:nvSpPr>
          <p:cNvPr id="13332" name="Line 20"/>
          <p:cNvSpPr>
            <a:spLocks noChangeShapeType="1"/>
          </p:cNvSpPr>
          <p:nvPr/>
        </p:nvSpPr>
        <p:spPr bwMode="auto">
          <a:xfrm>
            <a:off x="2298701" y="6070600"/>
            <a:ext cx="11080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33" name="Line 21"/>
          <p:cNvSpPr>
            <a:spLocks noChangeShapeType="1"/>
          </p:cNvSpPr>
          <p:nvPr/>
        </p:nvSpPr>
        <p:spPr bwMode="auto">
          <a:xfrm>
            <a:off x="3398838" y="5738813"/>
            <a:ext cx="0" cy="336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34" name="Freeform 22"/>
          <p:cNvSpPr>
            <a:spLocks/>
          </p:cNvSpPr>
          <p:nvPr/>
        </p:nvSpPr>
        <p:spPr bwMode="auto">
          <a:xfrm>
            <a:off x="3398839" y="5738814"/>
            <a:ext cx="2536825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78" y="0"/>
              </a:cxn>
              <a:cxn ang="0">
                <a:pos x="778" y="201"/>
              </a:cxn>
              <a:cxn ang="0">
                <a:pos x="1591" y="201"/>
              </a:cxn>
            </a:cxnLst>
            <a:rect l="0" t="0" r="r" b="b"/>
            <a:pathLst>
              <a:path w="1592" h="202">
                <a:moveTo>
                  <a:pt x="0" y="0"/>
                </a:moveTo>
                <a:lnTo>
                  <a:pt x="778" y="0"/>
                </a:lnTo>
                <a:lnTo>
                  <a:pt x="778" y="201"/>
                </a:lnTo>
                <a:lnTo>
                  <a:pt x="1591" y="201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2214564" y="5861051"/>
            <a:ext cx="545021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Strobe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3582989" y="5072064"/>
            <a:ext cx="738985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Valid data</a:t>
            </a:r>
          </a:p>
        </p:txBody>
      </p:sp>
      <p:sp>
        <p:nvSpPr>
          <p:cNvPr id="13337" name="Arc 25"/>
          <p:cNvSpPr>
            <a:spLocks/>
          </p:cNvSpPr>
          <p:nvPr/>
        </p:nvSpPr>
        <p:spPr bwMode="auto">
          <a:xfrm>
            <a:off x="3152775" y="5153026"/>
            <a:ext cx="109538" cy="92075"/>
          </a:xfrm>
          <a:custGeom>
            <a:avLst/>
            <a:gdLst>
              <a:gd name="G0" fmla="+- 0 0 0"/>
              <a:gd name="G1" fmla="+- 9152 0 0"/>
              <a:gd name="G2" fmla="+- 21600 0 0"/>
              <a:gd name="T0" fmla="*/ 19565 w 21600"/>
              <a:gd name="T1" fmla="*/ 0 h 17776"/>
              <a:gd name="T2" fmla="*/ 19804 w 21600"/>
              <a:gd name="T3" fmla="*/ 17776 h 17776"/>
              <a:gd name="T4" fmla="*/ 0 w 21600"/>
              <a:gd name="T5" fmla="*/ 9152 h 17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776" fill="none" extrusionOk="0">
                <a:moveTo>
                  <a:pt x="19565" y="-1"/>
                </a:moveTo>
                <a:cubicBezTo>
                  <a:pt x="20905" y="2864"/>
                  <a:pt x="21600" y="5989"/>
                  <a:pt x="21600" y="9152"/>
                </a:cubicBezTo>
                <a:cubicBezTo>
                  <a:pt x="21600" y="12119"/>
                  <a:pt x="20988" y="15055"/>
                  <a:pt x="19803" y="17775"/>
                </a:cubicBezTo>
              </a:path>
              <a:path w="21600" h="17776" stroke="0" extrusionOk="0">
                <a:moveTo>
                  <a:pt x="19565" y="-1"/>
                </a:moveTo>
                <a:cubicBezTo>
                  <a:pt x="20905" y="2864"/>
                  <a:pt x="21600" y="5989"/>
                  <a:pt x="21600" y="9152"/>
                </a:cubicBezTo>
                <a:cubicBezTo>
                  <a:pt x="21600" y="12119"/>
                  <a:pt x="20988" y="15055"/>
                  <a:pt x="19803" y="17775"/>
                </a:cubicBezTo>
                <a:lnTo>
                  <a:pt x="0" y="91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38" name="Line 26"/>
          <p:cNvSpPr>
            <a:spLocks noChangeShapeType="1"/>
          </p:cNvSpPr>
          <p:nvPr/>
        </p:nvSpPr>
        <p:spPr bwMode="auto">
          <a:xfrm>
            <a:off x="3251201" y="5200650"/>
            <a:ext cx="3984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39" name="Arc 27"/>
          <p:cNvSpPr>
            <a:spLocks/>
          </p:cNvSpPr>
          <p:nvPr/>
        </p:nvSpPr>
        <p:spPr bwMode="auto">
          <a:xfrm>
            <a:off x="4857750" y="5157789"/>
            <a:ext cx="109538" cy="90487"/>
          </a:xfrm>
          <a:custGeom>
            <a:avLst/>
            <a:gdLst>
              <a:gd name="G0" fmla="+- 21600 0 0"/>
              <a:gd name="G1" fmla="+- 8915 0 0"/>
              <a:gd name="G2" fmla="+- 21600 0 0"/>
              <a:gd name="T0" fmla="*/ 1699 w 21600"/>
              <a:gd name="T1" fmla="*/ 17311 h 17311"/>
              <a:gd name="T2" fmla="*/ 1926 w 21600"/>
              <a:gd name="T3" fmla="*/ 0 h 17311"/>
              <a:gd name="T4" fmla="*/ 21600 w 21600"/>
              <a:gd name="T5" fmla="*/ 8915 h 17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311" fill="none" extrusionOk="0">
                <a:moveTo>
                  <a:pt x="1698" y="17311"/>
                </a:moveTo>
                <a:cubicBezTo>
                  <a:pt x="577" y="14653"/>
                  <a:pt x="0" y="11799"/>
                  <a:pt x="0" y="8915"/>
                </a:cubicBezTo>
                <a:cubicBezTo>
                  <a:pt x="-1" y="5840"/>
                  <a:pt x="656" y="2800"/>
                  <a:pt x="1925" y="-1"/>
                </a:cubicBezTo>
              </a:path>
              <a:path w="21600" h="17311" stroke="0" extrusionOk="0">
                <a:moveTo>
                  <a:pt x="1698" y="17311"/>
                </a:moveTo>
                <a:cubicBezTo>
                  <a:pt x="577" y="14653"/>
                  <a:pt x="0" y="11799"/>
                  <a:pt x="0" y="8915"/>
                </a:cubicBezTo>
                <a:cubicBezTo>
                  <a:pt x="-1" y="5840"/>
                  <a:pt x="656" y="2800"/>
                  <a:pt x="1925" y="-1"/>
                </a:cubicBezTo>
                <a:lnTo>
                  <a:pt x="21600" y="8915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40" name="Line 28"/>
          <p:cNvSpPr>
            <a:spLocks noChangeShapeType="1"/>
          </p:cNvSpPr>
          <p:nvPr/>
        </p:nvSpPr>
        <p:spPr bwMode="auto">
          <a:xfrm>
            <a:off x="4330701" y="5200650"/>
            <a:ext cx="5381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41" name="Rectangle 29"/>
          <p:cNvSpPr>
            <a:spLocks noChangeArrowheads="1"/>
          </p:cNvSpPr>
          <p:nvPr/>
        </p:nvSpPr>
        <p:spPr bwMode="auto">
          <a:xfrm>
            <a:off x="3429001" y="4719639"/>
            <a:ext cx="1323975" cy="236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42" name="Rectangle 30"/>
          <p:cNvSpPr>
            <a:spLocks noChangeArrowheads="1"/>
          </p:cNvSpPr>
          <p:nvPr/>
        </p:nvSpPr>
        <p:spPr bwMode="auto">
          <a:xfrm>
            <a:off x="1766888" y="3414714"/>
            <a:ext cx="1356718" cy="3295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600"/>
              <a:t>Block Diagram</a:t>
            </a:r>
          </a:p>
        </p:txBody>
      </p:sp>
      <p:sp>
        <p:nvSpPr>
          <p:cNvPr id="13343" name="Rectangle 31"/>
          <p:cNvSpPr>
            <a:spLocks noChangeArrowheads="1"/>
          </p:cNvSpPr>
          <p:nvPr/>
        </p:nvSpPr>
        <p:spPr bwMode="auto">
          <a:xfrm>
            <a:off x="1720850" y="4638676"/>
            <a:ext cx="1468928" cy="3295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600"/>
              <a:t>Timing Diagram</a:t>
            </a:r>
          </a:p>
        </p:txBody>
      </p:sp>
      <p:sp>
        <p:nvSpPr>
          <p:cNvPr id="13345" name="Rectangle 33"/>
          <p:cNvSpPr>
            <a:spLocks noChangeArrowheads="1"/>
          </p:cNvSpPr>
          <p:nvPr/>
        </p:nvSpPr>
        <p:spPr bwMode="auto">
          <a:xfrm>
            <a:off x="2440773" y="2455863"/>
            <a:ext cx="2647969" cy="70147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ctr" defTabSz="762000">
              <a:lnSpc>
                <a:spcPct val="101000"/>
              </a:lnSpc>
            </a:pPr>
            <a:r>
              <a:rPr lang="en-US" altLang="ko-KR" sz="2000" u="sng"/>
              <a:t>Source-Initiated Strobe</a:t>
            </a:r>
            <a:r>
              <a:rPr lang="en-US" altLang="ko-KR" sz="2000"/>
              <a:t> </a:t>
            </a:r>
          </a:p>
          <a:p>
            <a:pPr algn="ctr" defTabSz="762000">
              <a:lnSpc>
                <a:spcPct val="101000"/>
              </a:lnSpc>
            </a:pPr>
            <a:r>
              <a:rPr lang="en-US" altLang="ko-KR" sz="2000"/>
              <a:t>for Data Transfer</a:t>
            </a:r>
          </a:p>
        </p:txBody>
      </p:sp>
      <p:sp>
        <p:nvSpPr>
          <p:cNvPr id="13346" name="Arc 34"/>
          <p:cNvSpPr>
            <a:spLocks/>
          </p:cNvSpPr>
          <p:nvPr/>
        </p:nvSpPr>
        <p:spPr bwMode="auto">
          <a:xfrm>
            <a:off x="7483475" y="4273550"/>
            <a:ext cx="160338" cy="147638"/>
          </a:xfrm>
          <a:custGeom>
            <a:avLst/>
            <a:gdLst>
              <a:gd name="G0" fmla="+- 0 0 0"/>
              <a:gd name="G1" fmla="+- 9042 0 0"/>
              <a:gd name="G2" fmla="+- 21600 0 0"/>
              <a:gd name="T0" fmla="*/ 19616 w 21600"/>
              <a:gd name="T1" fmla="*/ 0 h 17741"/>
              <a:gd name="T2" fmla="*/ 19771 w 21600"/>
              <a:gd name="T3" fmla="*/ 17741 h 17741"/>
              <a:gd name="T4" fmla="*/ 0 w 21600"/>
              <a:gd name="T5" fmla="*/ 9042 h 177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741" fill="none" extrusionOk="0">
                <a:moveTo>
                  <a:pt x="19616" y="-1"/>
                </a:moveTo>
                <a:cubicBezTo>
                  <a:pt x="20923" y="2835"/>
                  <a:pt x="21600" y="5920"/>
                  <a:pt x="21600" y="9042"/>
                </a:cubicBezTo>
                <a:cubicBezTo>
                  <a:pt x="21600" y="12037"/>
                  <a:pt x="20977" y="14999"/>
                  <a:pt x="19770" y="17740"/>
                </a:cubicBezTo>
              </a:path>
              <a:path w="21600" h="17741" stroke="0" extrusionOk="0">
                <a:moveTo>
                  <a:pt x="19616" y="-1"/>
                </a:moveTo>
                <a:cubicBezTo>
                  <a:pt x="20923" y="2835"/>
                  <a:pt x="21600" y="5920"/>
                  <a:pt x="21600" y="9042"/>
                </a:cubicBezTo>
                <a:cubicBezTo>
                  <a:pt x="21600" y="12037"/>
                  <a:pt x="20977" y="14999"/>
                  <a:pt x="19770" y="17740"/>
                </a:cubicBezTo>
                <a:lnTo>
                  <a:pt x="0" y="904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47" name="Line 35"/>
          <p:cNvSpPr>
            <a:spLocks noChangeShapeType="1"/>
          </p:cNvSpPr>
          <p:nvPr/>
        </p:nvSpPr>
        <p:spPr bwMode="auto">
          <a:xfrm flipV="1">
            <a:off x="7623175" y="4348163"/>
            <a:ext cx="1868488" cy="4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48" name="Arc 36"/>
          <p:cNvSpPr>
            <a:spLocks/>
          </p:cNvSpPr>
          <p:nvPr/>
        </p:nvSpPr>
        <p:spPr bwMode="auto">
          <a:xfrm>
            <a:off x="9332914" y="3929064"/>
            <a:ext cx="160337" cy="142875"/>
          </a:xfrm>
          <a:custGeom>
            <a:avLst/>
            <a:gdLst>
              <a:gd name="G0" fmla="+- 21600 0 0"/>
              <a:gd name="G1" fmla="+- 8964 0 0"/>
              <a:gd name="G2" fmla="+- 21600 0 0"/>
              <a:gd name="T0" fmla="*/ 1796 w 21600"/>
              <a:gd name="T1" fmla="*/ 17587 h 17587"/>
              <a:gd name="T2" fmla="*/ 1948 w 21600"/>
              <a:gd name="T3" fmla="*/ 0 h 17587"/>
              <a:gd name="T4" fmla="*/ 21600 w 21600"/>
              <a:gd name="T5" fmla="*/ 8964 h 17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587" fill="none" extrusionOk="0">
                <a:moveTo>
                  <a:pt x="1795" y="17587"/>
                </a:moveTo>
                <a:cubicBezTo>
                  <a:pt x="611" y="14866"/>
                  <a:pt x="0" y="11931"/>
                  <a:pt x="0" y="8964"/>
                </a:cubicBezTo>
                <a:cubicBezTo>
                  <a:pt x="-1" y="5870"/>
                  <a:pt x="664" y="2814"/>
                  <a:pt x="1947" y="-1"/>
                </a:cubicBezTo>
              </a:path>
              <a:path w="21600" h="17587" stroke="0" extrusionOk="0">
                <a:moveTo>
                  <a:pt x="1795" y="17587"/>
                </a:moveTo>
                <a:cubicBezTo>
                  <a:pt x="611" y="14866"/>
                  <a:pt x="0" y="11931"/>
                  <a:pt x="0" y="8964"/>
                </a:cubicBezTo>
                <a:cubicBezTo>
                  <a:pt x="-1" y="5870"/>
                  <a:pt x="664" y="2814"/>
                  <a:pt x="1947" y="-1"/>
                </a:cubicBezTo>
                <a:lnTo>
                  <a:pt x="21600" y="8964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49" name="Line 37"/>
          <p:cNvSpPr>
            <a:spLocks noChangeShapeType="1"/>
          </p:cNvSpPr>
          <p:nvPr/>
        </p:nvSpPr>
        <p:spPr bwMode="auto">
          <a:xfrm>
            <a:off x="7478713" y="3995738"/>
            <a:ext cx="18923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50" name="Rectangle 38"/>
          <p:cNvSpPr>
            <a:spLocks noChangeArrowheads="1"/>
          </p:cNvSpPr>
          <p:nvPr/>
        </p:nvSpPr>
        <p:spPr bwMode="auto">
          <a:xfrm>
            <a:off x="6746875" y="3887789"/>
            <a:ext cx="717550" cy="585787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51" name="Rectangle 39"/>
          <p:cNvSpPr>
            <a:spLocks noChangeArrowheads="1"/>
          </p:cNvSpPr>
          <p:nvPr/>
        </p:nvSpPr>
        <p:spPr bwMode="auto">
          <a:xfrm>
            <a:off x="6773864" y="3929063"/>
            <a:ext cx="557845" cy="4219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Source</a:t>
            </a:r>
          </a:p>
          <a:p>
            <a:pPr defTabSz="617538" latinLnBrk="1"/>
            <a:endParaRPr lang="en-US" altLang="ko-KR" sz="1100"/>
          </a:p>
        </p:txBody>
      </p:sp>
      <p:sp>
        <p:nvSpPr>
          <p:cNvPr id="13352" name="Rectangle 40"/>
          <p:cNvSpPr>
            <a:spLocks noChangeArrowheads="1"/>
          </p:cNvSpPr>
          <p:nvPr/>
        </p:nvSpPr>
        <p:spPr bwMode="auto">
          <a:xfrm>
            <a:off x="6886575" y="4103689"/>
            <a:ext cx="392736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unit</a:t>
            </a:r>
          </a:p>
        </p:txBody>
      </p:sp>
      <p:sp>
        <p:nvSpPr>
          <p:cNvPr id="13353" name="Rectangle 41"/>
          <p:cNvSpPr>
            <a:spLocks noChangeArrowheads="1"/>
          </p:cNvSpPr>
          <p:nvPr/>
        </p:nvSpPr>
        <p:spPr bwMode="auto">
          <a:xfrm>
            <a:off x="9448800" y="3929063"/>
            <a:ext cx="823944" cy="4219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Destination</a:t>
            </a:r>
          </a:p>
          <a:p>
            <a:pPr defTabSz="617538"/>
            <a:endParaRPr lang="en-US" altLang="ko-KR" sz="1100"/>
          </a:p>
        </p:txBody>
      </p:sp>
      <p:sp>
        <p:nvSpPr>
          <p:cNvPr id="13354" name="Rectangle 42"/>
          <p:cNvSpPr>
            <a:spLocks noChangeArrowheads="1"/>
          </p:cNvSpPr>
          <p:nvPr/>
        </p:nvSpPr>
        <p:spPr bwMode="auto">
          <a:xfrm>
            <a:off x="9647238" y="4103689"/>
            <a:ext cx="392736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unit</a:t>
            </a:r>
          </a:p>
        </p:txBody>
      </p:sp>
      <p:sp>
        <p:nvSpPr>
          <p:cNvPr id="13355" name="Rectangle 43"/>
          <p:cNvSpPr>
            <a:spLocks noChangeArrowheads="1"/>
          </p:cNvSpPr>
          <p:nvPr/>
        </p:nvSpPr>
        <p:spPr bwMode="auto">
          <a:xfrm>
            <a:off x="9498014" y="3875089"/>
            <a:ext cx="814387" cy="59848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56" name="Rectangle 44"/>
          <p:cNvSpPr>
            <a:spLocks noChangeArrowheads="1"/>
          </p:cNvSpPr>
          <p:nvPr/>
        </p:nvSpPr>
        <p:spPr bwMode="auto">
          <a:xfrm>
            <a:off x="8018464" y="3794126"/>
            <a:ext cx="668453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Data bus</a:t>
            </a:r>
          </a:p>
        </p:txBody>
      </p:sp>
      <p:sp>
        <p:nvSpPr>
          <p:cNvPr id="13357" name="Rectangle 45"/>
          <p:cNvSpPr>
            <a:spLocks noChangeArrowheads="1"/>
          </p:cNvSpPr>
          <p:nvPr/>
        </p:nvSpPr>
        <p:spPr bwMode="auto">
          <a:xfrm>
            <a:off x="8083551" y="4140201"/>
            <a:ext cx="545021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Strobe</a:t>
            </a:r>
          </a:p>
        </p:txBody>
      </p:sp>
      <p:sp>
        <p:nvSpPr>
          <p:cNvPr id="13358" name="Line 46"/>
          <p:cNvSpPr>
            <a:spLocks noChangeShapeType="1"/>
          </p:cNvSpPr>
          <p:nvPr/>
        </p:nvSpPr>
        <p:spPr bwMode="auto">
          <a:xfrm>
            <a:off x="6724651" y="5356225"/>
            <a:ext cx="10144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59" name="Line 47"/>
          <p:cNvSpPr>
            <a:spLocks noChangeShapeType="1"/>
          </p:cNvSpPr>
          <p:nvPr/>
        </p:nvSpPr>
        <p:spPr bwMode="auto">
          <a:xfrm>
            <a:off x="7732713" y="5014914"/>
            <a:ext cx="0" cy="3444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60" name="Freeform 48"/>
          <p:cNvSpPr>
            <a:spLocks/>
          </p:cNvSpPr>
          <p:nvPr/>
        </p:nvSpPr>
        <p:spPr bwMode="auto">
          <a:xfrm>
            <a:off x="7732714" y="5014914"/>
            <a:ext cx="2509837" cy="3444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15" y="0"/>
              </a:cxn>
              <a:cxn ang="0">
                <a:pos x="1015" y="202"/>
              </a:cxn>
              <a:cxn ang="0">
                <a:pos x="1627" y="202"/>
              </a:cxn>
            </a:cxnLst>
            <a:rect l="0" t="0" r="r" b="b"/>
            <a:pathLst>
              <a:path w="1628" h="203">
                <a:moveTo>
                  <a:pt x="0" y="0"/>
                </a:moveTo>
                <a:lnTo>
                  <a:pt x="1015" y="0"/>
                </a:lnTo>
                <a:lnTo>
                  <a:pt x="1015" y="202"/>
                </a:lnTo>
                <a:lnTo>
                  <a:pt x="1627" y="202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61" name="Rectangle 49"/>
          <p:cNvSpPr>
            <a:spLocks noChangeArrowheads="1"/>
          </p:cNvSpPr>
          <p:nvPr/>
        </p:nvSpPr>
        <p:spPr bwMode="auto">
          <a:xfrm>
            <a:off x="6642100" y="5157789"/>
            <a:ext cx="434414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Data</a:t>
            </a:r>
          </a:p>
        </p:txBody>
      </p:sp>
      <p:sp>
        <p:nvSpPr>
          <p:cNvPr id="13362" name="Line 50"/>
          <p:cNvSpPr>
            <a:spLocks noChangeShapeType="1"/>
          </p:cNvSpPr>
          <p:nvPr/>
        </p:nvSpPr>
        <p:spPr bwMode="auto">
          <a:xfrm>
            <a:off x="6724651" y="6056313"/>
            <a:ext cx="8921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63" name="Line 51"/>
          <p:cNvSpPr>
            <a:spLocks noChangeShapeType="1"/>
          </p:cNvSpPr>
          <p:nvPr/>
        </p:nvSpPr>
        <p:spPr bwMode="auto">
          <a:xfrm>
            <a:off x="7612063" y="5713413"/>
            <a:ext cx="0" cy="3540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64" name="Freeform 52"/>
          <p:cNvSpPr>
            <a:spLocks/>
          </p:cNvSpPr>
          <p:nvPr/>
        </p:nvSpPr>
        <p:spPr bwMode="auto">
          <a:xfrm>
            <a:off x="7612063" y="5713414"/>
            <a:ext cx="1498600" cy="3444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72" y="0"/>
              </a:cxn>
              <a:cxn ang="0">
                <a:pos x="972" y="201"/>
              </a:cxn>
            </a:cxnLst>
            <a:rect l="0" t="0" r="r" b="b"/>
            <a:pathLst>
              <a:path w="973" h="202">
                <a:moveTo>
                  <a:pt x="0" y="0"/>
                </a:moveTo>
                <a:lnTo>
                  <a:pt x="972" y="0"/>
                </a:lnTo>
                <a:lnTo>
                  <a:pt x="972" y="201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65" name="Line 53"/>
          <p:cNvSpPr>
            <a:spLocks noChangeShapeType="1"/>
          </p:cNvSpPr>
          <p:nvPr/>
        </p:nvSpPr>
        <p:spPr bwMode="auto">
          <a:xfrm>
            <a:off x="9121775" y="6056313"/>
            <a:ext cx="8636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66" name="Rectangle 54"/>
          <p:cNvSpPr>
            <a:spLocks noChangeArrowheads="1"/>
          </p:cNvSpPr>
          <p:nvPr/>
        </p:nvSpPr>
        <p:spPr bwMode="auto">
          <a:xfrm>
            <a:off x="6642101" y="5842001"/>
            <a:ext cx="545021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Strobe</a:t>
            </a:r>
          </a:p>
        </p:txBody>
      </p:sp>
      <p:sp>
        <p:nvSpPr>
          <p:cNvPr id="13367" name="Rectangle 55"/>
          <p:cNvSpPr>
            <a:spLocks noChangeArrowheads="1"/>
          </p:cNvSpPr>
          <p:nvPr/>
        </p:nvSpPr>
        <p:spPr bwMode="auto">
          <a:xfrm>
            <a:off x="8096251" y="5006976"/>
            <a:ext cx="738985" cy="25263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100"/>
              <a:t>Valid data</a:t>
            </a:r>
          </a:p>
        </p:txBody>
      </p:sp>
      <p:sp>
        <p:nvSpPr>
          <p:cNvPr id="13368" name="Arc 56"/>
          <p:cNvSpPr>
            <a:spLocks/>
          </p:cNvSpPr>
          <p:nvPr/>
        </p:nvSpPr>
        <p:spPr bwMode="auto">
          <a:xfrm>
            <a:off x="7739063" y="5105400"/>
            <a:ext cx="106362" cy="96838"/>
          </a:xfrm>
          <a:custGeom>
            <a:avLst/>
            <a:gdLst>
              <a:gd name="G0" fmla="+- 0 0 0"/>
              <a:gd name="G1" fmla="+- 9152 0 0"/>
              <a:gd name="G2" fmla="+- 21600 0 0"/>
              <a:gd name="T0" fmla="*/ 19565 w 21600"/>
              <a:gd name="T1" fmla="*/ 0 h 17776"/>
              <a:gd name="T2" fmla="*/ 19804 w 21600"/>
              <a:gd name="T3" fmla="*/ 17776 h 17776"/>
              <a:gd name="T4" fmla="*/ 0 w 21600"/>
              <a:gd name="T5" fmla="*/ 9152 h 17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776" fill="none" extrusionOk="0">
                <a:moveTo>
                  <a:pt x="19565" y="-1"/>
                </a:moveTo>
                <a:cubicBezTo>
                  <a:pt x="20905" y="2864"/>
                  <a:pt x="21600" y="5989"/>
                  <a:pt x="21600" y="9152"/>
                </a:cubicBezTo>
                <a:cubicBezTo>
                  <a:pt x="21600" y="12119"/>
                  <a:pt x="20988" y="15055"/>
                  <a:pt x="19803" y="17775"/>
                </a:cubicBezTo>
              </a:path>
              <a:path w="21600" h="17776" stroke="0" extrusionOk="0">
                <a:moveTo>
                  <a:pt x="19565" y="-1"/>
                </a:moveTo>
                <a:cubicBezTo>
                  <a:pt x="20905" y="2864"/>
                  <a:pt x="21600" y="5989"/>
                  <a:pt x="21600" y="9152"/>
                </a:cubicBezTo>
                <a:cubicBezTo>
                  <a:pt x="21600" y="12119"/>
                  <a:pt x="20988" y="15055"/>
                  <a:pt x="19803" y="17775"/>
                </a:cubicBezTo>
                <a:lnTo>
                  <a:pt x="0" y="91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69" name="Line 57"/>
          <p:cNvSpPr>
            <a:spLocks noChangeShapeType="1"/>
          </p:cNvSpPr>
          <p:nvPr/>
        </p:nvSpPr>
        <p:spPr bwMode="auto">
          <a:xfrm>
            <a:off x="7835900" y="5154613"/>
            <a:ext cx="2619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70" name="Arc 58"/>
          <p:cNvSpPr>
            <a:spLocks/>
          </p:cNvSpPr>
          <p:nvPr/>
        </p:nvSpPr>
        <p:spPr bwMode="auto">
          <a:xfrm>
            <a:off x="9194801" y="5110163"/>
            <a:ext cx="106363" cy="93662"/>
          </a:xfrm>
          <a:custGeom>
            <a:avLst/>
            <a:gdLst>
              <a:gd name="G0" fmla="+- 21600 0 0"/>
              <a:gd name="G1" fmla="+- 8915 0 0"/>
              <a:gd name="G2" fmla="+- 21600 0 0"/>
              <a:gd name="T0" fmla="*/ 1699 w 21600"/>
              <a:gd name="T1" fmla="*/ 17311 h 17311"/>
              <a:gd name="T2" fmla="*/ 1926 w 21600"/>
              <a:gd name="T3" fmla="*/ 0 h 17311"/>
              <a:gd name="T4" fmla="*/ 21600 w 21600"/>
              <a:gd name="T5" fmla="*/ 8915 h 17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311" fill="none" extrusionOk="0">
                <a:moveTo>
                  <a:pt x="1698" y="17311"/>
                </a:moveTo>
                <a:cubicBezTo>
                  <a:pt x="577" y="14653"/>
                  <a:pt x="0" y="11799"/>
                  <a:pt x="0" y="8915"/>
                </a:cubicBezTo>
                <a:cubicBezTo>
                  <a:pt x="-1" y="5840"/>
                  <a:pt x="656" y="2800"/>
                  <a:pt x="1925" y="-1"/>
                </a:cubicBezTo>
              </a:path>
              <a:path w="21600" h="17311" stroke="0" extrusionOk="0">
                <a:moveTo>
                  <a:pt x="1698" y="17311"/>
                </a:moveTo>
                <a:cubicBezTo>
                  <a:pt x="577" y="14653"/>
                  <a:pt x="0" y="11799"/>
                  <a:pt x="0" y="8915"/>
                </a:cubicBezTo>
                <a:cubicBezTo>
                  <a:pt x="-1" y="5840"/>
                  <a:pt x="656" y="2800"/>
                  <a:pt x="1925" y="-1"/>
                </a:cubicBezTo>
                <a:lnTo>
                  <a:pt x="21600" y="8915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71" name="Line 59"/>
          <p:cNvSpPr>
            <a:spLocks noChangeShapeType="1"/>
          </p:cNvSpPr>
          <p:nvPr/>
        </p:nvSpPr>
        <p:spPr bwMode="auto">
          <a:xfrm>
            <a:off x="8877300" y="5154613"/>
            <a:ext cx="3190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72" name="Rectangle 60"/>
          <p:cNvSpPr>
            <a:spLocks noChangeArrowheads="1"/>
          </p:cNvSpPr>
          <p:nvPr/>
        </p:nvSpPr>
        <p:spPr bwMode="auto">
          <a:xfrm>
            <a:off x="6253163" y="3414714"/>
            <a:ext cx="1356718" cy="3295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pPr defTabSz="617538"/>
            <a:r>
              <a:rPr lang="en-US" altLang="ko-KR" sz="1600"/>
              <a:t>Block Diagram</a:t>
            </a:r>
          </a:p>
        </p:txBody>
      </p:sp>
      <p:sp>
        <p:nvSpPr>
          <p:cNvPr id="13373" name="Rectangle 61"/>
          <p:cNvSpPr>
            <a:spLocks noChangeArrowheads="1"/>
          </p:cNvSpPr>
          <p:nvPr/>
        </p:nvSpPr>
        <p:spPr bwMode="auto">
          <a:xfrm>
            <a:off x="8312343" y="0"/>
            <a:ext cx="2225482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/>
            <a:r>
              <a:rPr lang="en-US" altLang="ko-KR" sz="1400" i="1"/>
              <a:t>Asynchronous Data Transfer</a:t>
            </a:r>
          </a:p>
        </p:txBody>
      </p:sp>
      <p:sp>
        <p:nvSpPr>
          <p:cNvPr id="13375" name="Rectangle 63"/>
          <p:cNvSpPr>
            <a:spLocks noChangeArrowheads="1"/>
          </p:cNvSpPr>
          <p:nvPr/>
        </p:nvSpPr>
        <p:spPr bwMode="auto">
          <a:xfrm>
            <a:off x="6838726" y="2455864"/>
            <a:ext cx="3138936" cy="7040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762000">
              <a:lnSpc>
                <a:spcPct val="101000"/>
              </a:lnSpc>
            </a:pPr>
            <a:r>
              <a:rPr lang="en-US" altLang="ko-KR" sz="2000" u="sng"/>
              <a:t>Destination-Initiated Strobe</a:t>
            </a:r>
            <a:r>
              <a:rPr lang="en-US" altLang="ko-KR" sz="2000"/>
              <a:t> </a:t>
            </a:r>
          </a:p>
          <a:p>
            <a:pPr algn="ctr" defTabSz="762000">
              <a:lnSpc>
                <a:spcPct val="101000"/>
              </a:lnSpc>
            </a:pPr>
            <a:r>
              <a:rPr lang="en-US" altLang="ko-KR" sz="2000"/>
              <a:t>for Data Transfer</a:t>
            </a:r>
          </a:p>
        </p:txBody>
      </p:sp>
      <p:sp>
        <p:nvSpPr>
          <p:cNvPr id="13377" name="Rectangle 65"/>
          <p:cNvSpPr>
            <a:spLocks noChangeArrowheads="1"/>
          </p:cNvSpPr>
          <p:nvPr/>
        </p:nvSpPr>
        <p:spPr bwMode="auto">
          <a:xfrm>
            <a:off x="6153150" y="4638675"/>
            <a:ext cx="1486882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altLang="ko-KR" sz="1600"/>
              <a:t>Timing Diagram</a:t>
            </a:r>
          </a:p>
        </p:txBody>
      </p:sp>
      <p:sp>
        <p:nvSpPr>
          <p:cNvPr id="13379" name="Rectangle 67" descr="밝은 정방향 사선"/>
          <p:cNvSpPr>
            <a:spLocks noChangeArrowheads="1"/>
          </p:cNvSpPr>
          <p:nvPr/>
        </p:nvSpPr>
        <p:spPr bwMode="auto">
          <a:xfrm>
            <a:off x="6105526" y="2543176"/>
            <a:ext cx="85725" cy="3876675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36726" y="295276"/>
            <a:ext cx="8931275" cy="403225"/>
          </a:xfrm>
          <a:noFill/>
          <a:ln w="12700">
            <a:miter lim="800000"/>
            <a:headEnd/>
            <a:tailEnd/>
          </a:ln>
        </p:spPr>
        <p:txBody>
          <a:bodyPr vert="horz" wrap="square" lIns="63500" tIns="25400" rIns="63500" bIns="25400" numCol="1" rtlCol="0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ko-KR" sz="2800"/>
              <a:t>HANDSHAKING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508125" y="3806826"/>
            <a:ext cx="759824" cy="5012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571500" lvl="1" defTabSz="762000">
              <a:lnSpc>
                <a:spcPct val="91000"/>
              </a:lnSpc>
              <a:spcBef>
                <a:spcPct val="46000"/>
              </a:spcBef>
            </a:pPr>
            <a:endParaRPr lang="en-US" altLang="ko-KR" sz="1400"/>
          </a:p>
          <a:p>
            <a:pPr defTabSz="762000" latinLnBrk="1"/>
            <a:endParaRPr lang="en-US" altLang="ko-KR" sz="140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770188" y="1522414"/>
            <a:ext cx="5333962" cy="486030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sz="2000"/>
              <a:t>Strobe Methods</a:t>
            </a:r>
          </a:p>
          <a:p>
            <a:pPr defTabSz="762000"/>
            <a:endParaRPr lang="en-US" altLang="ko-KR" sz="2000"/>
          </a:p>
          <a:p>
            <a:pPr defTabSz="762000"/>
            <a:r>
              <a:rPr lang="en-US" altLang="ko-KR"/>
              <a:t>       Source-Initiated</a:t>
            </a:r>
          </a:p>
          <a:p>
            <a:pPr defTabSz="762000"/>
            <a:endParaRPr lang="en-US" altLang="ko-KR"/>
          </a:p>
          <a:p>
            <a:pPr defTabSz="762000"/>
            <a:r>
              <a:rPr lang="en-US" altLang="ko-KR"/>
              <a:t>            The source unit that initiates the transfer has</a:t>
            </a:r>
          </a:p>
          <a:p>
            <a:pPr defTabSz="762000"/>
            <a:r>
              <a:rPr lang="en-US" altLang="ko-KR"/>
              <a:t>            no way of knowing whether the destination unit</a:t>
            </a:r>
          </a:p>
          <a:p>
            <a:pPr defTabSz="762000"/>
            <a:r>
              <a:rPr lang="en-US" altLang="ko-KR"/>
              <a:t>            has actually received data</a:t>
            </a:r>
          </a:p>
          <a:p>
            <a:pPr defTabSz="762000"/>
            <a:endParaRPr lang="en-US" altLang="ko-KR"/>
          </a:p>
          <a:p>
            <a:pPr defTabSz="762000"/>
            <a:r>
              <a:rPr lang="en-US" altLang="ko-KR"/>
              <a:t>       Destination-Initiated</a:t>
            </a:r>
          </a:p>
          <a:p>
            <a:pPr defTabSz="762000"/>
            <a:endParaRPr lang="en-US" altLang="ko-KR"/>
          </a:p>
          <a:p>
            <a:pPr defTabSz="762000"/>
            <a:r>
              <a:rPr lang="en-US" altLang="ko-KR"/>
              <a:t>            The destination unit that initiates the transfer </a:t>
            </a:r>
          </a:p>
          <a:p>
            <a:pPr defTabSz="762000"/>
            <a:r>
              <a:rPr lang="en-US" altLang="ko-KR"/>
              <a:t>            no way of knowing whether the source has</a:t>
            </a:r>
          </a:p>
          <a:p>
            <a:pPr defTabSz="762000"/>
            <a:r>
              <a:rPr lang="en-US" altLang="ko-KR"/>
              <a:t>            actually placed the data on the bus</a:t>
            </a:r>
          </a:p>
          <a:p>
            <a:pPr defTabSz="762000"/>
            <a:endParaRPr lang="en-US" altLang="ko-KR"/>
          </a:p>
          <a:p>
            <a:pPr defTabSz="762000"/>
            <a:r>
              <a:rPr lang="en-US" altLang="ko-KR"/>
              <a:t>To solve this problem, the </a:t>
            </a:r>
            <a:r>
              <a:rPr lang="en-US" altLang="ko-KR" i="1"/>
              <a:t>HANDSHAKE</a:t>
            </a:r>
            <a:r>
              <a:rPr lang="en-US" altLang="ko-KR"/>
              <a:t>  method</a:t>
            </a:r>
          </a:p>
          <a:p>
            <a:pPr defTabSz="762000"/>
            <a:r>
              <a:rPr lang="en-US" altLang="ko-KR"/>
              <a:t>introduces a second control signal to provide a </a:t>
            </a:r>
            <a:r>
              <a:rPr lang="en-US" altLang="ko-KR" i="1"/>
              <a:t>Reply</a:t>
            </a:r>
            <a:endParaRPr lang="en-US" altLang="ko-KR"/>
          </a:p>
          <a:p>
            <a:pPr defTabSz="762000"/>
            <a:r>
              <a:rPr lang="en-US" altLang="ko-KR"/>
              <a:t>to the unit that initiates the transfer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8442518" y="0"/>
            <a:ext cx="2225482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/>
            <a:r>
              <a:rPr lang="en-US" altLang="ko-KR" sz="1400" i="1"/>
              <a:t>Asynchronous Data Transfer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80975"/>
            <a:ext cx="8986838" cy="641350"/>
          </a:xfrm>
          <a:noFill/>
          <a:ln w="12700">
            <a:miter lim="800000"/>
            <a:headEnd/>
            <a:tailEnd/>
          </a:ln>
        </p:spPr>
        <p:txBody>
          <a:bodyPr vert="horz" wrap="square" lIns="63500" tIns="25400" rIns="63500" bIns="2540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sz="2400"/>
              <a:t>SOURCE-INITIATED  TRANSFER  USING  HANDSHAKE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576388" y="5738814"/>
            <a:ext cx="5270354" cy="76783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97000"/>
              </a:lnSpc>
            </a:pPr>
            <a:r>
              <a:rPr lang="en-US" altLang="ko-KR" sz="1600"/>
              <a:t>     * Allows arbitrary delays from one state to the next </a:t>
            </a:r>
          </a:p>
          <a:p>
            <a:pPr defTabSz="762000">
              <a:lnSpc>
                <a:spcPct val="97000"/>
              </a:lnSpc>
            </a:pPr>
            <a:r>
              <a:rPr lang="en-US" altLang="ko-KR" sz="1600"/>
              <a:t>     * Permits each unit to respond at its own data transfer rate</a:t>
            </a:r>
          </a:p>
          <a:p>
            <a:pPr defTabSz="762000">
              <a:lnSpc>
                <a:spcPct val="97000"/>
              </a:lnSpc>
            </a:pPr>
            <a:r>
              <a:rPr lang="en-US" altLang="ko-KR" sz="1600"/>
              <a:t>     * The rate of transfer is determined by the slower unit</a:t>
            </a:r>
          </a:p>
        </p:txBody>
      </p:sp>
      <p:sp>
        <p:nvSpPr>
          <p:cNvPr id="15391" name="Rectangle 31"/>
          <p:cNvSpPr>
            <a:spLocks noChangeArrowheads="1"/>
          </p:cNvSpPr>
          <p:nvPr/>
        </p:nvSpPr>
        <p:spPr bwMode="auto">
          <a:xfrm>
            <a:off x="1751013" y="1019176"/>
            <a:ext cx="152291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Block Diagram</a:t>
            </a:r>
          </a:p>
        </p:txBody>
      </p:sp>
      <p:sp>
        <p:nvSpPr>
          <p:cNvPr id="15392" name="Rectangle 32"/>
          <p:cNvSpPr>
            <a:spLocks noChangeArrowheads="1"/>
          </p:cNvSpPr>
          <p:nvPr/>
        </p:nvSpPr>
        <p:spPr bwMode="auto">
          <a:xfrm>
            <a:off x="1751014" y="1979614"/>
            <a:ext cx="1654365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Timing Diagram</a:t>
            </a:r>
          </a:p>
        </p:txBody>
      </p:sp>
      <p:sp>
        <p:nvSpPr>
          <p:cNvPr id="15403" name="Rectangle 43"/>
          <p:cNvSpPr>
            <a:spLocks noChangeArrowheads="1"/>
          </p:cNvSpPr>
          <p:nvPr/>
        </p:nvSpPr>
        <p:spPr bwMode="auto">
          <a:xfrm>
            <a:off x="7702413" y="4386747"/>
            <a:ext cx="2242538" cy="53848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80000"/>
              </a:lnSpc>
            </a:pPr>
            <a:r>
              <a:rPr lang="en-US" altLang="ko-KR" dirty="0"/>
              <a:t>Accept data from bus.</a:t>
            </a:r>
          </a:p>
          <a:p>
            <a:pPr defTabSz="762000">
              <a:lnSpc>
                <a:spcPct val="80000"/>
              </a:lnSpc>
            </a:pPr>
            <a:r>
              <a:rPr lang="en-US" altLang="ko-KR" dirty="0"/>
              <a:t>Enable data accepted</a:t>
            </a:r>
          </a:p>
        </p:txBody>
      </p:sp>
      <p:sp>
        <p:nvSpPr>
          <p:cNvPr id="15409" name="Rectangle 49"/>
          <p:cNvSpPr>
            <a:spLocks noChangeArrowheads="1"/>
          </p:cNvSpPr>
          <p:nvPr/>
        </p:nvSpPr>
        <p:spPr bwMode="auto">
          <a:xfrm>
            <a:off x="7712076" y="5110163"/>
            <a:ext cx="2301465" cy="76008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80000"/>
              </a:lnSpc>
            </a:pPr>
            <a:r>
              <a:rPr lang="en-US" altLang="ko-KR" dirty="0"/>
              <a:t>Disable data accepted.</a:t>
            </a:r>
          </a:p>
          <a:p>
            <a:pPr defTabSz="762000">
              <a:lnSpc>
                <a:spcPct val="80000"/>
              </a:lnSpc>
            </a:pPr>
            <a:r>
              <a:rPr lang="en-US" altLang="ko-KR" dirty="0"/>
              <a:t>Ready to accept data</a:t>
            </a:r>
          </a:p>
          <a:p>
            <a:pPr defTabSz="762000">
              <a:lnSpc>
                <a:spcPct val="80000"/>
              </a:lnSpc>
            </a:pPr>
            <a:r>
              <a:rPr lang="en-US" altLang="ko-KR" dirty="0"/>
              <a:t>(initial state).</a:t>
            </a:r>
          </a:p>
        </p:txBody>
      </p:sp>
      <p:sp>
        <p:nvSpPr>
          <p:cNvPr id="15422" name="Rectangle 62"/>
          <p:cNvSpPr>
            <a:spLocks noChangeArrowheads="1"/>
          </p:cNvSpPr>
          <p:nvPr/>
        </p:nvSpPr>
        <p:spPr bwMode="auto">
          <a:xfrm>
            <a:off x="1751013" y="3729039"/>
            <a:ext cx="2006832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Sequence of Events</a:t>
            </a:r>
          </a:p>
        </p:txBody>
      </p:sp>
      <p:sp>
        <p:nvSpPr>
          <p:cNvPr id="15398" name="Rectangle 38"/>
          <p:cNvSpPr>
            <a:spLocks noChangeArrowheads="1"/>
          </p:cNvSpPr>
          <p:nvPr/>
        </p:nvSpPr>
        <p:spPr bwMode="auto">
          <a:xfrm>
            <a:off x="4776099" y="3906149"/>
            <a:ext cx="1886608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Place data on bus.</a:t>
            </a:r>
          </a:p>
          <a:p>
            <a:pPr defTabSz="762000"/>
            <a:endParaRPr lang="en-US" altLang="ko-KR" dirty="0"/>
          </a:p>
        </p:txBody>
      </p:sp>
      <p:sp>
        <p:nvSpPr>
          <p:cNvPr id="15399" name="Rectangle 39"/>
          <p:cNvSpPr>
            <a:spLocks noChangeArrowheads="1"/>
          </p:cNvSpPr>
          <p:nvPr/>
        </p:nvSpPr>
        <p:spPr bwMode="auto">
          <a:xfrm>
            <a:off x="4855612" y="4094579"/>
            <a:ext cx="1835119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Enable data valid.</a:t>
            </a:r>
          </a:p>
        </p:txBody>
      </p:sp>
      <p:sp>
        <p:nvSpPr>
          <p:cNvPr id="15400" name="Rectangle 40"/>
          <p:cNvSpPr>
            <a:spLocks noChangeArrowheads="1"/>
          </p:cNvSpPr>
          <p:nvPr/>
        </p:nvSpPr>
        <p:spPr bwMode="auto">
          <a:xfrm>
            <a:off x="4746626" y="4016374"/>
            <a:ext cx="1846263" cy="477161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1" name="Rectangle 41"/>
          <p:cNvSpPr>
            <a:spLocks noChangeArrowheads="1"/>
          </p:cNvSpPr>
          <p:nvPr/>
        </p:nvSpPr>
        <p:spPr bwMode="auto">
          <a:xfrm>
            <a:off x="4868863" y="3617156"/>
            <a:ext cx="124854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Source unit</a:t>
            </a:r>
          </a:p>
        </p:txBody>
      </p:sp>
      <p:sp>
        <p:nvSpPr>
          <p:cNvPr id="15402" name="Rectangle 42"/>
          <p:cNvSpPr>
            <a:spLocks noChangeArrowheads="1"/>
          </p:cNvSpPr>
          <p:nvPr/>
        </p:nvSpPr>
        <p:spPr bwMode="auto">
          <a:xfrm>
            <a:off x="7764463" y="3740151"/>
            <a:ext cx="1688092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Destination unit</a:t>
            </a:r>
          </a:p>
        </p:txBody>
      </p:sp>
      <p:sp>
        <p:nvSpPr>
          <p:cNvPr id="15405" name="Rectangle 45"/>
          <p:cNvSpPr>
            <a:spLocks noChangeArrowheads="1"/>
          </p:cNvSpPr>
          <p:nvPr/>
        </p:nvSpPr>
        <p:spPr bwMode="auto">
          <a:xfrm>
            <a:off x="7708901" y="4430920"/>
            <a:ext cx="2101653" cy="49430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6" name="Rectangle 46"/>
          <p:cNvSpPr>
            <a:spLocks noChangeArrowheads="1"/>
          </p:cNvSpPr>
          <p:nvPr/>
        </p:nvSpPr>
        <p:spPr bwMode="auto">
          <a:xfrm>
            <a:off x="4784726" y="4638538"/>
            <a:ext cx="1886415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Disable data valid.</a:t>
            </a:r>
          </a:p>
          <a:p>
            <a:pPr defTabSz="762000"/>
            <a:endParaRPr lang="en-US" altLang="ko-KR" dirty="0"/>
          </a:p>
        </p:txBody>
      </p:sp>
      <p:sp>
        <p:nvSpPr>
          <p:cNvPr id="15407" name="Rectangle 47"/>
          <p:cNvSpPr>
            <a:spLocks noChangeArrowheads="1"/>
          </p:cNvSpPr>
          <p:nvPr/>
        </p:nvSpPr>
        <p:spPr bwMode="auto">
          <a:xfrm>
            <a:off x="4462813" y="4821185"/>
            <a:ext cx="2304350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Invalidate data on bus.</a:t>
            </a:r>
          </a:p>
        </p:txBody>
      </p:sp>
      <p:sp>
        <p:nvSpPr>
          <p:cNvPr id="15408" name="Rectangle 48"/>
          <p:cNvSpPr>
            <a:spLocks noChangeArrowheads="1"/>
          </p:cNvSpPr>
          <p:nvPr/>
        </p:nvSpPr>
        <p:spPr bwMode="auto">
          <a:xfrm>
            <a:off x="4535489" y="4719638"/>
            <a:ext cx="2160589" cy="5222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2" name="Rectangle 52"/>
          <p:cNvSpPr>
            <a:spLocks noChangeArrowheads="1"/>
          </p:cNvSpPr>
          <p:nvPr/>
        </p:nvSpPr>
        <p:spPr bwMode="auto">
          <a:xfrm>
            <a:off x="7627938" y="5106989"/>
            <a:ext cx="2301464" cy="5175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3" name="Arc 53"/>
          <p:cNvSpPr>
            <a:spLocks/>
          </p:cNvSpPr>
          <p:nvPr/>
        </p:nvSpPr>
        <p:spPr bwMode="auto">
          <a:xfrm>
            <a:off x="7573964" y="4438651"/>
            <a:ext cx="130175" cy="80963"/>
          </a:xfrm>
          <a:custGeom>
            <a:avLst/>
            <a:gdLst>
              <a:gd name="G0" fmla="+- 21600 0 0"/>
              <a:gd name="G1" fmla="+- 14698 0 0"/>
              <a:gd name="G2" fmla="+- 21600 0 0"/>
              <a:gd name="T0" fmla="*/ 67 w 21600"/>
              <a:gd name="T1" fmla="*/ 16398 h 16398"/>
              <a:gd name="T2" fmla="*/ 5772 w 21600"/>
              <a:gd name="T3" fmla="*/ 0 h 16398"/>
              <a:gd name="T4" fmla="*/ 21600 w 21600"/>
              <a:gd name="T5" fmla="*/ 14698 h 16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398" fill="none" extrusionOk="0">
                <a:moveTo>
                  <a:pt x="67" y="16397"/>
                </a:moveTo>
                <a:cubicBezTo>
                  <a:pt x="22" y="15832"/>
                  <a:pt x="0" y="15265"/>
                  <a:pt x="0" y="14698"/>
                </a:cubicBezTo>
                <a:cubicBezTo>
                  <a:pt x="-1" y="9245"/>
                  <a:pt x="2061" y="3995"/>
                  <a:pt x="5771" y="-1"/>
                </a:cubicBezTo>
              </a:path>
              <a:path w="21600" h="16398" stroke="0" extrusionOk="0">
                <a:moveTo>
                  <a:pt x="67" y="16397"/>
                </a:moveTo>
                <a:cubicBezTo>
                  <a:pt x="22" y="15832"/>
                  <a:pt x="0" y="15265"/>
                  <a:pt x="0" y="14698"/>
                </a:cubicBezTo>
                <a:cubicBezTo>
                  <a:pt x="-1" y="9245"/>
                  <a:pt x="2061" y="3995"/>
                  <a:pt x="5771" y="-1"/>
                </a:cubicBezTo>
                <a:lnTo>
                  <a:pt x="21600" y="14698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4" name="Line 54"/>
          <p:cNvSpPr>
            <a:spLocks noChangeShapeType="1"/>
          </p:cNvSpPr>
          <p:nvPr/>
        </p:nvSpPr>
        <p:spPr bwMode="auto">
          <a:xfrm>
            <a:off x="6589713" y="4191001"/>
            <a:ext cx="996950" cy="2841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5" name="Arc 55"/>
          <p:cNvSpPr>
            <a:spLocks/>
          </p:cNvSpPr>
          <p:nvPr/>
        </p:nvSpPr>
        <p:spPr bwMode="auto">
          <a:xfrm>
            <a:off x="6613526" y="4776788"/>
            <a:ext cx="131763" cy="87312"/>
          </a:xfrm>
          <a:custGeom>
            <a:avLst/>
            <a:gdLst>
              <a:gd name="G0" fmla="+- 0 0 0"/>
              <a:gd name="G1" fmla="+- 12823 0 0"/>
              <a:gd name="G2" fmla="+- 21600 0 0"/>
              <a:gd name="T0" fmla="*/ 17382 w 21600"/>
              <a:gd name="T1" fmla="*/ 0 h 17114"/>
              <a:gd name="T2" fmla="*/ 21169 w 21600"/>
              <a:gd name="T3" fmla="*/ 17114 h 17114"/>
              <a:gd name="T4" fmla="*/ 0 w 21600"/>
              <a:gd name="T5" fmla="*/ 12823 h 17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114" fill="none" extrusionOk="0">
                <a:moveTo>
                  <a:pt x="17381" y="0"/>
                </a:moveTo>
                <a:cubicBezTo>
                  <a:pt x="20121" y="3713"/>
                  <a:pt x="21600" y="8207"/>
                  <a:pt x="21600" y="12823"/>
                </a:cubicBezTo>
                <a:cubicBezTo>
                  <a:pt x="21600" y="14264"/>
                  <a:pt x="21455" y="15701"/>
                  <a:pt x="21169" y="17114"/>
                </a:cubicBezTo>
              </a:path>
              <a:path w="21600" h="17114" stroke="0" extrusionOk="0">
                <a:moveTo>
                  <a:pt x="17381" y="0"/>
                </a:moveTo>
                <a:cubicBezTo>
                  <a:pt x="20121" y="3713"/>
                  <a:pt x="21600" y="8207"/>
                  <a:pt x="21600" y="12823"/>
                </a:cubicBezTo>
                <a:cubicBezTo>
                  <a:pt x="21600" y="14264"/>
                  <a:pt x="21455" y="15701"/>
                  <a:pt x="21169" y="17114"/>
                </a:cubicBezTo>
                <a:lnTo>
                  <a:pt x="0" y="1282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6" name="Line 56"/>
          <p:cNvSpPr>
            <a:spLocks noChangeShapeType="1"/>
          </p:cNvSpPr>
          <p:nvPr/>
        </p:nvSpPr>
        <p:spPr bwMode="auto">
          <a:xfrm flipH="1">
            <a:off x="6702426" y="4667250"/>
            <a:ext cx="1006475" cy="1524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7" name="Arc 57"/>
          <p:cNvSpPr>
            <a:spLocks/>
          </p:cNvSpPr>
          <p:nvPr/>
        </p:nvSpPr>
        <p:spPr bwMode="auto">
          <a:xfrm>
            <a:off x="7489826" y="5157789"/>
            <a:ext cx="131763" cy="84137"/>
          </a:xfrm>
          <a:custGeom>
            <a:avLst/>
            <a:gdLst>
              <a:gd name="G0" fmla="+- 21600 0 0"/>
              <a:gd name="G1" fmla="+- 14103 0 0"/>
              <a:gd name="G2" fmla="+- 21600 0 0"/>
              <a:gd name="T0" fmla="*/ 150 w 21600"/>
              <a:gd name="T1" fmla="*/ 16643 h 16643"/>
              <a:gd name="T2" fmla="*/ 5240 w 21600"/>
              <a:gd name="T3" fmla="*/ 0 h 16643"/>
              <a:gd name="T4" fmla="*/ 21600 w 21600"/>
              <a:gd name="T5" fmla="*/ 14103 h 16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643" fill="none" extrusionOk="0">
                <a:moveTo>
                  <a:pt x="149" y="16643"/>
                </a:moveTo>
                <a:cubicBezTo>
                  <a:pt x="50" y="15800"/>
                  <a:pt x="0" y="14951"/>
                  <a:pt x="0" y="14103"/>
                </a:cubicBezTo>
                <a:cubicBezTo>
                  <a:pt x="-1" y="8925"/>
                  <a:pt x="1859" y="3921"/>
                  <a:pt x="5239" y="-1"/>
                </a:cubicBezTo>
              </a:path>
              <a:path w="21600" h="16643" stroke="0" extrusionOk="0">
                <a:moveTo>
                  <a:pt x="149" y="16643"/>
                </a:moveTo>
                <a:cubicBezTo>
                  <a:pt x="50" y="15800"/>
                  <a:pt x="0" y="14951"/>
                  <a:pt x="0" y="14103"/>
                </a:cubicBezTo>
                <a:cubicBezTo>
                  <a:pt x="-1" y="8925"/>
                  <a:pt x="1859" y="3921"/>
                  <a:pt x="5239" y="-1"/>
                </a:cubicBezTo>
                <a:lnTo>
                  <a:pt x="21600" y="1410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8" name="Line 58"/>
          <p:cNvSpPr>
            <a:spLocks noChangeShapeType="1"/>
          </p:cNvSpPr>
          <p:nvPr/>
        </p:nvSpPr>
        <p:spPr bwMode="auto">
          <a:xfrm>
            <a:off x="6584951" y="4965700"/>
            <a:ext cx="919163" cy="2349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9" name="Freeform 59"/>
          <p:cNvSpPr>
            <a:spLocks/>
          </p:cNvSpPr>
          <p:nvPr/>
        </p:nvSpPr>
        <p:spPr bwMode="auto">
          <a:xfrm>
            <a:off x="4416426" y="4197351"/>
            <a:ext cx="3198813" cy="1287463"/>
          </a:xfrm>
          <a:custGeom>
            <a:avLst/>
            <a:gdLst/>
            <a:ahLst/>
            <a:cxnLst>
              <a:cxn ang="0">
                <a:pos x="1856" y="904"/>
              </a:cxn>
              <a:cxn ang="0">
                <a:pos x="0" y="904"/>
              </a:cxn>
              <a:cxn ang="0">
                <a:pos x="0" y="0"/>
              </a:cxn>
            </a:cxnLst>
            <a:rect l="0" t="0" r="r" b="b"/>
            <a:pathLst>
              <a:path w="1857" h="905">
                <a:moveTo>
                  <a:pt x="1856" y="904"/>
                </a:moveTo>
                <a:lnTo>
                  <a:pt x="0" y="904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20" name="Arc 60"/>
          <p:cNvSpPr>
            <a:spLocks/>
          </p:cNvSpPr>
          <p:nvPr/>
        </p:nvSpPr>
        <p:spPr bwMode="auto">
          <a:xfrm>
            <a:off x="4610101" y="4148139"/>
            <a:ext cx="130175" cy="857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1" name="Line 61"/>
          <p:cNvSpPr>
            <a:spLocks noChangeShapeType="1"/>
          </p:cNvSpPr>
          <p:nvPr/>
        </p:nvSpPr>
        <p:spPr bwMode="auto">
          <a:xfrm>
            <a:off x="4413251" y="4192588"/>
            <a:ext cx="2143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Arc 4"/>
          <p:cNvSpPr>
            <a:spLocks/>
          </p:cNvSpPr>
          <p:nvPr/>
        </p:nvSpPr>
        <p:spPr bwMode="auto">
          <a:xfrm>
            <a:off x="7429501" y="1125538"/>
            <a:ext cx="201613" cy="133350"/>
          </a:xfrm>
          <a:custGeom>
            <a:avLst/>
            <a:gdLst>
              <a:gd name="G0" fmla="+- 21600 0 0"/>
              <a:gd name="G1" fmla="+- 8910 0 0"/>
              <a:gd name="G2" fmla="+- 21600 0 0"/>
              <a:gd name="T0" fmla="*/ 1854 w 21600"/>
              <a:gd name="T1" fmla="*/ 17665 h 17665"/>
              <a:gd name="T2" fmla="*/ 1923 w 21600"/>
              <a:gd name="T3" fmla="*/ 0 h 17665"/>
              <a:gd name="T4" fmla="*/ 21600 w 21600"/>
              <a:gd name="T5" fmla="*/ 8910 h 17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665" fill="none" extrusionOk="0">
                <a:moveTo>
                  <a:pt x="1853" y="17665"/>
                </a:moveTo>
                <a:cubicBezTo>
                  <a:pt x="631" y="14908"/>
                  <a:pt x="0" y="11925"/>
                  <a:pt x="0" y="8910"/>
                </a:cubicBezTo>
                <a:cubicBezTo>
                  <a:pt x="-1" y="5837"/>
                  <a:pt x="655" y="2799"/>
                  <a:pt x="1923" y="0"/>
                </a:cubicBezTo>
              </a:path>
              <a:path w="21600" h="17665" stroke="0" extrusionOk="0">
                <a:moveTo>
                  <a:pt x="1853" y="17665"/>
                </a:moveTo>
                <a:cubicBezTo>
                  <a:pt x="631" y="14908"/>
                  <a:pt x="0" y="11925"/>
                  <a:pt x="0" y="8910"/>
                </a:cubicBezTo>
                <a:cubicBezTo>
                  <a:pt x="-1" y="5837"/>
                  <a:pt x="655" y="2799"/>
                  <a:pt x="1923" y="0"/>
                </a:cubicBezTo>
                <a:lnTo>
                  <a:pt x="21600" y="891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5116513" y="1210227"/>
            <a:ext cx="2311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Arc 6"/>
          <p:cNvSpPr>
            <a:spLocks/>
          </p:cNvSpPr>
          <p:nvPr/>
        </p:nvSpPr>
        <p:spPr bwMode="auto">
          <a:xfrm>
            <a:off x="5122863" y="1317625"/>
            <a:ext cx="201612" cy="134938"/>
          </a:xfrm>
          <a:custGeom>
            <a:avLst/>
            <a:gdLst>
              <a:gd name="G0" fmla="+- 0 0 0"/>
              <a:gd name="G1" fmla="+- 8980 0 0"/>
              <a:gd name="G2" fmla="+- 21600 0 0"/>
              <a:gd name="T0" fmla="*/ 19645 w 21600"/>
              <a:gd name="T1" fmla="*/ 0 h 17805"/>
              <a:gd name="T2" fmla="*/ 19715 w 21600"/>
              <a:gd name="T3" fmla="*/ 17805 h 17805"/>
              <a:gd name="T4" fmla="*/ 0 w 21600"/>
              <a:gd name="T5" fmla="*/ 8980 h 178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805" fill="none" extrusionOk="0">
                <a:moveTo>
                  <a:pt x="19644" y="0"/>
                </a:moveTo>
                <a:cubicBezTo>
                  <a:pt x="20933" y="2818"/>
                  <a:pt x="21600" y="5881"/>
                  <a:pt x="21600" y="8980"/>
                </a:cubicBezTo>
                <a:cubicBezTo>
                  <a:pt x="21600" y="12021"/>
                  <a:pt x="20957" y="15028"/>
                  <a:pt x="19714" y="17804"/>
                </a:cubicBezTo>
              </a:path>
              <a:path w="21600" h="17805" stroke="0" extrusionOk="0">
                <a:moveTo>
                  <a:pt x="19644" y="0"/>
                </a:moveTo>
                <a:cubicBezTo>
                  <a:pt x="20933" y="2818"/>
                  <a:pt x="21600" y="5881"/>
                  <a:pt x="21600" y="8980"/>
                </a:cubicBezTo>
                <a:cubicBezTo>
                  <a:pt x="21600" y="12021"/>
                  <a:pt x="20957" y="15028"/>
                  <a:pt x="19714" y="17804"/>
                </a:cubicBezTo>
                <a:lnTo>
                  <a:pt x="0" y="898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>
            <a:off x="5256145" y="1392238"/>
            <a:ext cx="23399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Arc 8"/>
          <p:cNvSpPr>
            <a:spLocks/>
          </p:cNvSpPr>
          <p:nvPr/>
        </p:nvSpPr>
        <p:spPr bwMode="auto">
          <a:xfrm>
            <a:off x="7429501" y="930275"/>
            <a:ext cx="201613" cy="134938"/>
          </a:xfrm>
          <a:custGeom>
            <a:avLst/>
            <a:gdLst>
              <a:gd name="G0" fmla="+- 21600 0 0"/>
              <a:gd name="G1" fmla="+- 8910 0 0"/>
              <a:gd name="G2" fmla="+- 21600 0 0"/>
              <a:gd name="T0" fmla="*/ 1854 w 21600"/>
              <a:gd name="T1" fmla="*/ 17665 h 17665"/>
              <a:gd name="T2" fmla="*/ 1923 w 21600"/>
              <a:gd name="T3" fmla="*/ 0 h 17665"/>
              <a:gd name="T4" fmla="*/ 21600 w 21600"/>
              <a:gd name="T5" fmla="*/ 8910 h 17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665" fill="none" extrusionOk="0">
                <a:moveTo>
                  <a:pt x="1853" y="17665"/>
                </a:moveTo>
                <a:cubicBezTo>
                  <a:pt x="631" y="14908"/>
                  <a:pt x="0" y="11925"/>
                  <a:pt x="0" y="8910"/>
                </a:cubicBezTo>
                <a:cubicBezTo>
                  <a:pt x="-1" y="5837"/>
                  <a:pt x="655" y="2799"/>
                  <a:pt x="1923" y="0"/>
                </a:cubicBezTo>
              </a:path>
              <a:path w="21600" h="17665" stroke="0" extrusionOk="0">
                <a:moveTo>
                  <a:pt x="1853" y="17665"/>
                </a:moveTo>
                <a:cubicBezTo>
                  <a:pt x="631" y="14908"/>
                  <a:pt x="0" y="11925"/>
                  <a:pt x="0" y="8910"/>
                </a:cubicBezTo>
                <a:cubicBezTo>
                  <a:pt x="-1" y="5837"/>
                  <a:pt x="655" y="2799"/>
                  <a:pt x="1923" y="0"/>
                </a:cubicBezTo>
                <a:lnTo>
                  <a:pt x="21600" y="891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>
            <a:off x="5116513" y="1004888"/>
            <a:ext cx="2311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4202113" y="958850"/>
            <a:ext cx="900112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4243389" y="1000125"/>
            <a:ext cx="822149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Source</a:t>
            </a:r>
          </a:p>
          <a:p>
            <a:pPr defTabSz="762000" latinLnBrk="1"/>
            <a:endParaRPr lang="en-US" altLang="ko-KR"/>
          </a:p>
        </p:txBody>
      </p:sp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4379913" y="1160464"/>
            <a:ext cx="55624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unit</a:t>
            </a:r>
          </a:p>
        </p:txBody>
      </p:sp>
      <p:sp>
        <p:nvSpPr>
          <p:cNvPr id="15373" name="Rectangle 13"/>
          <p:cNvSpPr>
            <a:spLocks noChangeArrowheads="1"/>
          </p:cNvSpPr>
          <p:nvPr/>
        </p:nvSpPr>
        <p:spPr bwMode="auto">
          <a:xfrm>
            <a:off x="7583489" y="1000125"/>
            <a:ext cx="1261693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Destination</a:t>
            </a:r>
          </a:p>
          <a:p>
            <a:pPr defTabSz="762000" latinLnBrk="1"/>
            <a:endParaRPr lang="en-US" altLang="ko-KR"/>
          </a:p>
        </p:txBody>
      </p:sp>
      <p:sp>
        <p:nvSpPr>
          <p:cNvPr id="15374" name="Rectangle 14"/>
          <p:cNvSpPr>
            <a:spLocks noChangeArrowheads="1"/>
          </p:cNvSpPr>
          <p:nvPr/>
        </p:nvSpPr>
        <p:spPr bwMode="auto">
          <a:xfrm>
            <a:off x="7826375" y="1160464"/>
            <a:ext cx="55624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unit</a:t>
            </a:r>
          </a:p>
        </p:txBody>
      </p: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7635876" y="946150"/>
            <a:ext cx="1209306" cy="5588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Rectangle 16"/>
          <p:cNvSpPr>
            <a:spLocks noChangeArrowheads="1"/>
          </p:cNvSpPr>
          <p:nvPr/>
        </p:nvSpPr>
        <p:spPr bwMode="auto">
          <a:xfrm>
            <a:off x="5876925" y="713687"/>
            <a:ext cx="1004956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Data bus</a:t>
            </a:r>
          </a:p>
        </p:txBody>
      </p:sp>
      <p:sp>
        <p:nvSpPr>
          <p:cNvPr id="15377" name="Rectangle 17"/>
          <p:cNvSpPr>
            <a:spLocks noChangeArrowheads="1"/>
          </p:cNvSpPr>
          <p:nvPr/>
        </p:nvSpPr>
        <p:spPr bwMode="auto">
          <a:xfrm>
            <a:off x="5876926" y="1114289"/>
            <a:ext cx="1525611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Data accepted</a:t>
            </a:r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>
            <a:off x="4229101" y="2178050"/>
            <a:ext cx="12430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5475288" y="1858963"/>
            <a:ext cx="0" cy="3238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Freeform 20"/>
          <p:cNvSpPr>
            <a:spLocks/>
          </p:cNvSpPr>
          <p:nvPr/>
        </p:nvSpPr>
        <p:spPr bwMode="auto">
          <a:xfrm>
            <a:off x="5475288" y="1858964"/>
            <a:ext cx="2673350" cy="3206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36" y="0"/>
              </a:cxn>
              <a:cxn ang="0">
                <a:pos x="1136" y="224"/>
              </a:cxn>
              <a:cxn ang="0">
                <a:pos x="1544" y="224"/>
              </a:cxn>
            </a:cxnLst>
            <a:rect l="0" t="0" r="r" b="b"/>
            <a:pathLst>
              <a:path w="1545" h="225">
                <a:moveTo>
                  <a:pt x="0" y="0"/>
                </a:moveTo>
                <a:lnTo>
                  <a:pt x="1136" y="0"/>
                </a:lnTo>
                <a:lnTo>
                  <a:pt x="1136" y="224"/>
                </a:lnTo>
                <a:lnTo>
                  <a:pt x="1544" y="224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4130675" y="1887954"/>
            <a:ext cx="1004956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Data bus</a:t>
            </a:r>
          </a:p>
        </p:txBody>
      </p:sp>
      <p:sp>
        <p:nvSpPr>
          <p:cNvPr id="15382" name="Line 22"/>
          <p:cNvSpPr>
            <a:spLocks noChangeShapeType="1"/>
          </p:cNvSpPr>
          <p:nvPr/>
        </p:nvSpPr>
        <p:spPr bwMode="auto">
          <a:xfrm>
            <a:off x="4535489" y="2828925"/>
            <a:ext cx="11715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Line 23"/>
          <p:cNvSpPr>
            <a:spLocks noChangeShapeType="1"/>
          </p:cNvSpPr>
          <p:nvPr/>
        </p:nvSpPr>
        <p:spPr bwMode="auto">
          <a:xfrm>
            <a:off x="5710238" y="2509839"/>
            <a:ext cx="0" cy="3333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Freeform 24"/>
          <p:cNvSpPr>
            <a:spLocks/>
          </p:cNvSpPr>
          <p:nvPr/>
        </p:nvSpPr>
        <p:spPr bwMode="auto">
          <a:xfrm>
            <a:off x="5710238" y="2509839"/>
            <a:ext cx="2590800" cy="3206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224"/>
              </a:cxn>
              <a:cxn ang="0">
                <a:pos x="1496" y="224"/>
              </a:cxn>
            </a:cxnLst>
            <a:rect l="0" t="0" r="r" b="b"/>
            <a:pathLst>
              <a:path w="1497" h="225">
                <a:moveTo>
                  <a:pt x="0" y="0"/>
                </a:moveTo>
                <a:lnTo>
                  <a:pt x="1000" y="0"/>
                </a:lnTo>
                <a:lnTo>
                  <a:pt x="1000" y="224"/>
                </a:lnTo>
                <a:lnTo>
                  <a:pt x="1496" y="224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85" name="Rectangle 25"/>
          <p:cNvSpPr>
            <a:spLocks noChangeArrowheads="1"/>
          </p:cNvSpPr>
          <p:nvPr/>
        </p:nvSpPr>
        <p:spPr bwMode="auto">
          <a:xfrm>
            <a:off x="4193209" y="2522402"/>
            <a:ext cx="1110561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Data valid</a:t>
            </a:r>
          </a:p>
        </p:txBody>
      </p:sp>
      <p:sp>
        <p:nvSpPr>
          <p:cNvPr id="15386" name="Rectangle 26"/>
          <p:cNvSpPr>
            <a:spLocks noChangeArrowheads="1"/>
          </p:cNvSpPr>
          <p:nvPr/>
        </p:nvSpPr>
        <p:spPr bwMode="auto">
          <a:xfrm>
            <a:off x="5930900" y="1855789"/>
            <a:ext cx="110754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Valid data</a:t>
            </a:r>
          </a:p>
        </p:txBody>
      </p:sp>
      <p:sp>
        <p:nvSpPr>
          <p:cNvPr id="15387" name="Arc 27"/>
          <p:cNvSpPr>
            <a:spLocks/>
          </p:cNvSpPr>
          <p:nvPr/>
        </p:nvSpPr>
        <p:spPr bwMode="auto">
          <a:xfrm>
            <a:off x="5481638" y="1946276"/>
            <a:ext cx="133350" cy="85725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Line 28"/>
          <p:cNvSpPr>
            <a:spLocks noChangeShapeType="1"/>
          </p:cNvSpPr>
          <p:nvPr/>
        </p:nvSpPr>
        <p:spPr bwMode="auto">
          <a:xfrm>
            <a:off x="5599114" y="1990725"/>
            <a:ext cx="331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9" name="Arc 29"/>
          <p:cNvSpPr>
            <a:spLocks/>
          </p:cNvSpPr>
          <p:nvPr/>
        </p:nvSpPr>
        <p:spPr bwMode="auto">
          <a:xfrm>
            <a:off x="7318376" y="1946276"/>
            <a:ext cx="131763" cy="857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Line 30"/>
          <p:cNvSpPr>
            <a:spLocks noChangeShapeType="1"/>
          </p:cNvSpPr>
          <p:nvPr/>
        </p:nvSpPr>
        <p:spPr bwMode="auto">
          <a:xfrm flipV="1">
            <a:off x="6900863" y="1985963"/>
            <a:ext cx="442912" cy="4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3" name="Rectangle 33"/>
          <p:cNvSpPr>
            <a:spLocks noChangeArrowheads="1"/>
          </p:cNvSpPr>
          <p:nvPr/>
        </p:nvSpPr>
        <p:spPr bwMode="auto">
          <a:xfrm>
            <a:off x="5849962" y="920292"/>
            <a:ext cx="1110561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Data valid</a:t>
            </a:r>
          </a:p>
        </p:txBody>
      </p:sp>
      <p:sp>
        <p:nvSpPr>
          <p:cNvPr id="15394" name="Line 34"/>
          <p:cNvSpPr>
            <a:spLocks noChangeShapeType="1"/>
          </p:cNvSpPr>
          <p:nvPr/>
        </p:nvSpPr>
        <p:spPr bwMode="auto">
          <a:xfrm>
            <a:off x="4699001" y="3478213"/>
            <a:ext cx="18065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5" name="Line 35"/>
          <p:cNvSpPr>
            <a:spLocks noChangeShapeType="1"/>
          </p:cNvSpPr>
          <p:nvPr/>
        </p:nvSpPr>
        <p:spPr bwMode="auto">
          <a:xfrm>
            <a:off x="6499225" y="3148014"/>
            <a:ext cx="0" cy="3190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6" name="Freeform 36"/>
          <p:cNvSpPr>
            <a:spLocks/>
          </p:cNvSpPr>
          <p:nvPr/>
        </p:nvSpPr>
        <p:spPr bwMode="auto">
          <a:xfrm>
            <a:off x="6513513" y="3148013"/>
            <a:ext cx="2189162" cy="33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0" y="0"/>
              </a:cxn>
              <a:cxn ang="0">
                <a:pos x="720" y="232"/>
              </a:cxn>
              <a:cxn ang="0">
                <a:pos x="1264" y="232"/>
              </a:cxn>
            </a:cxnLst>
            <a:rect l="0" t="0" r="r" b="b"/>
            <a:pathLst>
              <a:path w="1265" h="233">
                <a:moveTo>
                  <a:pt x="0" y="0"/>
                </a:moveTo>
                <a:lnTo>
                  <a:pt x="720" y="0"/>
                </a:lnTo>
                <a:lnTo>
                  <a:pt x="720" y="232"/>
                </a:lnTo>
                <a:lnTo>
                  <a:pt x="1264" y="232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97" name="Rectangle 37"/>
          <p:cNvSpPr>
            <a:spLocks noChangeArrowheads="1"/>
          </p:cNvSpPr>
          <p:nvPr/>
        </p:nvSpPr>
        <p:spPr bwMode="auto">
          <a:xfrm>
            <a:off x="4319794" y="3156298"/>
            <a:ext cx="1525611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Data accepted</a:t>
            </a:r>
          </a:p>
        </p:txBody>
      </p:sp>
      <p:sp>
        <p:nvSpPr>
          <p:cNvPr id="15423" name="Arc 63"/>
          <p:cNvSpPr>
            <a:spLocks/>
          </p:cNvSpPr>
          <p:nvPr/>
        </p:nvSpPr>
        <p:spPr bwMode="auto">
          <a:xfrm>
            <a:off x="5186363" y="2041526"/>
            <a:ext cx="296862" cy="25082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474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719"/>
                  <a:pt x="9594" y="69"/>
                  <a:pt x="21474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719"/>
                  <a:pt x="9594" y="69"/>
                  <a:pt x="21474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4" name="Arc 64"/>
          <p:cNvSpPr>
            <a:spLocks/>
          </p:cNvSpPr>
          <p:nvPr/>
        </p:nvSpPr>
        <p:spPr bwMode="auto">
          <a:xfrm>
            <a:off x="5187951" y="2292350"/>
            <a:ext cx="531813" cy="374650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0759 w 21600"/>
              <a:gd name="T1" fmla="*/ 21584 h 21584"/>
              <a:gd name="T2" fmla="*/ 0 w 21600"/>
              <a:gd name="T3" fmla="*/ 0 h 21584"/>
              <a:gd name="T4" fmla="*/ 21600 w 21600"/>
              <a:gd name="T5" fmla="*/ 0 h 21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584" fill="none" extrusionOk="0">
                <a:moveTo>
                  <a:pt x="20759" y="21583"/>
                </a:moveTo>
                <a:cubicBezTo>
                  <a:pt x="9165" y="21131"/>
                  <a:pt x="0" y="11602"/>
                  <a:pt x="0" y="0"/>
                </a:cubicBezTo>
              </a:path>
              <a:path w="21600" h="21584" stroke="0" extrusionOk="0">
                <a:moveTo>
                  <a:pt x="20759" y="21583"/>
                </a:moveTo>
                <a:cubicBezTo>
                  <a:pt x="9165" y="21131"/>
                  <a:pt x="0" y="11602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7" name="Arc 67"/>
          <p:cNvSpPr>
            <a:spLocks/>
          </p:cNvSpPr>
          <p:nvPr/>
        </p:nvSpPr>
        <p:spPr bwMode="auto">
          <a:xfrm>
            <a:off x="5718175" y="2693989"/>
            <a:ext cx="179388" cy="371475"/>
          </a:xfrm>
          <a:custGeom>
            <a:avLst/>
            <a:gdLst>
              <a:gd name="G0" fmla="+- 257 0 0"/>
              <a:gd name="G1" fmla="+- 21600 0 0"/>
              <a:gd name="G2" fmla="+- 21600 0 0"/>
              <a:gd name="T0" fmla="*/ 0 w 21849"/>
              <a:gd name="T1" fmla="*/ 2 h 21600"/>
              <a:gd name="T2" fmla="*/ 21849 w 21849"/>
              <a:gd name="T3" fmla="*/ 20994 h 21600"/>
              <a:gd name="T4" fmla="*/ 257 w 2184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849" h="21600" fill="none" extrusionOk="0">
                <a:moveTo>
                  <a:pt x="-1" y="1"/>
                </a:moveTo>
                <a:cubicBezTo>
                  <a:pt x="85" y="0"/>
                  <a:pt x="171" y="-1"/>
                  <a:pt x="257" y="0"/>
                </a:cubicBezTo>
                <a:cubicBezTo>
                  <a:pt x="11950" y="0"/>
                  <a:pt x="21520" y="9305"/>
                  <a:pt x="21848" y="20994"/>
                </a:cubicBezTo>
              </a:path>
              <a:path w="21849" h="21600" stroke="0" extrusionOk="0">
                <a:moveTo>
                  <a:pt x="-1" y="1"/>
                </a:moveTo>
                <a:cubicBezTo>
                  <a:pt x="85" y="0"/>
                  <a:pt x="171" y="-1"/>
                  <a:pt x="257" y="0"/>
                </a:cubicBezTo>
                <a:cubicBezTo>
                  <a:pt x="11950" y="0"/>
                  <a:pt x="21520" y="9305"/>
                  <a:pt x="21848" y="20994"/>
                </a:cubicBezTo>
                <a:lnTo>
                  <a:pt x="257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8" name="Arc 68"/>
          <p:cNvSpPr>
            <a:spLocks/>
          </p:cNvSpPr>
          <p:nvPr/>
        </p:nvSpPr>
        <p:spPr bwMode="auto">
          <a:xfrm>
            <a:off x="5899151" y="3065463"/>
            <a:ext cx="606425" cy="266700"/>
          </a:xfrm>
          <a:custGeom>
            <a:avLst/>
            <a:gdLst>
              <a:gd name="G0" fmla="+- 21600 0 0"/>
              <a:gd name="G1" fmla="+- 307 0 0"/>
              <a:gd name="G2" fmla="+- 21600 0 0"/>
              <a:gd name="T0" fmla="*/ 21600 w 21600"/>
              <a:gd name="T1" fmla="*/ 21907 h 21907"/>
              <a:gd name="T2" fmla="*/ 2 w 21600"/>
              <a:gd name="T3" fmla="*/ 0 h 21907"/>
              <a:gd name="T4" fmla="*/ 21600 w 21600"/>
              <a:gd name="T5" fmla="*/ 307 h 21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907" fill="none" extrusionOk="0">
                <a:moveTo>
                  <a:pt x="21600" y="21907"/>
                </a:moveTo>
                <a:cubicBezTo>
                  <a:pt x="9670" y="21907"/>
                  <a:pt x="0" y="12236"/>
                  <a:pt x="0" y="307"/>
                </a:cubicBezTo>
                <a:cubicBezTo>
                  <a:pt x="-1" y="204"/>
                  <a:pt x="0" y="102"/>
                  <a:pt x="2" y="0"/>
                </a:cubicBezTo>
              </a:path>
              <a:path w="21600" h="21907" stroke="0" extrusionOk="0">
                <a:moveTo>
                  <a:pt x="21600" y="21907"/>
                </a:moveTo>
                <a:cubicBezTo>
                  <a:pt x="9670" y="21907"/>
                  <a:pt x="0" y="12236"/>
                  <a:pt x="0" y="307"/>
                </a:cubicBezTo>
                <a:cubicBezTo>
                  <a:pt x="-1" y="204"/>
                  <a:pt x="0" y="102"/>
                  <a:pt x="2" y="0"/>
                </a:cubicBezTo>
                <a:lnTo>
                  <a:pt x="21600" y="307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9" name="Arc 69"/>
          <p:cNvSpPr>
            <a:spLocks/>
          </p:cNvSpPr>
          <p:nvPr/>
        </p:nvSpPr>
        <p:spPr bwMode="auto">
          <a:xfrm>
            <a:off x="6386513" y="3286126"/>
            <a:ext cx="131762" cy="857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1" name="Arc 71"/>
          <p:cNvSpPr>
            <a:spLocks/>
          </p:cNvSpPr>
          <p:nvPr/>
        </p:nvSpPr>
        <p:spPr bwMode="auto">
          <a:xfrm>
            <a:off x="6499225" y="2941639"/>
            <a:ext cx="331788" cy="388937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2" name="Arc 72"/>
          <p:cNvSpPr>
            <a:spLocks/>
          </p:cNvSpPr>
          <p:nvPr/>
        </p:nvSpPr>
        <p:spPr bwMode="auto">
          <a:xfrm>
            <a:off x="6834188" y="2692401"/>
            <a:ext cx="601662" cy="24447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38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4"/>
                  <a:pt x="9632" y="34"/>
                  <a:pt x="21538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4"/>
                  <a:pt x="9632" y="34"/>
                  <a:pt x="21538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5" name="Arc 75"/>
          <p:cNvSpPr>
            <a:spLocks/>
          </p:cNvSpPr>
          <p:nvPr/>
        </p:nvSpPr>
        <p:spPr bwMode="auto">
          <a:xfrm>
            <a:off x="7440614" y="2700338"/>
            <a:ext cx="147637" cy="355600"/>
          </a:xfrm>
          <a:custGeom>
            <a:avLst/>
            <a:gdLst>
              <a:gd name="G0" fmla="+- 300 0 0"/>
              <a:gd name="G1" fmla="+- 21600 0 0"/>
              <a:gd name="G2" fmla="+- 21600 0 0"/>
              <a:gd name="T0" fmla="*/ 0 w 21900"/>
              <a:gd name="T1" fmla="*/ 2 h 21600"/>
              <a:gd name="T2" fmla="*/ 21900 w 21900"/>
              <a:gd name="T3" fmla="*/ 21600 h 21600"/>
              <a:gd name="T4" fmla="*/ 300 w 219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900" h="21600" fill="none" extrusionOk="0">
                <a:moveTo>
                  <a:pt x="0" y="2"/>
                </a:moveTo>
                <a:cubicBezTo>
                  <a:pt x="99" y="0"/>
                  <a:pt x="199" y="-1"/>
                  <a:pt x="300" y="0"/>
                </a:cubicBezTo>
                <a:cubicBezTo>
                  <a:pt x="12229" y="0"/>
                  <a:pt x="21900" y="9670"/>
                  <a:pt x="21900" y="21600"/>
                </a:cubicBezTo>
              </a:path>
              <a:path w="21900" h="21600" stroke="0" extrusionOk="0">
                <a:moveTo>
                  <a:pt x="0" y="2"/>
                </a:moveTo>
                <a:cubicBezTo>
                  <a:pt x="99" y="0"/>
                  <a:pt x="199" y="-1"/>
                  <a:pt x="300" y="0"/>
                </a:cubicBezTo>
                <a:cubicBezTo>
                  <a:pt x="12229" y="0"/>
                  <a:pt x="21900" y="9670"/>
                  <a:pt x="21900" y="21600"/>
                </a:cubicBezTo>
                <a:lnTo>
                  <a:pt x="300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6" name="Arc 76"/>
          <p:cNvSpPr>
            <a:spLocks/>
          </p:cNvSpPr>
          <p:nvPr/>
        </p:nvSpPr>
        <p:spPr bwMode="auto">
          <a:xfrm>
            <a:off x="7596188" y="3035301"/>
            <a:ext cx="150812" cy="295275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7" name="Arc 77"/>
          <p:cNvSpPr>
            <a:spLocks/>
          </p:cNvSpPr>
          <p:nvPr/>
        </p:nvSpPr>
        <p:spPr bwMode="auto">
          <a:xfrm>
            <a:off x="7658100" y="3297238"/>
            <a:ext cx="109538" cy="106362"/>
          </a:xfrm>
          <a:custGeom>
            <a:avLst/>
            <a:gdLst>
              <a:gd name="G0" fmla="+- 18269 0 0"/>
              <a:gd name="G1" fmla="+- 21233 0 0"/>
              <a:gd name="G2" fmla="+- 21600 0 0"/>
              <a:gd name="T0" fmla="*/ 0 w 18269"/>
              <a:gd name="T1" fmla="*/ 9709 h 21233"/>
              <a:gd name="T2" fmla="*/ 14305 w 18269"/>
              <a:gd name="T3" fmla="*/ 0 h 21233"/>
              <a:gd name="T4" fmla="*/ 18269 w 18269"/>
              <a:gd name="T5" fmla="*/ 21233 h 21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269" h="21233" fill="none" extrusionOk="0">
                <a:moveTo>
                  <a:pt x="-1" y="9708"/>
                </a:moveTo>
                <a:cubicBezTo>
                  <a:pt x="3208" y="4622"/>
                  <a:pt x="8392" y="1103"/>
                  <a:pt x="14304" y="-1"/>
                </a:cubicBezTo>
              </a:path>
              <a:path w="18269" h="21233" stroke="0" extrusionOk="0">
                <a:moveTo>
                  <a:pt x="-1" y="9708"/>
                </a:moveTo>
                <a:cubicBezTo>
                  <a:pt x="3208" y="4622"/>
                  <a:pt x="8392" y="1103"/>
                  <a:pt x="14304" y="-1"/>
                </a:cubicBezTo>
                <a:lnTo>
                  <a:pt x="18269" y="2123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8" name="Line 78"/>
          <p:cNvSpPr>
            <a:spLocks noChangeShapeType="1"/>
          </p:cNvSpPr>
          <p:nvPr/>
        </p:nvSpPr>
        <p:spPr bwMode="auto">
          <a:xfrm>
            <a:off x="7635876" y="3251201"/>
            <a:ext cx="68263" cy="793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9" name="Rectangle 79"/>
          <p:cNvSpPr>
            <a:spLocks noChangeArrowheads="1"/>
          </p:cNvSpPr>
          <p:nvPr/>
        </p:nvSpPr>
        <p:spPr bwMode="auto">
          <a:xfrm>
            <a:off x="8312343" y="0"/>
            <a:ext cx="2225482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/>
            <a:r>
              <a:rPr lang="en-US" altLang="ko-KR" sz="1400" i="1"/>
              <a:t>Asynchronous Data Transfer</a:t>
            </a:r>
          </a:p>
        </p:txBody>
      </p:sp>
      <p:sp>
        <p:nvSpPr>
          <p:cNvPr id="15443" name="Rectangle 83"/>
          <p:cNvSpPr>
            <a:spLocks noChangeArrowheads="1"/>
          </p:cNvSpPr>
          <p:nvPr/>
        </p:nvSpPr>
        <p:spPr bwMode="auto">
          <a:xfrm>
            <a:off x="4208464" y="3681414"/>
            <a:ext cx="2555875" cy="2016125"/>
          </a:xfrm>
          <a:prstGeom prst="rect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44" name="Rectangle 84"/>
          <p:cNvSpPr>
            <a:spLocks noChangeArrowheads="1"/>
          </p:cNvSpPr>
          <p:nvPr/>
        </p:nvSpPr>
        <p:spPr bwMode="auto">
          <a:xfrm>
            <a:off x="7104064" y="3713164"/>
            <a:ext cx="2909477" cy="2139948"/>
          </a:xfrm>
          <a:prstGeom prst="rect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01800" y="266701"/>
            <a:ext cx="8966200" cy="481013"/>
          </a:xfrm>
          <a:noFill/>
          <a:ln w="12700">
            <a:miter lim="800000"/>
            <a:headEnd/>
            <a:tailEnd/>
          </a:ln>
        </p:spPr>
        <p:txBody>
          <a:bodyPr vert="horz" wrap="square" lIns="63500" tIns="25400" rIns="63500" bIns="2540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sz="2400"/>
              <a:t>DESTINATION-INITIATED  TRANSFER  USING  HANDSHAKE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830388" y="5675314"/>
            <a:ext cx="8012514" cy="11259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97000"/>
              </a:lnSpc>
            </a:pPr>
            <a:r>
              <a:rPr lang="en-US" altLang="ko-KR"/>
              <a:t>* Handshaking provides a high degree of flexibility and reliability because the </a:t>
            </a:r>
          </a:p>
          <a:p>
            <a:pPr defTabSz="762000">
              <a:lnSpc>
                <a:spcPct val="97000"/>
              </a:lnSpc>
            </a:pPr>
            <a:r>
              <a:rPr lang="en-US" altLang="ko-KR"/>
              <a:t>   successful completion of a data transfer relies on active participation by both units</a:t>
            </a:r>
          </a:p>
          <a:p>
            <a:pPr defTabSz="762000">
              <a:lnSpc>
                <a:spcPct val="97000"/>
              </a:lnSpc>
            </a:pPr>
            <a:r>
              <a:rPr lang="en-US" altLang="ko-KR"/>
              <a:t>* If one unit is faulty, data transfer will not be completed </a:t>
            </a:r>
          </a:p>
          <a:p>
            <a:pPr defTabSz="762000">
              <a:lnSpc>
                <a:spcPct val="97000"/>
              </a:lnSpc>
            </a:pPr>
            <a:r>
              <a:rPr lang="en-US" altLang="ko-KR"/>
              <a:t>   -&gt; Can be detected by means of a </a:t>
            </a:r>
            <a:r>
              <a:rPr lang="en-US" altLang="ko-KR" i="1"/>
              <a:t>timeout</a:t>
            </a:r>
            <a:r>
              <a:rPr lang="en-US" altLang="ko-KR"/>
              <a:t>  mechanism</a:t>
            </a:r>
          </a:p>
        </p:txBody>
      </p:sp>
      <p:sp>
        <p:nvSpPr>
          <p:cNvPr id="16410" name="Rectangle 26"/>
          <p:cNvSpPr>
            <a:spLocks noChangeArrowheads="1"/>
          </p:cNvSpPr>
          <p:nvPr/>
        </p:nvSpPr>
        <p:spPr bwMode="auto">
          <a:xfrm>
            <a:off x="1695450" y="1001714"/>
            <a:ext cx="152291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Block Diagram</a:t>
            </a:r>
          </a:p>
        </p:txBody>
      </p:sp>
      <p:sp>
        <p:nvSpPr>
          <p:cNvPr id="16411" name="Rectangle 27"/>
          <p:cNvSpPr>
            <a:spLocks noChangeArrowheads="1"/>
          </p:cNvSpPr>
          <p:nvPr/>
        </p:nvSpPr>
        <p:spPr bwMode="auto">
          <a:xfrm>
            <a:off x="1692276" y="1958976"/>
            <a:ext cx="1654365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Timing Diagram</a:t>
            </a:r>
          </a:p>
        </p:txBody>
      </p:sp>
      <p:sp>
        <p:nvSpPr>
          <p:cNvPr id="16388" name="Arc 4"/>
          <p:cNvSpPr>
            <a:spLocks/>
          </p:cNvSpPr>
          <p:nvPr/>
        </p:nvSpPr>
        <p:spPr bwMode="auto">
          <a:xfrm>
            <a:off x="7673975" y="1181101"/>
            <a:ext cx="217488" cy="144463"/>
          </a:xfrm>
          <a:custGeom>
            <a:avLst/>
            <a:gdLst>
              <a:gd name="G0" fmla="+- 21600 0 0"/>
              <a:gd name="G1" fmla="+- 8910 0 0"/>
              <a:gd name="G2" fmla="+- 21600 0 0"/>
              <a:gd name="T0" fmla="*/ 1854 w 21600"/>
              <a:gd name="T1" fmla="*/ 17665 h 17665"/>
              <a:gd name="T2" fmla="*/ 1923 w 21600"/>
              <a:gd name="T3" fmla="*/ 0 h 17665"/>
              <a:gd name="T4" fmla="*/ 21600 w 21600"/>
              <a:gd name="T5" fmla="*/ 8910 h 17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665" fill="none" extrusionOk="0">
                <a:moveTo>
                  <a:pt x="1853" y="17665"/>
                </a:moveTo>
                <a:cubicBezTo>
                  <a:pt x="631" y="14908"/>
                  <a:pt x="0" y="11925"/>
                  <a:pt x="0" y="8910"/>
                </a:cubicBezTo>
                <a:cubicBezTo>
                  <a:pt x="-1" y="5837"/>
                  <a:pt x="655" y="2799"/>
                  <a:pt x="1923" y="0"/>
                </a:cubicBezTo>
              </a:path>
              <a:path w="21600" h="17665" stroke="0" extrusionOk="0">
                <a:moveTo>
                  <a:pt x="1853" y="17665"/>
                </a:moveTo>
                <a:cubicBezTo>
                  <a:pt x="631" y="14908"/>
                  <a:pt x="0" y="11925"/>
                  <a:pt x="0" y="8910"/>
                </a:cubicBezTo>
                <a:cubicBezTo>
                  <a:pt x="-1" y="5837"/>
                  <a:pt x="655" y="2799"/>
                  <a:pt x="1923" y="0"/>
                </a:cubicBezTo>
                <a:lnTo>
                  <a:pt x="21600" y="891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5178425" y="1257300"/>
            <a:ext cx="25796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Arc 6"/>
          <p:cNvSpPr>
            <a:spLocks/>
          </p:cNvSpPr>
          <p:nvPr/>
        </p:nvSpPr>
        <p:spPr bwMode="auto">
          <a:xfrm>
            <a:off x="5186363" y="1397001"/>
            <a:ext cx="215900" cy="144463"/>
          </a:xfrm>
          <a:custGeom>
            <a:avLst/>
            <a:gdLst>
              <a:gd name="G0" fmla="+- 0 0 0"/>
              <a:gd name="G1" fmla="+- 8980 0 0"/>
              <a:gd name="G2" fmla="+- 21600 0 0"/>
              <a:gd name="T0" fmla="*/ 19645 w 21600"/>
              <a:gd name="T1" fmla="*/ 0 h 17805"/>
              <a:gd name="T2" fmla="*/ 19715 w 21600"/>
              <a:gd name="T3" fmla="*/ 17805 h 17805"/>
              <a:gd name="T4" fmla="*/ 0 w 21600"/>
              <a:gd name="T5" fmla="*/ 8980 h 178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805" fill="none" extrusionOk="0">
                <a:moveTo>
                  <a:pt x="19644" y="0"/>
                </a:moveTo>
                <a:cubicBezTo>
                  <a:pt x="20933" y="2818"/>
                  <a:pt x="21600" y="5881"/>
                  <a:pt x="21600" y="8980"/>
                </a:cubicBezTo>
                <a:cubicBezTo>
                  <a:pt x="21600" y="12021"/>
                  <a:pt x="20957" y="15028"/>
                  <a:pt x="19714" y="17804"/>
                </a:cubicBezTo>
              </a:path>
              <a:path w="21600" h="17805" stroke="0" extrusionOk="0">
                <a:moveTo>
                  <a:pt x="19644" y="0"/>
                </a:moveTo>
                <a:cubicBezTo>
                  <a:pt x="20933" y="2818"/>
                  <a:pt x="21600" y="5881"/>
                  <a:pt x="21600" y="8980"/>
                </a:cubicBezTo>
                <a:cubicBezTo>
                  <a:pt x="21600" y="12021"/>
                  <a:pt x="20957" y="15028"/>
                  <a:pt x="19714" y="17804"/>
                </a:cubicBezTo>
                <a:lnTo>
                  <a:pt x="0" y="898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5372100" y="1465263"/>
            <a:ext cx="249555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Arc 8"/>
          <p:cNvSpPr>
            <a:spLocks/>
          </p:cNvSpPr>
          <p:nvPr/>
        </p:nvSpPr>
        <p:spPr bwMode="auto">
          <a:xfrm>
            <a:off x="7673975" y="976313"/>
            <a:ext cx="217488" cy="144462"/>
          </a:xfrm>
          <a:custGeom>
            <a:avLst/>
            <a:gdLst>
              <a:gd name="G0" fmla="+- 21600 0 0"/>
              <a:gd name="G1" fmla="+- 8910 0 0"/>
              <a:gd name="G2" fmla="+- 21600 0 0"/>
              <a:gd name="T0" fmla="*/ 1854 w 21600"/>
              <a:gd name="T1" fmla="*/ 17665 h 17665"/>
              <a:gd name="T2" fmla="*/ 1923 w 21600"/>
              <a:gd name="T3" fmla="*/ 0 h 17665"/>
              <a:gd name="T4" fmla="*/ 21600 w 21600"/>
              <a:gd name="T5" fmla="*/ 8910 h 17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665" fill="none" extrusionOk="0">
                <a:moveTo>
                  <a:pt x="1853" y="17665"/>
                </a:moveTo>
                <a:cubicBezTo>
                  <a:pt x="631" y="14908"/>
                  <a:pt x="0" y="11925"/>
                  <a:pt x="0" y="8910"/>
                </a:cubicBezTo>
                <a:cubicBezTo>
                  <a:pt x="-1" y="5837"/>
                  <a:pt x="655" y="2799"/>
                  <a:pt x="1923" y="0"/>
                </a:cubicBezTo>
              </a:path>
              <a:path w="21600" h="17665" stroke="0" extrusionOk="0">
                <a:moveTo>
                  <a:pt x="1853" y="17665"/>
                </a:moveTo>
                <a:cubicBezTo>
                  <a:pt x="631" y="14908"/>
                  <a:pt x="0" y="11925"/>
                  <a:pt x="0" y="8910"/>
                </a:cubicBezTo>
                <a:cubicBezTo>
                  <a:pt x="-1" y="5837"/>
                  <a:pt x="655" y="2799"/>
                  <a:pt x="1923" y="0"/>
                </a:cubicBezTo>
                <a:lnTo>
                  <a:pt x="21600" y="891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5178425" y="1052513"/>
            <a:ext cx="25225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4192588" y="1004889"/>
            <a:ext cx="971550" cy="5810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4235451" y="1049338"/>
            <a:ext cx="822149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Source</a:t>
            </a:r>
          </a:p>
          <a:p>
            <a:pPr defTabSz="762000" latinLnBrk="1"/>
            <a:endParaRPr lang="en-US" altLang="ko-KR"/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4384675" y="1219201"/>
            <a:ext cx="55624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unit</a:t>
            </a:r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7910514" y="1049338"/>
            <a:ext cx="1261693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Destination</a:t>
            </a:r>
          </a:p>
          <a:p>
            <a:pPr defTabSz="762000" latinLnBrk="1"/>
            <a:endParaRPr lang="en-US" altLang="ko-KR"/>
          </a:p>
        </p:txBody>
      </p:sp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8151813" y="1219201"/>
            <a:ext cx="55624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unit</a:t>
            </a:r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7896226" y="993776"/>
            <a:ext cx="1195966" cy="5826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Rectangle 16"/>
          <p:cNvSpPr>
            <a:spLocks noChangeArrowheads="1"/>
          </p:cNvSpPr>
          <p:nvPr/>
        </p:nvSpPr>
        <p:spPr bwMode="auto">
          <a:xfrm>
            <a:off x="5864158" y="753242"/>
            <a:ext cx="1004956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Data bus</a:t>
            </a:r>
          </a:p>
        </p:txBody>
      </p:sp>
      <p:sp>
        <p:nvSpPr>
          <p:cNvPr id="16401" name="Rectangle 17"/>
          <p:cNvSpPr>
            <a:spLocks noChangeArrowheads="1"/>
          </p:cNvSpPr>
          <p:nvPr/>
        </p:nvSpPr>
        <p:spPr bwMode="auto">
          <a:xfrm>
            <a:off x="5750218" y="1189804"/>
            <a:ext cx="1544270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Ready for data</a:t>
            </a:r>
          </a:p>
        </p:txBody>
      </p:sp>
      <p:sp>
        <p:nvSpPr>
          <p:cNvPr id="16412" name="Rectangle 28"/>
          <p:cNvSpPr>
            <a:spLocks noChangeArrowheads="1"/>
          </p:cNvSpPr>
          <p:nvPr/>
        </p:nvSpPr>
        <p:spPr bwMode="auto">
          <a:xfrm>
            <a:off x="5841062" y="995337"/>
            <a:ext cx="1110561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Data valid</a:t>
            </a:r>
          </a:p>
        </p:txBody>
      </p:sp>
      <p:sp>
        <p:nvSpPr>
          <p:cNvPr id="16432" name="Rectangle 48"/>
          <p:cNvSpPr>
            <a:spLocks noChangeArrowheads="1"/>
          </p:cNvSpPr>
          <p:nvPr/>
        </p:nvSpPr>
        <p:spPr bwMode="auto">
          <a:xfrm>
            <a:off x="1697038" y="3624264"/>
            <a:ext cx="2006832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Sequence of Events</a:t>
            </a:r>
          </a:p>
        </p:txBody>
      </p:sp>
      <p:sp>
        <p:nvSpPr>
          <p:cNvPr id="16417" name="Rectangle 33"/>
          <p:cNvSpPr>
            <a:spLocks noChangeArrowheads="1"/>
          </p:cNvSpPr>
          <p:nvPr/>
        </p:nvSpPr>
        <p:spPr bwMode="auto">
          <a:xfrm>
            <a:off x="4173538" y="4222750"/>
            <a:ext cx="1886608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Place data on bus.</a:t>
            </a:r>
          </a:p>
          <a:p>
            <a:pPr defTabSz="762000"/>
            <a:endParaRPr lang="en-US" altLang="ko-KR"/>
          </a:p>
        </p:txBody>
      </p:sp>
      <p:sp>
        <p:nvSpPr>
          <p:cNvPr id="16418" name="Rectangle 34"/>
          <p:cNvSpPr>
            <a:spLocks noChangeArrowheads="1"/>
          </p:cNvSpPr>
          <p:nvPr/>
        </p:nvSpPr>
        <p:spPr bwMode="auto">
          <a:xfrm>
            <a:off x="4173539" y="4387851"/>
            <a:ext cx="1835119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Enable data valid.</a:t>
            </a:r>
          </a:p>
        </p:txBody>
      </p:sp>
      <p:sp>
        <p:nvSpPr>
          <p:cNvPr id="16419" name="Rectangle 35"/>
          <p:cNvSpPr>
            <a:spLocks noChangeArrowheads="1"/>
          </p:cNvSpPr>
          <p:nvPr/>
        </p:nvSpPr>
        <p:spPr bwMode="auto">
          <a:xfrm>
            <a:off x="4056061" y="4237038"/>
            <a:ext cx="2003425" cy="457199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20" name="Rectangle 36"/>
          <p:cNvSpPr>
            <a:spLocks noChangeArrowheads="1"/>
          </p:cNvSpPr>
          <p:nvPr/>
        </p:nvSpPr>
        <p:spPr bwMode="auto">
          <a:xfrm>
            <a:off x="4264025" y="3759201"/>
            <a:ext cx="124854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Source unit</a:t>
            </a:r>
          </a:p>
        </p:txBody>
      </p:sp>
      <p:sp>
        <p:nvSpPr>
          <p:cNvPr id="16421" name="Rectangle 37"/>
          <p:cNvSpPr>
            <a:spLocks noChangeArrowheads="1"/>
          </p:cNvSpPr>
          <p:nvPr/>
        </p:nvSpPr>
        <p:spPr bwMode="auto">
          <a:xfrm>
            <a:off x="7404100" y="3746501"/>
            <a:ext cx="1688092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Destination unit</a:t>
            </a:r>
          </a:p>
        </p:txBody>
      </p:sp>
      <p:sp>
        <p:nvSpPr>
          <p:cNvPr id="16422" name="Rectangle 38"/>
          <p:cNvSpPr>
            <a:spLocks noChangeArrowheads="1"/>
          </p:cNvSpPr>
          <p:nvPr/>
        </p:nvSpPr>
        <p:spPr bwMode="auto">
          <a:xfrm>
            <a:off x="7167908" y="4034668"/>
            <a:ext cx="2203105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Ready to accept data.</a:t>
            </a:r>
          </a:p>
          <a:p>
            <a:pPr defTabSz="762000"/>
            <a:endParaRPr lang="en-US" altLang="ko-KR" dirty="0"/>
          </a:p>
        </p:txBody>
      </p:sp>
      <p:sp>
        <p:nvSpPr>
          <p:cNvPr id="16423" name="Rectangle 39"/>
          <p:cNvSpPr>
            <a:spLocks noChangeArrowheads="1"/>
          </p:cNvSpPr>
          <p:nvPr/>
        </p:nvSpPr>
        <p:spPr bwMode="auto">
          <a:xfrm>
            <a:off x="7218363" y="4239858"/>
            <a:ext cx="2245809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Enable ready for data.</a:t>
            </a:r>
          </a:p>
        </p:txBody>
      </p:sp>
      <p:sp>
        <p:nvSpPr>
          <p:cNvPr id="16424" name="Rectangle 40"/>
          <p:cNvSpPr>
            <a:spLocks noChangeArrowheads="1"/>
          </p:cNvSpPr>
          <p:nvPr/>
        </p:nvSpPr>
        <p:spPr bwMode="auto">
          <a:xfrm>
            <a:off x="7225642" y="4035426"/>
            <a:ext cx="2092984" cy="549274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25" name="Rectangle 41"/>
          <p:cNvSpPr>
            <a:spLocks noChangeArrowheads="1"/>
          </p:cNvSpPr>
          <p:nvPr/>
        </p:nvSpPr>
        <p:spPr bwMode="auto">
          <a:xfrm>
            <a:off x="3955010" y="4916923"/>
            <a:ext cx="1886415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Disable data valid.</a:t>
            </a:r>
          </a:p>
          <a:p>
            <a:pPr defTabSz="762000"/>
            <a:endParaRPr lang="en-US" altLang="ko-KR" dirty="0"/>
          </a:p>
        </p:txBody>
      </p:sp>
      <p:sp>
        <p:nvSpPr>
          <p:cNvPr id="16426" name="Rectangle 42"/>
          <p:cNvSpPr>
            <a:spLocks noChangeArrowheads="1"/>
          </p:cNvSpPr>
          <p:nvPr/>
        </p:nvSpPr>
        <p:spPr bwMode="auto">
          <a:xfrm>
            <a:off x="3782981" y="5117917"/>
            <a:ext cx="2391103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Invalidate data on bus</a:t>
            </a:r>
          </a:p>
          <a:p>
            <a:pPr defTabSz="762000"/>
            <a:endParaRPr lang="en-US" altLang="ko-KR" dirty="0"/>
          </a:p>
        </p:txBody>
      </p:sp>
      <p:sp>
        <p:nvSpPr>
          <p:cNvPr id="16427" name="Rectangle 43"/>
          <p:cNvSpPr>
            <a:spLocks noChangeArrowheads="1"/>
          </p:cNvSpPr>
          <p:nvPr/>
        </p:nvSpPr>
        <p:spPr bwMode="auto">
          <a:xfrm>
            <a:off x="4149656" y="5276794"/>
            <a:ext cx="141506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(initial state).</a:t>
            </a:r>
          </a:p>
        </p:txBody>
      </p:sp>
      <p:sp>
        <p:nvSpPr>
          <p:cNvPr id="16428" name="Rectangle 44"/>
          <p:cNvSpPr>
            <a:spLocks noChangeArrowheads="1"/>
          </p:cNvSpPr>
          <p:nvPr/>
        </p:nvSpPr>
        <p:spPr bwMode="auto">
          <a:xfrm>
            <a:off x="3752252" y="4972051"/>
            <a:ext cx="2321524" cy="628649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29" name="Rectangle 45"/>
          <p:cNvSpPr>
            <a:spLocks noChangeArrowheads="1"/>
          </p:cNvSpPr>
          <p:nvPr/>
        </p:nvSpPr>
        <p:spPr bwMode="auto">
          <a:xfrm>
            <a:off x="7372940" y="4706708"/>
            <a:ext cx="2242538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Accept data from bus.</a:t>
            </a:r>
          </a:p>
          <a:p>
            <a:pPr defTabSz="762000"/>
            <a:endParaRPr lang="en-US" altLang="ko-KR" dirty="0"/>
          </a:p>
        </p:txBody>
      </p:sp>
      <p:sp>
        <p:nvSpPr>
          <p:cNvPr id="16430" name="Rectangle 46"/>
          <p:cNvSpPr>
            <a:spLocks noChangeArrowheads="1"/>
          </p:cNvSpPr>
          <p:nvPr/>
        </p:nvSpPr>
        <p:spPr bwMode="auto">
          <a:xfrm>
            <a:off x="7391401" y="4914901"/>
            <a:ext cx="2297105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Disable ready for data.</a:t>
            </a:r>
          </a:p>
        </p:txBody>
      </p:sp>
      <p:sp>
        <p:nvSpPr>
          <p:cNvPr id="16431" name="Rectangle 47"/>
          <p:cNvSpPr>
            <a:spLocks noChangeArrowheads="1"/>
          </p:cNvSpPr>
          <p:nvPr/>
        </p:nvSpPr>
        <p:spPr bwMode="auto">
          <a:xfrm>
            <a:off x="7254876" y="4770438"/>
            <a:ext cx="2297104" cy="50806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38" name="Arc 54"/>
          <p:cNvSpPr>
            <a:spLocks/>
          </p:cNvSpPr>
          <p:nvPr/>
        </p:nvSpPr>
        <p:spPr bwMode="auto">
          <a:xfrm>
            <a:off x="6067425" y="4291014"/>
            <a:ext cx="141288" cy="92075"/>
          </a:xfrm>
          <a:custGeom>
            <a:avLst/>
            <a:gdLst>
              <a:gd name="G0" fmla="+- 0 0 0"/>
              <a:gd name="G1" fmla="+- 11321 0 0"/>
              <a:gd name="G2" fmla="+- 21600 0 0"/>
              <a:gd name="T0" fmla="*/ 18396 w 21600"/>
              <a:gd name="T1" fmla="*/ 0 h 17633"/>
              <a:gd name="T2" fmla="*/ 20657 w 21600"/>
              <a:gd name="T3" fmla="*/ 17633 h 17633"/>
              <a:gd name="T4" fmla="*/ 0 w 21600"/>
              <a:gd name="T5" fmla="*/ 11321 h 17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633" fill="none" extrusionOk="0">
                <a:moveTo>
                  <a:pt x="18395" y="0"/>
                </a:moveTo>
                <a:cubicBezTo>
                  <a:pt x="20490" y="3404"/>
                  <a:pt x="21600" y="7323"/>
                  <a:pt x="21600" y="11321"/>
                </a:cubicBezTo>
                <a:cubicBezTo>
                  <a:pt x="21600" y="13460"/>
                  <a:pt x="21282" y="15587"/>
                  <a:pt x="20657" y="17633"/>
                </a:cubicBezTo>
              </a:path>
              <a:path w="21600" h="17633" stroke="0" extrusionOk="0">
                <a:moveTo>
                  <a:pt x="18395" y="0"/>
                </a:moveTo>
                <a:cubicBezTo>
                  <a:pt x="20490" y="3404"/>
                  <a:pt x="21600" y="7323"/>
                  <a:pt x="21600" y="11321"/>
                </a:cubicBezTo>
                <a:cubicBezTo>
                  <a:pt x="21600" y="13460"/>
                  <a:pt x="21282" y="15587"/>
                  <a:pt x="20657" y="17633"/>
                </a:cubicBezTo>
                <a:lnTo>
                  <a:pt x="0" y="11321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39" name="Line 55"/>
          <p:cNvSpPr>
            <a:spLocks noChangeShapeType="1"/>
          </p:cNvSpPr>
          <p:nvPr/>
        </p:nvSpPr>
        <p:spPr bwMode="auto">
          <a:xfrm flipH="1">
            <a:off x="6164263" y="4243388"/>
            <a:ext cx="1090612" cy="952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0" name="Arc 56"/>
          <p:cNvSpPr>
            <a:spLocks/>
          </p:cNvSpPr>
          <p:nvPr/>
        </p:nvSpPr>
        <p:spPr bwMode="auto">
          <a:xfrm>
            <a:off x="7108825" y="4813301"/>
            <a:ext cx="141288" cy="85725"/>
          </a:xfrm>
          <a:custGeom>
            <a:avLst/>
            <a:gdLst>
              <a:gd name="G0" fmla="+- 21600 0 0"/>
              <a:gd name="G1" fmla="+- 15828 0 0"/>
              <a:gd name="G2" fmla="+- 21600 0 0"/>
              <a:gd name="T0" fmla="*/ 2 w 21600"/>
              <a:gd name="T1" fmla="*/ 16112 h 16112"/>
              <a:gd name="T2" fmla="*/ 6902 w 21600"/>
              <a:gd name="T3" fmla="*/ 0 h 16112"/>
              <a:gd name="T4" fmla="*/ 21600 w 21600"/>
              <a:gd name="T5" fmla="*/ 15828 h 16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112" fill="none" extrusionOk="0">
                <a:moveTo>
                  <a:pt x="1" y="16112"/>
                </a:moveTo>
                <a:cubicBezTo>
                  <a:pt x="0" y="16017"/>
                  <a:pt x="0" y="15922"/>
                  <a:pt x="0" y="15828"/>
                </a:cubicBezTo>
                <a:cubicBezTo>
                  <a:pt x="-1" y="9821"/>
                  <a:pt x="2500" y="4086"/>
                  <a:pt x="6901" y="-1"/>
                </a:cubicBezTo>
              </a:path>
              <a:path w="21600" h="16112" stroke="0" extrusionOk="0">
                <a:moveTo>
                  <a:pt x="1" y="16112"/>
                </a:moveTo>
                <a:cubicBezTo>
                  <a:pt x="0" y="16017"/>
                  <a:pt x="0" y="15922"/>
                  <a:pt x="0" y="15828"/>
                </a:cubicBezTo>
                <a:cubicBezTo>
                  <a:pt x="-1" y="9821"/>
                  <a:pt x="2500" y="4086"/>
                  <a:pt x="6901" y="-1"/>
                </a:cubicBezTo>
                <a:lnTo>
                  <a:pt x="21600" y="15828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1" name="Line 57"/>
          <p:cNvSpPr>
            <a:spLocks noChangeShapeType="1"/>
          </p:cNvSpPr>
          <p:nvPr/>
        </p:nvSpPr>
        <p:spPr bwMode="auto">
          <a:xfrm>
            <a:off x="6073775" y="4516439"/>
            <a:ext cx="1047750" cy="3444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2" name="Arc 58"/>
          <p:cNvSpPr>
            <a:spLocks/>
          </p:cNvSpPr>
          <p:nvPr/>
        </p:nvSpPr>
        <p:spPr bwMode="auto">
          <a:xfrm>
            <a:off x="6067425" y="5099051"/>
            <a:ext cx="141288" cy="92075"/>
          </a:xfrm>
          <a:custGeom>
            <a:avLst/>
            <a:gdLst>
              <a:gd name="G0" fmla="+- 0 0 0"/>
              <a:gd name="G1" fmla="+- 11321 0 0"/>
              <a:gd name="G2" fmla="+- 21600 0 0"/>
              <a:gd name="T0" fmla="*/ 18396 w 21600"/>
              <a:gd name="T1" fmla="*/ 0 h 17633"/>
              <a:gd name="T2" fmla="*/ 20657 w 21600"/>
              <a:gd name="T3" fmla="*/ 17633 h 17633"/>
              <a:gd name="T4" fmla="*/ 0 w 21600"/>
              <a:gd name="T5" fmla="*/ 11321 h 17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633" fill="none" extrusionOk="0">
                <a:moveTo>
                  <a:pt x="18395" y="0"/>
                </a:moveTo>
                <a:cubicBezTo>
                  <a:pt x="20490" y="3404"/>
                  <a:pt x="21600" y="7323"/>
                  <a:pt x="21600" y="11321"/>
                </a:cubicBezTo>
                <a:cubicBezTo>
                  <a:pt x="21600" y="13460"/>
                  <a:pt x="21282" y="15587"/>
                  <a:pt x="20657" y="17633"/>
                </a:cubicBezTo>
              </a:path>
              <a:path w="21600" h="17633" stroke="0" extrusionOk="0">
                <a:moveTo>
                  <a:pt x="18395" y="0"/>
                </a:moveTo>
                <a:cubicBezTo>
                  <a:pt x="20490" y="3404"/>
                  <a:pt x="21600" y="7323"/>
                  <a:pt x="21600" y="11321"/>
                </a:cubicBezTo>
                <a:cubicBezTo>
                  <a:pt x="21600" y="13460"/>
                  <a:pt x="21282" y="15587"/>
                  <a:pt x="20657" y="17633"/>
                </a:cubicBezTo>
                <a:lnTo>
                  <a:pt x="0" y="11321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3" name="Line 59"/>
          <p:cNvSpPr>
            <a:spLocks noChangeShapeType="1"/>
          </p:cNvSpPr>
          <p:nvPr/>
        </p:nvSpPr>
        <p:spPr bwMode="auto">
          <a:xfrm flipH="1">
            <a:off x="6164263" y="5049838"/>
            <a:ext cx="1090612" cy="936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4" name="Line 60"/>
          <p:cNvSpPr>
            <a:spLocks noChangeShapeType="1"/>
          </p:cNvSpPr>
          <p:nvPr/>
        </p:nvSpPr>
        <p:spPr bwMode="auto">
          <a:xfrm>
            <a:off x="6040439" y="5372100"/>
            <a:ext cx="36972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5" name="Line 61"/>
          <p:cNvSpPr>
            <a:spLocks noChangeShapeType="1"/>
          </p:cNvSpPr>
          <p:nvPr/>
        </p:nvSpPr>
        <p:spPr bwMode="auto">
          <a:xfrm>
            <a:off x="9715500" y="4237038"/>
            <a:ext cx="0" cy="11303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6" name="Arc 62"/>
          <p:cNvSpPr>
            <a:spLocks/>
          </p:cNvSpPr>
          <p:nvPr/>
        </p:nvSpPr>
        <p:spPr bwMode="auto">
          <a:xfrm>
            <a:off x="9282114" y="4187825"/>
            <a:ext cx="141287" cy="90488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7" name="Line 63"/>
          <p:cNvSpPr>
            <a:spLocks noChangeShapeType="1"/>
          </p:cNvSpPr>
          <p:nvPr/>
        </p:nvSpPr>
        <p:spPr bwMode="auto">
          <a:xfrm flipH="1">
            <a:off x="9378950" y="4230688"/>
            <a:ext cx="3444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Line 18"/>
          <p:cNvSpPr>
            <a:spLocks noChangeShapeType="1"/>
          </p:cNvSpPr>
          <p:nvPr/>
        </p:nvSpPr>
        <p:spPr bwMode="auto">
          <a:xfrm>
            <a:off x="4845051" y="2217738"/>
            <a:ext cx="13636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>
            <a:off x="6184900" y="1905000"/>
            <a:ext cx="0" cy="3175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Freeform 20"/>
          <p:cNvSpPr>
            <a:spLocks/>
          </p:cNvSpPr>
          <p:nvPr/>
        </p:nvSpPr>
        <p:spPr bwMode="auto">
          <a:xfrm>
            <a:off x="6184900" y="1905000"/>
            <a:ext cx="2928938" cy="3127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52" y="0"/>
              </a:cxn>
              <a:cxn ang="0">
                <a:pos x="952" y="224"/>
              </a:cxn>
              <a:cxn ang="0">
                <a:pos x="1592" y="224"/>
              </a:cxn>
            </a:cxnLst>
            <a:rect l="0" t="0" r="r" b="b"/>
            <a:pathLst>
              <a:path w="1593" h="225">
                <a:moveTo>
                  <a:pt x="0" y="0"/>
                </a:moveTo>
                <a:lnTo>
                  <a:pt x="952" y="0"/>
                </a:lnTo>
                <a:lnTo>
                  <a:pt x="952" y="224"/>
                </a:lnTo>
                <a:lnTo>
                  <a:pt x="1592" y="224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5" name="Rectangle 21"/>
          <p:cNvSpPr>
            <a:spLocks noChangeArrowheads="1"/>
          </p:cNvSpPr>
          <p:nvPr/>
        </p:nvSpPr>
        <p:spPr bwMode="auto">
          <a:xfrm>
            <a:off x="4205948" y="1875605"/>
            <a:ext cx="1544270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Ready for data</a:t>
            </a:r>
          </a:p>
        </p:txBody>
      </p:sp>
      <p:sp>
        <p:nvSpPr>
          <p:cNvPr id="16406" name="Line 22"/>
          <p:cNvSpPr>
            <a:spLocks noChangeShapeType="1"/>
          </p:cNvSpPr>
          <p:nvPr/>
        </p:nvSpPr>
        <p:spPr bwMode="auto">
          <a:xfrm>
            <a:off x="4845050" y="2852738"/>
            <a:ext cx="1930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Line 23"/>
          <p:cNvSpPr>
            <a:spLocks noChangeShapeType="1"/>
          </p:cNvSpPr>
          <p:nvPr/>
        </p:nvSpPr>
        <p:spPr bwMode="auto">
          <a:xfrm>
            <a:off x="6757988" y="2540000"/>
            <a:ext cx="0" cy="3190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8" name="Freeform 24"/>
          <p:cNvSpPr>
            <a:spLocks/>
          </p:cNvSpPr>
          <p:nvPr/>
        </p:nvSpPr>
        <p:spPr bwMode="auto">
          <a:xfrm>
            <a:off x="6757988" y="2540001"/>
            <a:ext cx="2430462" cy="3159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76" y="0"/>
              </a:cxn>
              <a:cxn ang="0">
                <a:pos x="776" y="224"/>
              </a:cxn>
              <a:cxn ang="0">
                <a:pos x="1320" y="224"/>
              </a:cxn>
            </a:cxnLst>
            <a:rect l="0" t="0" r="r" b="b"/>
            <a:pathLst>
              <a:path w="1321" h="225">
                <a:moveTo>
                  <a:pt x="0" y="0"/>
                </a:moveTo>
                <a:lnTo>
                  <a:pt x="776" y="0"/>
                </a:lnTo>
                <a:lnTo>
                  <a:pt x="776" y="224"/>
                </a:lnTo>
                <a:lnTo>
                  <a:pt x="1320" y="224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9" name="Rectangle 25"/>
          <p:cNvSpPr>
            <a:spLocks noChangeArrowheads="1"/>
          </p:cNvSpPr>
          <p:nvPr/>
        </p:nvSpPr>
        <p:spPr bwMode="auto">
          <a:xfrm>
            <a:off x="4223512" y="2510179"/>
            <a:ext cx="1110561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Data valid</a:t>
            </a:r>
          </a:p>
        </p:txBody>
      </p:sp>
      <p:sp>
        <p:nvSpPr>
          <p:cNvPr id="16413" name="Line 29"/>
          <p:cNvSpPr>
            <a:spLocks noChangeShapeType="1"/>
          </p:cNvSpPr>
          <p:nvPr/>
        </p:nvSpPr>
        <p:spPr bwMode="auto">
          <a:xfrm>
            <a:off x="4845050" y="3490913"/>
            <a:ext cx="153035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14" name="Line 30"/>
          <p:cNvSpPr>
            <a:spLocks noChangeShapeType="1"/>
          </p:cNvSpPr>
          <p:nvPr/>
        </p:nvSpPr>
        <p:spPr bwMode="auto">
          <a:xfrm>
            <a:off x="6345238" y="3165476"/>
            <a:ext cx="0" cy="3397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15" name="Freeform 31"/>
          <p:cNvSpPr>
            <a:spLocks/>
          </p:cNvSpPr>
          <p:nvPr/>
        </p:nvSpPr>
        <p:spPr bwMode="auto">
          <a:xfrm>
            <a:off x="6345238" y="3165476"/>
            <a:ext cx="2843212" cy="327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232"/>
              </a:cxn>
              <a:cxn ang="0">
                <a:pos x="1544" y="232"/>
              </a:cxn>
            </a:cxnLst>
            <a:rect l="0" t="0" r="r" b="b"/>
            <a:pathLst>
              <a:path w="1545" h="233">
                <a:moveTo>
                  <a:pt x="0" y="0"/>
                </a:moveTo>
                <a:lnTo>
                  <a:pt x="1000" y="0"/>
                </a:lnTo>
                <a:lnTo>
                  <a:pt x="1000" y="232"/>
                </a:lnTo>
                <a:lnTo>
                  <a:pt x="1544" y="232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16" name="Rectangle 32"/>
          <p:cNvSpPr>
            <a:spLocks noChangeArrowheads="1"/>
          </p:cNvSpPr>
          <p:nvPr/>
        </p:nvSpPr>
        <p:spPr bwMode="auto">
          <a:xfrm>
            <a:off x="4205948" y="3115444"/>
            <a:ext cx="1004956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Data bus</a:t>
            </a:r>
          </a:p>
        </p:txBody>
      </p:sp>
      <p:sp>
        <p:nvSpPr>
          <p:cNvPr id="16433" name="Rectangle 49"/>
          <p:cNvSpPr>
            <a:spLocks noChangeArrowheads="1"/>
          </p:cNvSpPr>
          <p:nvPr/>
        </p:nvSpPr>
        <p:spPr bwMode="auto">
          <a:xfrm>
            <a:off x="6835775" y="3184526"/>
            <a:ext cx="110754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Valid data</a:t>
            </a:r>
          </a:p>
        </p:txBody>
      </p:sp>
      <p:sp>
        <p:nvSpPr>
          <p:cNvPr id="16434" name="Arc 50"/>
          <p:cNvSpPr>
            <a:spLocks/>
          </p:cNvSpPr>
          <p:nvPr/>
        </p:nvSpPr>
        <p:spPr bwMode="auto">
          <a:xfrm>
            <a:off x="6353175" y="3267075"/>
            <a:ext cx="139700" cy="84138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35" name="Line 51"/>
          <p:cNvSpPr>
            <a:spLocks noChangeShapeType="1"/>
          </p:cNvSpPr>
          <p:nvPr/>
        </p:nvSpPr>
        <p:spPr bwMode="auto">
          <a:xfrm>
            <a:off x="6478589" y="3306763"/>
            <a:ext cx="3524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36" name="Arc 52"/>
          <p:cNvSpPr>
            <a:spLocks/>
          </p:cNvSpPr>
          <p:nvPr/>
        </p:nvSpPr>
        <p:spPr bwMode="auto">
          <a:xfrm>
            <a:off x="8059738" y="3260726"/>
            <a:ext cx="139700" cy="857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37" name="Line 53"/>
          <p:cNvSpPr>
            <a:spLocks noChangeShapeType="1"/>
          </p:cNvSpPr>
          <p:nvPr/>
        </p:nvSpPr>
        <p:spPr bwMode="auto">
          <a:xfrm>
            <a:off x="7861301" y="3306763"/>
            <a:ext cx="2079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8" name="Arc 64"/>
          <p:cNvSpPr>
            <a:spLocks/>
          </p:cNvSpPr>
          <p:nvPr/>
        </p:nvSpPr>
        <p:spPr bwMode="auto">
          <a:xfrm>
            <a:off x="5788026" y="2028825"/>
            <a:ext cx="396875" cy="8763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00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709"/>
                  <a:pt x="9609" y="55"/>
                  <a:pt x="21500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709"/>
                  <a:pt x="9609" y="55"/>
                  <a:pt x="21500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49" name="Arc 65"/>
          <p:cNvSpPr>
            <a:spLocks/>
          </p:cNvSpPr>
          <p:nvPr/>
        </p:nvSpPr>
        <p:spPr bwMode="auto">
          <a:xfrm>
            <a:off x="5788026" y="2897189"/>
            <a:ext cx="555625" cy="369887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50" name="Arc 66"/>
          <p:cNvSpPr>
            <a:spLocks/>
          </p:cNvSpPr>
          <p:nvPr/>
        </p:nvSpPr>
        <p:spPr bwMode="auto">
          <a:xfrm>
            <a:off x="6181726" y="2028825"/>
            <a:ext cx="238125" cy="496888"/>
          </a:xfrm>
          <a:custGeom>
            <a:avLst/>
            <a:gdLst>
              <a:gd name="G0" fmla="+- 169 0 0"/>
              <a:gd name="G1" fmla="+- 21600 0 0"/>
              <a:gd name="G2" fmla="+- 21600 0 0"/>
              <a:gd name="T0" fmla="*/ 0 w 21769"/>
              <a:gd name="T1" fmla="*/ 1 h 21600"/>
              <a:gd name="T2" fmla="*/ 21769 w 21769"/>
              <a:gd name="T3" fmla="*/ 21600 h 21600"/>
              <a:gd name="T4" fmla="*/ 169 w 2176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769" h="21600" fill="none" extrusionOk="0">
                <a:moveTo>
                  <a:pt x="-1" y="0"/>
                </a:moveTo>
                <a:cubicBezTo>
                  <a:pt x="56" y="0"/>
                  <a:pt x="112" y="-1"/>
                  <a:pt x="169" y="0"/>
                </a:cubicBezTo>
                <a:cubicBezTo>
                  <a:pt x="12098" y="0"/>
                  <a:pt x="21769" y="9670"/>
                  <a:pt x="21769" y="21600"/>
                </a:cubicBezTo>
              </a:path>
              <a:path w="21769" h="21600" stroke="0" extrusionOk="0">
                <a:moveTo>
                  <a:pt x="-1" y="0"/>
                </a:moveTo>
                <a:cubicBezTo>
                  <a:pt x="56" y="0"/>
                  <a:pt x="112" y="-1"/>
                  <a:pt x="169" y="0"/>
                </a:cubicBezTo>
                <a:cubicBezTo>
                  <a:pt x="12098" y="0"/>
                  <a:pt x="21769" y="9670"/>
                  <a:pt x="21769" y="21600"/>
                </a:cubicBezTo>
                <a:lnTo>
                  <a:pt x="169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51" name="Arc 67"/>
          <p:cNvSpPr>
            <a:spLocks/>
          </p:cNvSpPr>
          <p:nvPr/>
        </p:nvSpPr>
        <p:spPr bwMode="auto">
          <a:xfrm>
            <a:off x="6423025" y="2517775"/>
            <a:ext cx="344488" cy="184150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52" name="Arc 68"/>
          <p:cNvSpPr>
            <a:spLocks/>
          </p:cNvSpPr>
          <p:nvPr/>
        </p:nvSpPr>
        <p:spPr bwMode="auto">
          <a:xfrm>
            <a:off x="6764338" y="2268539"/>
            <a:ext cx="601662" cy="4286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53" name="Arc 69"/>
          <p:cNvSpPr>
            <a:spLocks/>
          </p:cNvSpPr>
          <p:nvPr/>
        </p:nvSpPr>
        <p:spPr bwMode="auto">
          <a:xfrm>
            <a:off x="7362826" y="2028826"/>
            <a:ext cx="574675" cy="239713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31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7"/>
                  <a:pt x="9628" y="38"/>
                  <a:pt x="21531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7"/>
                  <a:pt x="9628" y="38"/>
                  <a:pt x="21531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54" name="Arc 70"/>
          <p:cNvSpPr>
            <a:spLocks/>
          </p:cNvSpPr>
          <p:nvPr/>
        </p:nvSpPr>
        <p:spPr bwMode="auto">
          <a:xfrm>
            <a:off x="8040688" y="2517775"/>
            <a:ext cx="146050" cy="179388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55" name="Arc 71"/>
          <p:cNvSpPr>
            <a:spLocks/>
          </p:cNvSpPr>
          <p:nvPr/>
        </p:nvSpPr>
        <p:spPr bwMode="auto">
          <a:xfrm>
            <a:off x="8040689" y="2305050"/>
            <a:ext cx="92075" cy="215900"/>
          </a:xfrm>
          <a:custGeom>
            <a:avLst/>
            <a:gdLst>
              <a:gd name="G0" fmla="+- 21600 0 0"/>
              <a:gd name="G1" fmla="+- 21592 0 0"/>
              <a:gd name="G2" fmla="+- 21600 0 0"/>
              <a:gd name="T0" fmla="*/ 0 w 21600"/>
              <a:gd name="T1" fmla="*/ 21592 h 21592"/>
              <a:gd name="T2" fmla="*/ 21000 w 21600"/>
              <a:gd name="T3" fmla="*/ 0 h 21592"/>
              <a:gd name="T4" fmla="*/ 21600 w 21600"/>
              <a:gd name="T5" fmla="*/ 21592 h 215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592" fill="none" extrusionOk="0">
                <a:moveTo>
                  <a:pt x="0" y="21592"/>
                </a:moveTo>
                <a:cubicBezTo>
                  <a:pt x="0" y="9896"/>
                  <a:pt x="9308" y="325"/>
                  <a:pt x="21000" y="0"/>
                </a:cubicBezTo>
              </a:path>
              <a:path w="21600" h="21592" stroke="0" extrusionOk="0">
                <a:moveTo>
                  <a:pt x="0" y="21592"/>
                </a:moveTo>
                <a:cubicBezTo>
                  <a:pt x="0" y="9896"/>
                  <a:pt x="9308" y="325"/>
                  <a:pt x="21000" y="0"/>
                </a:cubicBezTo>
                <a:lnTo>
                  <a:pt x="21600" y="21592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56" name="Arc 72"/>
          <p:cNvSpPr>
            <a:spLocks/>
          </p:cNvSpPr>
          <p:nvPr/>
        </p:nvSpPr>
        <p:spPr bwMode="auto">
          <a:xfrm>
            <a:off x="8104189" y="2205039"/>
            <a:ext cx="66675" cy="1111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57" name="Arc 73"/>
          <p:cNvSpPr>
            <a:spLocks/>
          </p:cNvSpPr>
          <p:nvPr/>
        </p:nvSpPr>
        <p:spPr bwMode="auto">
          <a:xfrm>
            <a:off x="7932739" y="2028825"/>
            <a:ext cx="238125" cy="173038"/>
          </a:xfrm>
          <a:custGeom>
            <a:avLst/>
            <a:gdLst>
              <a:gd name="G0" fmla="+- 169 0 0"/>
              <a:gd name="G1" fmla="+- 21600 0 0"/>
              <a:gd name="G2" fmla="+- 21600 0 0"/>
              <a:gd name="T0" fmla="*/ 0 w 21769"/>
              <a:gd name="T1" fmla="*/ 1 h 21600"/>
              <a:gd name="T2" fmla="*/ 21769 w 21769"/>
              <a:gd name="T3" fmla="*/ 21600 h 21600"/>
              <a:gd name="T4" fmla="*/ 169 w 2176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769" h="21600" fill="none" extrusionOk="0">
                <a:moveTo>
                  <a:pt x="-1" y="0"/>
                </a:moveTo>
                <a:cubicBezTo>
                  <a:pt x="56" y="0"/>
                  <a:pt x="112" y="-1"/>
                  <a:pt x="169" y="0"/>
                </a:cubicBezTo>
                <a:cubicBezTo>
                  <a:pt x="12098" y="0"/>
                  <a:pt x="21769" y="9670"/>
                  <a:pt x="21769" y="21600"/>
                </a:cubicBezTo>
              </a:path>
              <a:path w="21769" h="21600" stroke="0" extrusionOk="0">
                <a:moveTo>
                  <a:pt x="-1" y="0"/>
                </a:moveTo>
                <a:cubicBezTo>
                  <a:pt x="56" y="0"/>
                  <a:pt x="112" y="-1"/>
                  <a:pt x="169" y="0"/>
                </a:cubicBezTo>
                <a:cubicBezTo>
                  <a:pt x="12098" y="0"/>
                  <a:pt x="21769" y="9670"/>
                  <a:pt x="21769" y="21600"/>
                </a:cubicBezTo>
                <a:lnTo>
                  <a:pt x="169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64" name="Arc 80"/>
          <p:cNvSpPr>
            <a:spLocks/>
          </p:cNvSpPr>
          <p:nvPr/>
        </p:nvSpPr>
        <p:spPr bwMode="auto">
          <a:xfrm>
            <a:off x="8075613" y="2667000"/>
            <a:ext cx="119062" cy="103188"/>
          </a:xfrm>
          <a:custGeom>
            <a:avLst/>
            <a:gdLst>
              <a:gd name="G0" fmla="+- 18059 0 0"/>
              <a:gd name="G1" fmla="+- 21336 0 0"/>
              <a:gd name="G2" fmla="+- 21600 0 0"/>
              <a:gd name="T0" fmla="*/ 0 w 18059"/>
              <a:gd name="T1" fmla="*/ 9485 h 21336"/>
              <a:gd name="T2" fmla="*/ 14690 w 18059"/>
              <a:gd name="T3" fmla="*/ 0 h 21336"/>
              <a:gd name="T4" fmla="*/ 18059 w 18059"/>
              <a:gd name="T5" fmla="*/ 21336 h 21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059" h="21336" fill="none" extrusionOk="0">
                <a:moveTo>
                  <a:pt x="0" y="9485"/>
                </a:moveTo>
                <a:cubicBezTo>
                  <a:pt x="3341" y="4394"/>
                  <a:pt x="8675" y="950"/>
                  <a:pt x="14690" y="0"/>
                </a:cubicBezTo>
              </a:path>
              <a:path w="18059" h="21336" stroke="0" extrusionOk="0">
                <a:moveTo>
                  <a:pt x="0" y="9485"/>
                </a:moveTo>
                <a:cubicBezTo>
                  <a:pt x="3341" y="4394"/>
                  <a:pt x="8675" y="950"/>
                  <a:pt x="14690" y="0"/>
                </a:cubicBezTo>
                <a:lnTo>
                  <a:pt x="18059" y="2133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66" name="Rectangle 82"/>
          <p:cNvSpPr>
            <a:spLocks noChangeArrowheads="1"/>
          </p:cNvSpPr>
          <p:nvPr/>
        </p:nvSpPr>
        <p:spPr bwMode="auto">
          <a:xfrm>
            <a:off x="8302818" y="0"/>
            <a:ext cx="2225482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/>
            <a:r>
              <a:rPr lang="en-US" altLang="ko-KR" sz="1400" i="1"/>
              <a:t>Asynchronous Data Transfer</a:t>
            </a:r>
          </a:p>
        </p:txBody>
      </p:sp>
      <p:sp>
        <p:nvSpPr>
          <p:cNvPr id="16470" name="Rectangle 86"/>
          <p:cNvSpPr>
            <a:spLocks noChangeArrowheads="1"/>
          </p:cNvSpPr>
          <p:nvPr/>
        </p:nvSpPr>
        <p:spPr bwMode="auto">
          <a:xfrm>
            <a:off x="3479800" y="3611564"/>
            <a:ext cx="3049589" cy="2016125"/>
          </a:xfrm>
          <a:prstGeom prst="rect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71" name="Rectangle 87"/>
          <p:cNvSpPr>
            <a:spLocks noChangeArrowheads="1"/>
          </p:cNvSpPr>
          <p:nvPr/>
        </p:nvSpPr>
        <p:spPr bwMode="auto">
          <a:xfrm>
            <a:off x="6869114" y="3643314"/>
            <a:ext cx="2959100" cy="2016125"/>
          </a:xfrm>
          <a:prstGeom prst="rect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539</Words>
  <Application>Microsoft Office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</vt:lpstr>
      <vt:lpstr>ASYNCHRONOUS  DATA  TRANSFER</vt:lpstr>
      <vt:lpstr>STROBE  CONTROL</vt:lpstr>
      <vt:lpstr>HANDSHAKING</vt:lpstr>
      <vt:lpstr>SOURCE-INITIATED  TRANSFER  USING  HANDSHAKE</vt:lpstr>
      <vt:lpstr>DESTINATION-INITIATED  TRANSFER  USING  HANDSHAKE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44</cp:revision>
  <dcterms:created xsi:type="dcterms:W3CDTF">2020-06-18T04:00:41Z</dcterms:created>
  <dcterms:modified xsi:type="dcterms:W3CDTF">2020-11-06T03:59:29Z</dcterms:modified>
</cp:coreProperties>
</file>